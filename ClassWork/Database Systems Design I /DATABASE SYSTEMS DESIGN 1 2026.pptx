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5" r:id="rId3"/>
    <p:sldId id="334" r:id="rId5"/>
    <p:sldId id="356" r:id="rId6"/>
    <p:sldId id="257" r:id="rId7"/>
    <p:sldId id="357" r:id="rId8"/>
    <p:sldId id="358" r:id="rId9"/>
    <p:sldId id="359" r:id="rId10"/>
    <p:sldId id="368" r:id="rId11"/>
    <p:sldId id="258" r:id="rId12"/>
    <p:sldId id="259" r:id="rId13"/>
    <p:sldId id="261" r:id="rId14"/>
    <p:sldId id="262" r:id="rId15"/>
    <p:sldId id="263" r:id="rId16"/>
    <p:sldId id="361" r:id="rId17"/>
    <p:sldId id="362" r:id="rId18"/>
    <p:sldId id="363" r:id="rId19"/>
    <p:sldId id="364" r:id="rId20"/>
    <p:sldId id="365" r:id="rId21"/>
    <p:sldId id="366" r:id="rId22"/>
    <p:sldId id="367"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337" r:id="rId48"/>
    <p:sldId id="288" r:id="rId49"/>
    <p:sldId id="289" r:id="rId50"/>
    <p:sldId id="290" r:id="rId51"/>
    <p:sldId id="291" r:id="rId52"/>
    <p:sldId id="292" r:id="rId53"/>
    <p:sldId id="293" r:id="rId54"/>
    <p:sldId id="294" r:id="rId55"/>
    <p:sldId id="296" r:id="rId56"/>
    <p:sldId id="297" r:id="rId57"/>
    <p:sldId id="298" r:id="rId58"/>
    <p:sldId id="299" r:id="rId59"/>
    <p:sldId id="300" r:id="rId60"/>
    <p:sldId id="301" r:id="rId61"/>
    <p:sldId id="302" r:id="rId62"/>
    <p:sldId id="303" r:id="rId63"/>
    <p:sldId id="304" r:id="rId64"/>
    <p:sldId id="336" r:id="rId65"/>
    <p:sldId id="305" r:id="rId66"/>
    <p:sldId id="306" r:id="rId67"/>
    <p:sldId id="307" r:id="rId68"/>
    <p:sldId id="308" r:id="rId69"/>
    <p:sldId id="309" r:id="rId70"/>
    <p:sldId id="311" r:id="rId71"/>
    <p:sldId id="338" r:id="rId72"/>
    <p:sldId id="355" r:id="rId73"/>
    <p:sldId id="352" r:id="rId74"/>
    <p:sldId id="312" r:id="rId75"/>
    <p:sldId id="354" r:id="rId76"/>
    <p:sldId id="339" r:id="rId77"/>
    <p:sldId id="319" r:id="rId78"/>
    <p:sldId id="320" r:id="rId79"/>
    <p:sldId id="321" r:id="rId80"/>
    <p:sldId id="322" r:id="rId81"/>
    <p:sldId id="351" r:id="rId82"/>
    <p:sldId id="323" r:id="rId83"/>
    <p:sldId id="326" r:id="rId84"/>
    <p:sldId id="349" r:id="rId85"/>
    <p:sldId id="350" r:id="rId86"/>
    <p:sldId id="369" r:id="rId87"/>
    <p:sldId id="380" r:id="rId88"/>
    <p:sldId id="370" r:id="rId89"/>
    <p:sldId id="371" r:id="rId90"/>
    <p:sldId id="372" r:id="rId91"/>
    <p:sldId id="373" r:id="rId92"/>
    <p:sldId id="374" r:id="rId93"/>
    <p:sldId id="375" r:id="rId94"/>
    <p:sldId id="376" r:id="rId95"/>
    <p:sldId id="377" r:id="rId96"/>
    <p:sldId id="325" r:id="rId97"/>
    <p:sldId id="347" r:id="rId98"/>
    <p:sldId id="327" r:id="rId99"/>
    <p:sldId id="340" r:id="rId100"/>
    <p:sldId id="332" r:id="rId101"/>
    <p:sldId id="341" r:id="rId102"/>
    <p:sldId id="342" r:id="rId103"/>
    <p:sldId id="343" r:id="rId104"/>
    <p:sldId id="333" r:id="rId105"/>
    <p:sldId id="344" r:id="rId106"/>
    <p:sldId id="345" r:id="rId107"/>
    <p:sldId id="346" r:id="rId108"/>
    <p:sldId id="378" r:id="rId109"/>
    <p:sldId id="379" r:id="rId1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271" autoAdjust="0"/>
  </p:normalViewPr>
  <p:slideViewPr>
    <p:cSldViewPr showGuides="1">
      <p:cViewPr varScale="1">
        <p:scale>
          <a:sx n="67" d="100"/>
          <a:sy n="67" d="100"/>
        </p:scale>
        <p:origin x="128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BE51E7E-6346-4A12-BB42-7D16AEDE1868}" type="datetimeFigureOut">
              <a:rPr lang="en-US"/>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F039CBC-05DF-4D47-A722-66749FA402B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039CBC-05DF-4D47-A722-66749FA402B6}"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ln>
        </p:spPr>
      </p:sp>
      <p:sp>
        <p:nvSpPr>
          <p:cNvPr id="9830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smtClean="0"/>
          </a:p>
        </p:txBody>
      </p:sp>
      <p:sp>
        <p:nvSpPr>
          <p:cNvPr id="98308" name="Slide Number Placeholder 3"/>
          <p:cNvSpPr>
            <a:spLocks noGrp="1"/>
          </p:cNvSpPr>
          <p:nvPr>
            <p:ph type="sldNum" sz="quarter" idx="5"/>
          </p:nvPr>
        </p:nvSpPr>
        <p:spPr bwMode="auto">
          <a:noFill/>
          <a:ln>
            <a:miter lim="800000"/>
          </a:ln>
        </p:spPr>
        <p:txBody>
          <a:bodyPr wrap="square" numCol="1" anchorCtr="0" compatLnSpc="1"/>
          <a:lstStyle/>
          <a:p>
            <a:fld id="{044A83E2-5B3C-41DA-AF16-BDF5457313B3}" type="slidenum">
              <a:rPr lang="en-US" smtClean="0"/>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pPr>
              <a:defRPr/>
            </a:pPr>
            <a:fld id="{65DF9AF2-0AD9-482C-B7D9-1CAE7D20D5BC}" type="datetime1">
              <a:rPr lang="en-US" smtClean="0"/>
            </a:fld>
            <a:endParaRPr lang="en-US"/>
          </a:p>
        </p:txBody>
      </p:sp>
      <p:sp>
        <p:nvSpPr>
          <p:cNvPr id="5" name="Footer Placeholder 4"/>
          <p:cNvSpPr>
            <a:spLocks noGrp="1"/>
          </p:cNvSpPr>
          <p:nvPr>
            <p:ph type="ftr" sz="quarter" idx="11"/>
          </p:nvPr>
        </p:nvSpPr>
        <p:spPr>
          <a:xfrm>
            <a:off x="1921934" y="5054602"/>
            <a:ext cx="4064860" cy="279400"/>
          </a:xfrm>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a:xfrm>
            <a:off x="6817317" y="5054602"/>
            <a:ext cx="413483" cy="279400"/>
          </a:xfrm>
        </p:spPr>
        <p:txBody>
          <a:bodyPr/>
          <a:lstStyle/>
          <a:p>
            <a:pPr>
              <a:defRPr/>
            </a:pPr>
            <a:fld id="{1985911B-E4F8-4A24-A7E9-EC84F4BAB37E}" type="slidenum">
              <a:rPr lang="en-US" smtClean="0"/>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55695528-4B24-4E18-AE23-C9757A2FA7E6}"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0CBD23CB-0526-4FA5-B8DD-094A70344D48}" type="slidenum">
              <a:rPr lang="en-US" smtClean="0"/>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1E305B69-0FBE-4073-95C8-BC6C2176C760}"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7" name="Slide Number Placeholder 6"/>
          <p:cNvSpPr>
            <a:spLocks noGrp="1"/>
          </p:cNvSpPr>
          <p:nvPr>
            <p:ph type="sldNum" sz="quarter" idx="12"/>
          </p:nvPr>
        </p:nvSpPr>
        <p:spPr/>
        <p:txBody>
          <a:bodyPr/>
          <a:lstStyle/>
          <a:p>
            <a:pPr>
              <a:defRPr/>
            </a:pPr>
            <a:fld id="{6D9FF4E0-2D0F-4B7F-8E3D-0F3D0640EECB}" type="slidenum">
              <a:rPr lang="en-US" smtClean="0"/>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7D34D98A-113D-40BD-BFD9-81D5EEE79D69}" type="datetime1">
              <a:rPr lang="en-US" smtClean="0"/>
            </a:fld>
            <a:endParaRPr lang="en-US"/>
          </a:p>
        </p:txBody>
      </p:sp>
      <p:sp>
        <p:nvSpPr>
          <p:cNvPr id="8" name="Footer Placeholder 7"/>
          <p:cNvSpPr>
            <a:spLocks noGrp="1"/>
          </p:cNvSpPr>
          <p:nvPr>
            <p:ph type="ftr" sz="quarter" idx="11"/>
          </p:nvPr>
        </p:nvSpPr>
        <p:spPr/>
        <p:txBody>
          <a:bodyPr/>
          <a:lstStyle/>
          <a:p>
            <a:pPr>
              <a:defRPr/>
            </a:pPr>
            <a:r>
              <a:rPr lang="en-US" smtClean="0"/>
              <a:t>DB Systems Design I                   Edison Nkurunungi</a:t>
            </a:r>
            <a:endParaRPr lang="en-US"/>
          </a:p>
        </p:txBody>
      </p:sp>
      <p:sp>
        <p:nvSpPr>
          <p:cNvPr id="9" name="Slide Number Placeholder 8"/>
          <p:cNvSpPr>
            <a:spLocks noGrp="1"/>
          </p:cNvSpPr>
          <p:nvPr>
            <p:ph type="sldNum" sz="quarter" idx="12"/>
          </p:nvPr>
        </p:nvSpPr>
        <p:spPr/>
        <p:txBody>
          <a:bodyPr/>
          <a:lstStyle/>
          <a:p>
            <a:pPr>
              <a:defRPr/>
            </a:pPr>
            <a:fld id="{07E9DEE3-228A-4EBB-814E-D68FE4E9969C}" type="slidenum">
              <a:rPr lang="en-US" smtClean="0"/>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83465483-5C3C-4B08-BF9D-B19443C3F07D}" type="datetime1">
              <a:rPr lang="en-US" smtClean="0"/>
            </a:fld>
            <a:endParaRPr lang="en-US"/>
          </a:p>
        </p:txBody>
      </p:sp>
      <p:sp>
        <p:nvSpPr>
          <p:cNvPr id="4" name="Footer Placeholder 3"/>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1AD0403E-9542-4062-9355-CC46D3CC4236}" type="slidenum">
              <a:rPr lang="en-US" smtClean="0"/>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7B7A1C8-B861-492F-B9FB-61EE0CE27022}" type="datetime1">
              <a:rPr lang="en-US" smtClean="0"/>
            </a:fld>
            <a:endParaRPr lang="en-US"/>
          </a:p>
        </p:txBody>
      </p:sp>
      <p:sp>
        <p:nvSpPr>
          <p:cNvPr id="3" name="Footer Placeholder 2"/>
          <p:cNvSpPr>
            <a:spLocks noGrp="1"/>
          </p:cNvSpPr>
          <p:nvPr>
            <p:ph type="ftr" sz="quarter" idx="11"/>
          </p:nvPr>
        </p:nvSpPr>
        <p:spPr/>
        <p:txBody>
          <a:bodyPr/>
          <a:lstStyle/>
          <a:p>
            <a:pPr>
              <a:defRPr/>
            </a:pPr>
            <a:r>
              <a:rPr lang="en-US" smtClean="0"/>
              <a:t>DB Systems Design I                   Edison Nkurunungi</a:t>
            </a:r>
            <a:endParaRPr lang="en-US"/>
          </a:p>
        </p:txBody>
      </p:sp>
      <p:sp>
        <p:nvSpPr>
          <p:cNvPr id="4" name="Slide Number Placeholder 3"/>
          <p:cNvSpPr>
            <a:spLocks noGrp="1"/>
          </p:cNvSpPr>
          <p:nvPr>
            <p:ph type="sldNum" sz="quarter" idx="12"/>
          </p:nvPr>
        </p:nvSpPr>
        <p:spPr/>
        <p:txBody>
          <a:bodyPr/>
          <a:lstStyle/>
          <a:p>
            <a:pPr>
              <a:defRPr/>
            </a:pPr>
            <a:fld id="{5957C293-7A84-4ED3-88D5-70F031BF90B1}" type="slidenum">
              <a:rPr lang="en-US" smtClean="0"/>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pPr>
              <a:defRPr/>
            </a:pPr>
            <a:fld id="{AD9EDE51-C203-4F3D-96AD-4424CF81642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7" name="Slide Number Placeholder 6"/>
          <p:cNvSpPr>
            <a:spLocks noGrp="1"/>
          </p:cNvSpPr>
          <p:nvPr>
            <p:ph type="sldNum" sz="quarter" idx="12"/>
          </p:nvPr>
        </p:nvSpPr>
        <p:spPr/>
        <p:txBody>
          <a:bodyPr/>
          <a:lstStyle/>
          <a:p>
            <a:pPr>
              <a:defRPr/>
            </a:pPr>
            <a:fld id="{16C5D56F-A073-4173-A6CD-EA0770792242}" type="slidenum">
              <a:rPr lang="en-US" smtClean="0"/>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pPr>
              <a:defRPr/>
            </a:pPr>
            <a:fld id="{BB98C7B6-AAFF-42D4-B9E9-8FDC1FA15A3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7" name="Slide Number Placeholder 6"/>
          <p:cNvSpPr>
            <a:spLocks noGrp="1"/>
          </p:cNvSpPr>
          <p:nvPr>
            <p:ph type="sldNum" sz="quarter" idx="12"/>
          </p:nvPr>
        </p:nvSpPr>
        <p:spPr/>
        <p:txBody>
          <a:bodyPr/>
          <a:lstStyle/>
          <a:p>
            <a:pPr>
              <a:defRPr/>
            </a:pPr>
            <a:fld id="{FB23C663-3DBA-463C-9E44-F92780056614}" type="slidenum">
              <a:rPr lang="en-US" smtClean="0"/>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pPr>
              <a:defRPr/>
            </a:pPr>
            <a:fld id="{C50568E1-AB15-4B4A-8367-D428C632072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7" name="Slide Number Placeholder 6"/>
          <p:cNvSpPr>
            <a:spLocks noGrp="1"/>
          </p:cNvSpPr>
          <p:nvPr>
            <p:ph type="sldNum" sz="quarter" idx="12"/>
          </p:nvPr>
        </p:nvSpPr>
        <p:spPr/>
        <p:txBody>
          <a:bodyPr/>
          <a:lstStyle/>
          <a:p>
            <a:pPr>
              <a:defRPr/>
            </a:pPr>
            <a:fld id="{90C0A549-0449-41E7-8051-EFFBE1EBA7D6}" type="slidenum">
              <a:rPr lang="en-US" smtClean="0"/>
            </a:fld>
            <a:endParaRPr lang="en-US"/>
          </a:p>
        </p:txBody>
      </p:sp>
    </p:spTree>
  </p:cSld>
  <p:clrMapOvr>
    <a:masterClrMapping/>
  </p:clrMapOvr>
  <p:transition spd="med">
    <p:wipe dir="r"/>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C50568E1-AB15-4B4A-8367-D428C6320729}"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0C0A549-0449-41E7-8051-EFFBE1EBA7D6}" type="slidenum">
              <a:rPr lang="en-US" smtClean="0"/>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endParaRPr lang="en-US" smtClean="0"/>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C50568E1-AB15-4B4A-8367-D428C6320729}"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0C0A549-0449-41E7-8051-EFFBE1EBA7D6}" type="slidenum">
              <a:rPr lang="en-US" smtClean="0"/>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endParaRPr lang="en-US" sz="7200" dirty="0">
              <a:solidFill>
                <a:schemeClr val="tx1"/>
              </a:solidFill>
              <a:effectLst/>
            </a:endParaRP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endParaRPr lang="en-US" sz="7200" dirty="0">
              <a:solidFill>
                <a:schemeClr val="tx1"/>
              </a:solidFill>
              <a:effectLst/>
            </a:endParaRP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C50568E1-AB15-4B4A-8367-D428C6320729}"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0C0A549-0449-41E7-8051-EFFBE1EBA7D6}" type="slidenum">
              <a:rPr lang="en-US" smtClean="0"/>
            </a:fld>
            <a:endParaRPr lang="en-US"/>
          </a:p>
        </p:txBody>
      </p:sp>
    </p:spTree>
  </p:cSld>
  <p:clrMapOvr>
    <a:masterClrMapping/>
  </p:clrMapOvr>
  <p:transition spd="med">
    <p:wipe dir="r"/>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C50568E1-AB15-4B4A-8367-D428C6320729}"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0C0A549-0449-41E7-8051-EFFBE1EBA7D6}" type="slidenum">
              <a:rPr lang="en-US" smtClean="0"/>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pPr>
              <a:defRPr/>
            </a:pPr>
            <a:fld id="{C50568E1-AB15-4B4A-8367-D428C6320729}"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0C0A549-0449-41E7-8051-EFFBE1EBA7D6}" type="slidenum">
              <a:rPr lang="en-US" smtClean="0"/>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E91DC869-2D7A-4F8D-8EAD-D615218B02EE}"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41D3030D-8864-4493-935A-813813110E21}" type="slidenum">
              <a:rPr lang="en-US" smtClean="0"/>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B6A4C2E-B0B9-454B-B0F1-0E596738B2C2}"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64F3F517-0371-46E9-A787-F33A9151B2C9}" type="slidenum">
              <a:rPr lang="en-US" smtClean="0"/>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l="1" r="14240"/>
            <a:stretch>
              <a:fillRect/>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l="1" r="14240"/>
            <a:stretch>
              <a:fillRect/>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C50568E1-AB15-4B4A-8367-D428C6320729}" type="datetime1">
              <a:rPr lang="en-US" smtClean="0"/>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r>
              <a:rPr lang="en-US" smtClean="0"/>
              <a:t>DB Systems Design I                   Edison Nkurunungi</a:t>
            </a:r>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90C0A549-0449-41E7-8051-EFFBE1EBA7D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wipe dir="r"/>
  </p:transition>
  <p:timing>
    <p:tnLst>
      <p:par>
        <p:cTn id="1" dur="indefinite" restart="never" nodeType="tmRoot"/>
      </p:par>
    </p:tnLst>
  </p:timing>
  <p:hf hdr="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en.wikipedia.org/wiki/Computer_system" TargetMode="External"/><Relationship Id="rId1" Type="http://schemas.openxmlformats.org/officeDocument/2006/relationships/hyperlink" Target="https://en.wikipedia.org/wiki/Requirements"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524000" y="1600199"/>
            <a:ext cx="6096000" cy="1400177"/>
          </a:xfrm>
        </p:spPr>
        <p:txBody>
          <a:bodyPr>
            <a:normAutofit/>
          </a:bodyPr>
          <a:lstStyle/>
          <a:p>
            <a:pPr eaLnBrk="1" fontAlgn="auto" hangingPunct="1">
              <a:spcAft>
                <a:spcPts val="0"/>
              </a:spcAft>
              <a:defRPr/>
            </a:pPr>
            <a:r>
              <a:rPr lang="en-US" sz="3600" dirty="0" smtClean="0"/>
              <a:t>IT 122: DATABASE SYSTEMS DESIGN I</a:t>
            </a:r>
            <a:endParaRPr lang="en-US" sz="3600" dirty="0" smtClean="0"/>
          </a:p>
        </p:txBody>
      </p:sp>
      <p:sp>
        <p:nvSpPr>
          <p:cNvPr id="9219" name="Subtitle 3"/>
          <p:cNvSpPr>
            <a:spLocks noGrp="1"/>
          </p:cNvSpPr>
          <p:nvPr>
            <p:ph type="subTitle" idx="1"/>
          </p:nvPr>
        </p:nvSpPr>
        <p:spPr>
          <a:xfrm>
            <a:off x="1981200" y="3228975"/>
            <a:ext cx="5249600" cy="2333625"/>
          </a:xfrm>
        </p:spPr>
        <p:txBody>
          <a:bodyPr>
            <a:normAutofit/>
          </a:bodyPr>
          <a:lstStyle/>
          <a:p>
            <a:pPr marR="0" algn="l" eaLnBrk="1" hangingPunct="1">
              <a:buFont typeface="Arial" panose="020B0604020202020204" pitchFamily="34" charset="0"/>
              <a:buNone/>
            </a:pPr>
            <a:endParaRPr lang="en-US" dirty="0" smtClean="0"/>
          </a:p>
          <a:p>
            <a:pPr marR="0" algn="l" eaLnBrk="1" hangingPunct="1">
              <a:buFont typeface="Arial" panose="020B0604020202020204" pitchFamily="34" charset="0"/>
              <a:buNone/>
            </a:pPr>
            <a:r>
              <a:rPr lang="en-US" dirty="0" smtClean="0"/>
              <a:t>Instructor: Edison Nkurunungi </a:t>
            </a:r>
            <a:endParaRPr lang="en-US" dirty="0" smtClean="0"/>
          </a:p>
          <a:p>
            <a:pPr marR="0" algn="l" eaLnBrk="1" hangingPunct="1">
              <a:buFont typeface="Arial" panose="020B0604020202020204" pitchFamily="34" charset="0"/>
              <a:buNone/>
            </a:pPr>
            <a:r>
              <a:rPr lang="en-US" dirty="0" smtClean="0"/>
              <a:t>Tel: +256 772 955 373/ 702 955372</a:t>
            </a:r>
            <a:endParaRPr lang="en-US" dirty="0" smtClean="0"/>
          </a:p>
          <a:p>
            <a:pPr marR="0" algn="l" eaLnBrk="1" hangingPunct="1">
              <a:buFont typeface="Arial" panose="020B0604020202020204" pitchFamily="34" charset="0"/>
              <a:buNone/>
            </a:pPr>
            <a:r>
              <a:rPr lang="en-US" dirty="0" smtClean="0"/>
              <a:t>Email: </a:t>
            </a:r>
            <a:r>
              <a:rPr lang="en-US" dirty="0"/>
              <a:t>e</a:t>
            </a:r>
            <a:r>
              <a:rPr lang="en-US" dirty="0" smtClean="0"/>
              <a:t>dison.nkurunungi@uict.ac.ug</a:t>
            </a:r>
            <a:endParaRPr lang="en-US" dirty="0" smtClean="0"/>
          </a:p>
        </p:txBody>
      </p:sp>
      <p:sp>
        <p:nvSpPr>
          <p:cNvPr id="4" name="Date Placeholder 3"/>
          <p:cNvSpPr>
            <a:spLocks noGrp="1"/>
          </p:cNvSpPr>
          <p:nvPr>
            <p:ph type="dt" sz="half" idx="10"/>
          </p:nvPr>
        </p:nvSpPr>
        <p:spPr/>
        <p:txBody>
          <a:bodyPr/>
          <a:lstStyle/>
          <a:p>
            <a:pPr>
              <a:defRPr/>
            </a:pPr>
            <a:fld id="{E240B7CB-9D9F-4A65-BBCD-CC67BA1B56D8}"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1985911B-E4F8-4A24-A7E9-EC84F4BAB37E}"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a:bodyPr>
          <a:lstStyle/>
          <a:p>
            <a:pPr eaLnBrk="1" fontAlgn="auto" hangingPunct="1">
              <a:spcAft>
                <a:spcPts val="0"/>
              </a:spcAft>
              <a:defRPr/>
            </a:pPr>
            <a:br>
              <a:rPr lang="en-US" sz="3600" dirty="0" smtClean="0"/>
            </a:br>
            <a:r>
              <a:rPr lang="en-US" dirty="0" smtClean="0"/>
              <a:t>Introduction</a:t>
            </a:r>
            <a:endParaRPr lang="en-US" dirty="0" smtClean="0"/>
          </a:p>
        </p:txBody>
      </p:sp>
      <p:sp>
        <p:nvSpPr>
          <p:cNvPr id="6147" name="Content Placeholder 2"/>
          <p:cNvSpPr>
            <a:spLocks noGrp="1"/>
          </p:cNvSpPr>
          <p:nvPr>
            <p:ph idx="1"/>
          </p:nvPr>
        </p:nvSpPr>
        <p:spPr/>
        <p:txBody>
          <a:bodyPr rtlCol="0">
            <a:normAutofit fontScale="92500" lnSpcReduction="10000"/>
          </a:bodyPr>
          <a:lstStyle/>
          <a:p>
            <a:pPr marL="365760" indent="-255905" algn="just" eaLnBrk="1" fontAlgn="auto" hangingPunct="1">
              <a:spcAft>
                <a:spcPts val="0"/>
              </a:spcAft>
              <a:buFont typeface="Arial" panose="020B0604020202020204" pitchFamily="34" charset="0"/>
              <a:buNone/>
              <a:defRPr/>
            </a:pPr>
            <a:endParaRPr lang="en-US" dirty="0" smtClean="0">
              <a:latin typeface="Times New Roman" panose="02020603050405020304" pitchFamily="18" charset="0"/>
              <a:cs typeface="Times New Roman" panose="02020603050405020304" pitchFamily="18" charset="0"/>
            </a:endParaRPr>
          </a:p>
          <a:p>
            <a:pPr marL="365760" indent="-255905" algn="just" eaLnBrk="1" fontAlgn="auto" hangingPunct="1">
              <a:spcAft>
                <a:spcPts val="0"/>
              </a:spcAft>
              <a:buFont typeface="Arial" panose="020B0604020202020204" pitchFamily="34" charset="0"/>
              <a:buNone/>
              <a:defRPr/>
            </a:pPr>
            <a:r>
              <a:rPr lang="en-US" dirty="0" smtClean="0">
                <a:latin typeface="Times New Roman" panose="02020603050405020304" pitchFamily="18" charset="0"/>
                <a:cs typeface="Times New Roman" panose="02020603050405020304" pitchFamily="18" charset="0"/>
              </a:rPr>
              <a:t>	A database is an organized set of data items that reduces duplication of the stored records. It is a collection of related records which can be used to produce information. Databases exist to serve the needs of applications. An application, in turn, is a unit of software that exists to serve the needs of some activity (user).</a:t>
            </a:r>
            <a:endParaRPr lang="en-US" dirty="0" smtClean="0">
              <a:latin typeface="Times New Roman" panose="02020603050405020304" pitchFamily="18" charset="0"/>
              <a:cs typeface="Times New Roman" panose="02020603050405020304" pitchFamily="18" charset="0"/>
            </a:endParaRPr>
          </a:p>
          <a:p>
            <a:pPr marL="365760" indent="-255905" algn="just" eaLnBrk="1" fontAlgn="auto" hangingPunct="1">
              <a:spcAft>
                <a:spcPts val="0"/>
              </a:spcAft>
              <a:buFont typeface="Arial" panose="020B0604020202020204" pitchFamily="34" charset="0"/>
              <a:buNone/>
              <a:defRPr/>
            </a:pPr>
            <a:r>
              <a:rPr lang="en-US" b="1" i="1" dirty="0" smtClean="0">
                <a:latin typeface="Times New Roman" panose="02020603050405020304" pitchFamily="18" charset="0"/>
                <a:cs typeface="Times New Roman" panose="02020603050405020304" pitchFamily="18" charset="0"/>
              </a:rPr>
              <a:t>	The basic idea of a database is to store data in an organized way. </a:t>
            </a:r>
            <a:endParaRPr lang="en-US" dirty="0" smtClean="0">
              <a:latin typeface="Times New Roman" panose="02020603050405020304" pitchFamily="18" charset="0"/>
              <a:cs typeface="Times New Roman" panose="02020603050405020304" pitchFamily="18" charset="0"/>
            </a:endParaRPr>
          </a:p>
          <a:p>
            <a:pPr marL="365760" indent="-255905" eaLnBrk="1" fontAlgn="auto" hangingPunct="1">
              <a:spcAft>
                <a:spcPts val="0"/>
              </a:spcAft>
              <a:buFont typeface="Arial" panose="020B0604020202020204" pitchFamily="34" charset="0"/>
              <a:buChar char="•"/>
              <a:defRPr/>
            </a:pPr>
            <a:endParaRPr lang="en-US" dirty="0" smtClean="0"/>
          </a:p>
          <a:p>
            <a:pPr marL="365760" indent="-255905" eaLnBrk="1" fontAlgn="auto" hangingPunct="1">
              <a:spcAft>
                <a:spcPts val="0"/>
              </a:spcAft>
              <a:buFont typeface="Arial" panose="020B0604020202020204" pitchFamily="34" charset="0"/>
              <a:buChar char="•"/>
              <a:defRPr/>
            </a:pPr>
            <a:endParaRPr lang="en-US" dirty="0" smtClean="0"/>
          </a:p>
        </p:txBody>
      </p:sp>
      <p:sp>
        <p:nvSpPr>
          <p:cNvPr id="4" name="Date Placeholder 3"/>
          <p:cNvSpPr>
            <a:spLocks noGrp="1"/>
          </p:cNvSpPr>
          <p:nvPr>
            <p:ph type="dt" sz="half" idx="10"/>
          </p:nvPr>
        </p:nvSpPr>
        <p:spPr/>
        <p:txBody>
          <a:bodyPr/>
          <a:lstStyle/>
          <a:p>
            <a:pPr>
              <a:defRPr/>
            </a:pPr>
            <a:fld id="{CE78FF49-67C7-49CA-A3AB-DEE7411FF99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Definition of (Database) Application Program</a:t>
            </a:r>
            <a:endParaRPr lang="en-US" dirty="0"/>
          </a:p>
        </p:txBody>
      </p:sp>
      <p:sp>
        <p:nvSpPr>
          <p:cNvPr id="3" name="Content Placeholder 2"/>
          <p:cNvSpPr>
            <a:spLocks noGrp="1"/>
          </p:cNvSpPr>
          <p:nvPr>
            <p:ph idx="1"/>
          </p:nvPr>
        </p:nvSpPr>
        <p:spPr/>
        <p:txBody>
          <a:bodyPr/>
          <a:lstStyle/>
          <a:p>
            <a:pPr algn="just"/>
            <a:r>
              <a:rPr lang="en-US" dirty="0" smtClean="0"/>
              <a:t>A computer program that interacts with the database by issuing an appropriate request (typically an SQL statement) to the DBMS</a:t>
            </a:r>
            <a:endParaRPr lang="en-US" dirty="0" smtClean="0"/>
          </a:p>
          <a:p>
            <a:pPr algn="just"/>
            <a:r>
              <a:rPr lang="en-US" dirty="0" smtClean="0"/>
              <a:t>Users interact with the database through a number of application programs (used to create &amp; maintain the database &amp; to generate information) written in some programming language</a:t>
            </a:r>
            <a:endParaRPr lang="en-US" dirty="0"/>
          </a:p>
        </p:txBody>
      </p:sp>
      <p:sp>
        <p:nvSpPr>
          <p:cNvPr id="4" name="Date Placeholder 3"/>
          <p:cNvSpPr>
            <a:spLocks noGrp="1"/>
          </p:cNvSpPr>
          <p:nvPr>
            <p:ph type="dt" sz="half" idx="10"/>
          </p:nvPr>
        </p:nvSpPr>
        <p:spPr/>
        <p:txBody>
          <a:bodyPr/>
          <a:lstStyle/>
          <a:p>
            <a:pPr>
              <a:defRPr/>
            </a:pPr>
            <a:fld id="{65E30A60-5E37-4510-8652-AEFF0697C34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Traditional File Systems</a:t>
            </a:r>
            <a:br>
              <a:rPr lang="en-US" dirty="0" smtClean="0"/>
            </a:br>
            <a:endParaRPr lang="en-US" dirty="0" smtClean="0"/>
          </a:p>
        </p:txBody>
      </p:sp>
      <p:sp>
        <p:nvSpPr>
          <p:cNvPr id="11266" name="Content Placeholder 2"/>
          <p:cNvSpPr>
            <a:spLocks noGrp="1"/>
          </p:cNvSpPr>
          <p:nvPr>
            <p:ph idx="1"/>
          </p:nvPr>
        </p:nvSpPr>
        <p:spPr/>
        <p:txBody>
          <a:bodyPr>
            <a:normAutofit lnSpcReduction="10000"/>
          </a:bodyPr>
          <a:lstStyle/>
          <a:p>
            <a:pPr algn="just" eaLnBrk="1" hangingPunct="1"/>
            <a:r>
              <a:rPr lang="en-US" dirty="0" smtClean="0"/>
              <a:t>In computing, a file-system is a method for storing and organizing computer files and the data they contain to make it easy to find and access them. </a:t>
            </a:r>
            <a:endParaRPr lang="en-US" dirty="0" smtClean="0"/>
          </a:p>
          <a:p>
            <a:pPr algn="just" eaLnBrk="1" hangingPunct="1"/>
            <a:r>
              <a:rPr lang="en-US" dirty="0" smtClean="0"/>
              <a:t>File-systems were an early attempt to computerize the manual filing system; the normal filing system works well while the data items to be stored are few. However, it becomes impossible to use when we have to cross-reference or process data jointly from different files.</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3F2FADA9-E351-40CC-A4D8-35AF6EB1B36B}"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file systems…</a:t>
            </a:r>
            <a:endParaRPr lang="en-US" dirty="0"/>
          </a:p>
        </p:txBody>
      </p:sp>
      <p:sp>
        <p:nvSpPr>
          <p:cNvPr id="3" name="Content Placeholder 2"/>
          <p:cNvSpPr>
            <a:spLocks noGrp="1"/>
          </p:cNvSpPr>
          <p:nvPr>
            <p:ph idx="1"/>
          </p:nvPr>
        </p:nvSpPr>
        <p:spPr/>
        <p:txBody>
          <a:bodyPr>
            <a:normAutofit lnSpcReduction="10000"/>
          </a:bodyPr>
          <a:lstStyle/>
          <a:p>
            <a:pPr algn="just"/>
            <a:r>
              <a:rPr lang="en-US" dirty="0"/>
              <a:t>It is also called a traditional based approach in which a decentralized approach was taken where each department stored and controlled its own data with the help of a data processing specialist. </a:t>
            </a:r>
            <a:endParaRPr lang="en-US" dirty="0" smtClean="0"/>
          </a:p>
          <a:p>
            <a:pPr algn="just"/>
            <a:r>
              <a:rPr lang="en-US" dirty="0" smtClean="0"/>
              <a:t>The </a:t>
            </a:r>
            <a:r>
              <a:rPr lang="en-US" dirty="0"/>
              <a:t>main role of a data processing specialist was to create the necessary computer file structures, and also manage the data within structures and design some application programs that create reports based on file data.</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38201"/>
            <a:ext cx="6985000" cy="228600"/>
          </a:xfrm>
        </p:spPr>
        <p:txBody>
          <a:bodyPr>
            <a:normAutofit fontScale="90000"/>
          </a:bodyPr>
          <a:lstStyle/>
          <a:p>
            <a:r>
              <a:rPr lang="en-US" dirty="0" smtClean="0"/>
              <a:t>Illustration of Traditional </a:t>
            </a:r>
            <a:r>
              <a:rPr lang="en-US" dirty="0"/>
              <a:t>File System</a:t>
            </a:r>
            <a:endParaRPr lang="en-US" dirty="0"/>
          </a:p>
        </p:txBody>
      </p:sp>
      <p:pic>
        <p:nvPicPr>
          <p:cNvPr id="7" name="Content Placeholder 6"/>
          <p:cNvPicPr>
            <a:picLocks noGrp="1"/>
          </p:cNvPicPr>
          <p:nvPr>
            <p:ph idx="1"/>
          </p:nvPr>
        </p:nvPicPr>
        <p:blipFill rotWithShape="1">
          <a:blip r:embed="rId1"/>
          <a:srcRect l="18846" t="24843" r="43077" b="36410"/>
          <a:stretch>
            <a:fillRect/>
          </a:stretch>
        </p:blipFill>
        <p:spPr bwMode="auto">
          <a:xfrm>
            <a:off x="838200" y="1417638"/>
            <a:ext cx="7467600" cy="4438495"/>
          </a:xfrm>
          <a:prstGeom prst="rect">
            <a:avLst/>
          </a:prstGeom>
          <a:ln>
            <a:noFill/>
          </a:ln>
        </p:spPr>
      </p:pic>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file systems…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Consider an example of a student's file </a:t>
            </a:r>
            <a:r>
              <a:rPr lang="en-US" dirty="0" smtClean="0"/>
              <a:t>system on the previous slide. </a:t>
            </a:r>
            <a:r>
              <a:rPr lang="en-US" dirty="0"/>
              <a:t>The student file will contain information regarding the student (i.e. roll no, student name, course etc.). Similarly, we have a subject file that contains information about the subject and the result file which contains the information regarding the result.</a:t>
            </a:r>
            <a:endParaRPr lang="en-US" dirty="0"/>
          </a:p>
          <a:p>
            <a:pPr algn="just"/>
            <a:r>
              <a:rPr lang="en-US" dirty="0"/>
              <a:t>Some fields are duplicated in more than one file, which leads to data redundancy. So to overcome this problem, we need to create a centralized system, i.e. DBMS approach.</a:t>
            </a:r>
            <a:endParaRPr lang="en-US" dirty="0"/>
          </a:p>
          <a:p>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5337"/>
            <a:ext cx="7620000" cy="1370663"/>
          </a:xfrm>
        </p:spPr>
        <p:txBody>
          <a:bodyPr>
            <a:normAutofit/>
          </a:bodyPr>
          <a:lstStyle/>
          <a:p>
            <a:r>
              <a:rPr lang="en-US" b="1" dirty="0"/>
              <a:t>Characteristics of File Processing </a:t>
            </a:r>
            <a:r>
              <a:rPr lang="en-US" b="1" dirty="0" smtClean="0"/>
              <a:t>Systems</a:t>
            </a:r>
            <a:endParaRPr lang="en-US" dirty="0"/>
          </a:p>
        </p:txBody>
      </p:sp>
      <p:sp>
        <p:nvSpPr>
          <p:cNvPr id="3" name="Content Placeholder 2"/>
          <p:cNvSpPr>
            <a:spLocks noGrp="1"/>
          </p:cNvSpPr>
          <p:nvPr>
            <p:ph idx="1"/>
          </p:nvPr>
        </p:nvSpPr>
        <p:spPr>
          <a:xfrm>
            <a:off x="1176865" y="2438399"/>
            <a:ext cx="6798736" cy="3496733"/>
          </a:xfrm>
        </p:spPr>
        <p:txBody>
          <a:bodyPr/>
          <a:lstStyle/>
          <a:p>
            <a:r>
              <a:rPr lang="en-US" dirty="0"/>
              <a:t>It is a group of files storing data of an organization.</a:t>
            </a:r>
            <a:br>
              <a:rPr lang="en-US" dirty="0"/>
            </a:br>
            <a:r>
              <a:rPr lang="en-US" dirty="0"/>
              <a:t>• Each file is independent from one another.</a:t>
            </a:r>
            <a:br>
              <a:rPr lang="en-US" dirty="0"/>
            </a:br>
            <a:r>
              <a:rPr lang="en-US" dirty="0"/>
              <a:t>• Each file is called a flat file.</a:t>
            </a:r>
            <a:br>
              <a:rPr lang="en-US" dirty="0"/>
            </a:br>
            <a:r>
              <a:rPr lang="en-US" dirty="0"/>
              <a:t>• Each file contained and processed information for one specific function, such as accounting or inventory.</a:t>
            </a:r>
            <a:br>
              <a:rPr lang="en-US" dirty="0"/>
            </a:br>
            <a:r>
              <a:rPr lang="en-US" dirty="0"/>
              <a:t>• Files are designed by using programs written in programming languages such as COBOL, C, C++.</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Limitations / Problems with using File Systems</a:t>
            </a:r>
            <a:br>
              <a:rPr lang="en-US" dirty="0" smtClean="0"/>
            </a:br>
            <a:endParaRPr lang="en-US" dirty="0" smtClean="0"/>
          </a:p>
        </p:txBody>
      </p:sp>
      <p:sp>
        <p:nvSpPr>
          <p:cNvPr id="8195" name="Content Placeholder 2"/>
          <p:cNvSpPr>
            <a:spLocks noGrp="1"/>
          </p:cNvSpPr>
          <p:nvPr>
            <p:ph idx="1"/>
          </p:nvPr>
        </p:nvSpPr>
        <p:spPr/>
        <p:txBody>
          <a:bodyPr rtlCol="0">
            <a:normAutofit fontScale="92500" lnSpcReduction="20000"/>
          </a:bodyPr>
          <a:lstStyle/>
          <a:p>
            <a:pPr marL="365760" indent="-255905">
              <a:buFont typeface="Wingdings 3" panose="05040102010807070707"/>
              <a:buChar char=""/>
              <a:defRPr/>
            </a:pPr>
            <a:r>
              <a:rPr lang="en-US" b="1" dirty="0" smtClean="0"/>
              <a:t>1. Separation </a:t>
            </a:r>
            <a:r>
              <a:rPr lang="en-US" b="1" dirty="0"/>
              <a:t>and isolation of data</a:t>
            </a:r>
            <a:br>
              <a:rPr lang="en-US" dirty="0"/>
            </a:br>
            <a:r>
              <a:rPr lang="en-US" dirty="0"/>
              <a:t>-Difficult to access data that is available (</a:t>
            </a:r>
            <a:r>
              <a:rPr lang="en-US" dirty="0" err="1"/>
              <a:t>eg</a:t>
            </a:r>
            <a:r>
              <a:rPr lang="en-US" dirty="0"/>
              <a:t>. from two </a:t>
            </a:r>
            <a:r>
              <a:rPr lang="en-US" dirty="0" smtClean="0"/>
              <a:t>files. Student </a:t>
            </a:r>
            <a:r>
              <a:rPr lang="en-US" dirty="0"/>
              <a:t>that achieved good academic result and active in extra curriculum </a:t>
            </a:r>
            <a:r>
              <a:rPr lang="en-US" dirty="0" smtClean="0"/>
              <a:t>activities)</a:t>
            </a:r>
            <a:endParaRPr lang="en-US" dirty="0" smtClean="0"/>
          </a:p>
          <a:p>
            <a:pPr marL="365760" indent="-255905">
              <a:buFont typeface="Wingdings 3" panose="05040102010807070707"/>
              <a:buChar char=""/>
              <a:defRPr/>
            </a:pPr>
            <a:r>
              <a:rPr lang="en-US" b="1" dirty="0" smtClean="0"/>
              <a:t>2. Duplication </a:t>
            </a:r>
            <a:r>
              <a:rPr lang="en-US" b="1" dirty="0"/>
              <a:t>of data</a:t>
            </a:r>
            <a:br>
              <a:rPr lang="en-US" dirty="0"/>
            </a:br>
            <a:r>
              <a:rPr lang="en-US" dirty="0"/>
              <a:t>-Cost time and money to enter data more than once</a:t>
            </a:r>
            <a:br>
              <a:rPr lang="en-US" dirty="0"/>
            </a:br>
            <a:r>
              <a:rPr lang="en-US" dirty="0"/>
              <a:t>-Additional storage space is needed - cost</a:t>
            </a:r>
            <a:br>
              <a:rPr lang="en-US" dirty="0"/>
            </a:br>
            <a:r>
              <a:rPr lang="en-US" dirty="0"/>
              <a:t>-Inconsistencies of </a:t>
            </a:r>
            <a:r>
              <a:rPr lang="en-US" dirty="0" smtClean="0"/>
              <a:t>data</a:t>
            </a:r>
            <a:endParaRPr lang="en-US" dirty="0" smtClean="0"/>
          </a:p>
          <a:p>
            <a:pPr marL="365760" indent="-255905">
              <a:buFont typeface="Wingdings 3" panose="05040102010807070707"/>
              <a:buChar char=""/>
              <a:defRPr/>
            </a:pPr>
            <a:r>
              <a:rPr lang="en-US" b="1" dirty="0" smtClean="0"/>
              <a:t>3. Data </a:t>
            </a:r>
            <a:r>
              <a:rPr lang="en-US" b="1" dirty="0"/>
              <a:t>dependence</a:t>
            </a:r>
            <a:br>
              <a:rPr lang="en-US" dirty="0"/>
            </a:br>
            <a:r>
              <a:rPr lang="en-US" dirty="0"/>
              <a:t>-File structure is defined in the </a:t>
            </a:r>
            <a:r>
              <a:rPr lang="en-US" dirty="0" smtClean="0"/>
              <a:t>application program </a:t>
            </a:r>
            <a:r>
              <a:rPr lang="en-US" dirty="0"/>
              <a:t>code.</a:t>
            </a:r>
            <a:br>
              <a:rPr lang="en-US" dirty="0"/>
            </a:br>
            <a:r>
              <a:rPr lang="en-US" dirty="0"/>
              <a:t>-Changes to an existing structure are difficult to </a:t>
            </a:r>
            <a:r>
              <a:rPr lang="en-US" dirty="0" smtClean="0"/>
              <a:t>make</a:t>
            </a:r>
            <a:endParaRPr lang="en-US" dirty="0" smtClean="0"/>
          </a:p>
        </p:txBody>
      </p:sp>
      <p:sp>
        <p:nvSpPr>
          <p:cNvPr id="4" name="Date Placeholder 3"/>
          <p:cNvSpPr>
            <a:spLocks noGrp="1"/>
          </p:cNvSpPr>
          <p:nvPr>
            <p:ph type="dt" sz="half" idx="10"/>
          </p:nvPr>
        </p:nvSpPr>
        <p:spPr/>
        <p:txBody>
          <a:bodyPr/>
          <a:lstStyle/>
          <a:p>
            <a:pPr>
              <a:defRPr/>
            </a:pPr>
            <a:fld id="{F66F7405-8220-4E2B-9EF1-49C106DCB7C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914400"/>
            <a:ext cx="7061200" cy="76200"/>
          </a:xfrm>
        </p:spPr>
        <p:txBody>
          <a:bodyPr>
            <a:normAutofit fontScale="90000"/>
          </a:bodyPr>
          <a:lstStyle/>
          <a:p>
            <a:pPr eaLnBrk="1" fontAlgn="auto" hangingPunct="1">
              <a:spcAft>
                <a:spcPts val="0"/>
              </a:spcAft>
              <a:defRPr/>
            </a:pPr>
            <a:br>
              <a:rPr lang="en-US" dirty="0" smtClean="0"/>
            </a:br>
            <a:r>
              <a:rPr lang="en-US" dirty="0" smtClean="0"/>
              <a:t>Limitations / Problems with using File Systems cont’d</a:t>
            </a:r>
            <a:br>
              <a:rPr lang="en-US" dirty="0" smtClean="0"/>
            </a:br>
            <a:endParaRPr lang="en-US" dirty="0" smtClean="0"/>
          </a:p>
        </p:txBody>
      </p:sp>
      <p:sp>
        <p:nvSpPr>
          <p:cNvPr id="13314" name="Content Placeholder 2"/>
          <p:cNvSpPr>
            <a:spLocks noGrp="1"/>
          </p:cNvSpPr>
          <p:nvPr>
            <p:ph idx="1"/>
          </p:nvPr>
        </p:nvSpPr>
        <p:spPr>
          <a:xfrm>
            <a:off x="457200" y="1524000"/>
            <a:ext cx="8229600" cy="5029200"/>
          </a:xfrm>
        </p:spPr>
        <p:txBody>
          <a:bodyPr>
            <a:normAutofit/>
          </a:bodyPr>
          <a:lstStyle/>
          <a:p>
            <a:pPr algn="just">
              <a:buFont typeface="Wingdings" panose="05000000000000000000" pitchFamily="2" charset="2"/>
              <a:buChar char="Ø"/>
            </a:pPr>
            <a:r>
              <a:rPr lang="en-US" b="1" dirty="0" smtClean="0"/>
              <a:t>4. Incompatible </a:t>
            </a:r>
            <a:r>
              <a:rPr lang="en-US" b="1" dirty="0"/>
              <a:t>file </a:t>
            </a:r>
            <a:r>
              <a:rPr lang="en-US" b="1" dirty="0" smtClean="0"/>
              <a:t>formats</a:t>
            </a:r>
            <a:endParaRPr lang="en-US" dirty="0"/>
          </a:p>
          <a:p>
            <a:pPr marL="0" indent="0" algn="just">
              <a:buNone/>
            </a:pPr>
            <a:r>
              <a:rPr lang="en-US" dirty="0" smtClean="0"/>
              <a:t>- As </a:t>
            </a:r>
            <a:r>
              <a:rPr lang="en-US" dirty="0"/>
              <a:t>the structure of files is embedded in the application programs, the structures are dependent on the application programming language. For example, the structure of a file generated by a COBOL program may be different from the structure of a file generated by a ‘C’ program. The direct incompatibility of such files makes them difficult to process jointly</a:t>
            </a:r>
            <a:r>
              <a:rPr lang="en-US" dirty="0" smtClean="0"/>
              <a:t>.</a:t>
            </a:r>
            <a:endParaRPr lang="en-US" dirty="0" smtClean="0"/>
          </a:p>
          <a:p>
            <a:pPr>
              <a:buFont typeface="Wingdings" panose="05000000000000000000" pitchFamily="2" charset="2"/>
              <a:buChar char="Ø"/>
            </a:pPr>
            <a:r>
              <a:rPr lang="en-US" b="1" dirty="0" smtClean="0"/>
              <a:t>5. </a:t>
            </a:r>
            <a:r>
              <a:rPr lang="en-US" b="1" dirty="0"/>
              <a:t>Poor data modeling of real </a:t>
            </a:r>
            <a:r>
              <a:rPr lang="en-US" b="1" dirty="0" smtClean="0"/>
              <a:t>world situations</a:t>
            </a:r>
            <a:r>
              <a:rPr lang="en-US" dirty="0" smtClean="0"/>
              <a:t> </a:t>
            </a:r>
            <a:endParaRPr lang="en-US" dirty="0" smtClean="0"/>
          </a:p>
          <a:p>
            <a:pPr marL="0" indent="0">
              <a:buNone/>
            </a:pPr>
            <a:r>
              <a:rPr lang="en-US" dirty="0" smtClean="0"/>
              <a:t>- The </a:t>
            </a:r>
            <a:r>
              <a:rPr lang="en-US" dirty="0"/>
              <a:t>file based system is not able to represent the complex data and interfile relationships, which results poor data modeling properties.</a:t>
            </a:r>
            <a:r>
              <a:rPr lang="en-US" dirty="0" smtClean="0"/>
              <a:t> </a:t>
            </a:r>
            <a:endParaRPr lang="en-US" dirty="0" smtClean="0"/>
          </a:p>
          <a:p>
            <a:pPr eaLnBrk="1" hangingPunct="1">
              <a:buFont typeface="Arial" panose="020B0604020202020204" pitchFamily="34" charset="0"/>
              <a:buNone/>
            </a:pPr>
            <a:endParaRPr lang="en-US" dirty="0" smtClean="0"/>
          </a:p>
        </p:txBody>
      </p:sp>
      <p:sp>
        <p:nvSpPr>
          <p:cNvPr id="4" name="Date Placeholder 3"/>
          <p:cNvSpPr>
            <a:spLocks noGrp="1"/>
          </p:cNvSpPr>
          <p:nvPr>
            <p:ph type="dt" sz="half" idx="10"/>
          </p:nvPr>
        </p:nvSpPr>
        <p:spPr/>
        <p:txBody>
          <a:bodyPr/>
          <a:lstStyle/>
          <a:p>
            <a:pPr>
              <a:defRPr/>
            </a:pPr>
            <a:fld id="{FE36DF8A-7EFD-41F7-B064-D9953FC842E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Database Approach to Data Storage</a:t>
            </a:r>
            <a:br>
              <a:rPr lang="en-US" dirty="0" smtClean="0"/>
            </a:br>
            <a:endParaRPr lang="en-US" dirty="0" smtClean="0"/>
          </a:p>
        </p:txBody>
      </p:sp>
      <p:sp>
        <p:nvSpPr>
          <p:cNvPr id="15362" name="Content Placeholder 2"/>
          <p:cNvSpPr>
            <a:spLocks noGrp="1"/>
          </p:cNvSpPr>
          <p:nvPr>
            <p:ph idx="1"/>
          </p:nvPr>
        </p:nvSpPr>
        <p:spPr/>
        <p:txBody>
          <a:bodyPr>
            <a:normAutofit fontScale="92500" lnSpcReduction="20000"/>
          </a:bodyPr>
          <a:lstStyle/>
          <a:p>
            <a:pPr algn="just" eaLnBrk="1" hangingPunct="1"/>
            <a:r>
              <a:rPr lang="en-US" dirty="0" smtClean="0"/>
              <a:t>All the above limitations of the file-based approach can be attributed to two factors;</a:t>
            </a:r>
            <a:endParaRPr lang="en-US" dirty="0" smtClean="0"/>
          </a:p>
          <a:p>
            <a:pPr algn="just" eaLnBrk="1" hangingPunct="1"/>
            <a:endParaRPr lang="en-US" dirty="0" smtClean="0"/>
          </a:p>
          <a:p>
            <a:pPr marL="914400" lvl="1" indent="-514350" algn="just">
              <a:buFont typeface="+mj-lt"/>
              <a:buAutoNum type="arabicPeriod"/>
            </a:pPr>
            <a:r>
              <a:rPr lang="en-US" dirty="0" smtClean="0"/>
              <a:t>The definition of data is embedded in the application program rather than being stored separately and independently.</a:t>
            </a:r>
            <a:endParaRPr lang="en-US" dirty="0" smtClean="0"/>
          </a:p>
          <a:p>
            <a:pPr marL="914400" lvl="1" indent="-514350" algn="just">
              <a:buFont typeface="+mj-lt"/>
              <a:buAutoNum type="arabicPeriod"/>
            </a:pPr>
            <a:r>
              <a:rPr lang="en-US" dirty="0" smtClean="0"/>
              <a:t>There is no control over the access and manipulation of data beyond that imposed by the application program.</a:t>
            </a:r>
            <a:endParaRPr lang="en-US" dirty="0" smtClean="0"/>
          </a:p>
          <a:p>
            <a:pPr eaLnBrk="1" hangingPunct="1">
              <a:buFont typeface="Arial" panose="020B0604020202020204" pitchFamily="34" charset="0"/>
              <a:buNone/>
            </a:pPr>
            <a:br>
              <a:rPr lang="en-US" dirty="0" smtClean="0"/>
            </a:br>
            <a:endParaRPr lang="en-US" dirty="0" smtClean="0"/>
          </a:p>
        </p:txBody>
      </p:sp>
      <p:sp>
        <p:nvSpPr>
          <p:cNvPr id="4" name="Date Placeholder 3"/>
          <p:cNvSpPr>
            <a:spLocks noGrp="1"/>
          </p:cNvSpPr>
          <p:nvPr>
            <p:ph type="dt" sz="half" idx="10"/>
          </p:nvPr>
        </p:nvSpPr>
        <p:spPr/>
        <p:txBody>
          <a:bodyPr/>
          <a:lstStyle/>
          <a:p>
            <a:pPr>
              <a:defRPr/>
            </a:pPr>
            <a:fld id="{16E3B59D-71F7-46BC-9DAF-04D9A9EF0F8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685800"/>
            <a:ext cx="8229600" cy="1295400"/>
          </a:xfrm>
        </p:spPr>
        <p:txBody>
          <a:bodyPr/>
          <a:lstStyle/>
          <a:p>
            <a:pPr eaLnBrk="1" fontAlgn="auto" hangingPunct="1">
              <a:spcAft>
                <a:spcPts val="0"/>
              </a:spcAft>
              <a:defRPr/>
            </a:pPr>
            <a:r>
              <a:rPr lang="en-US" dirty="0" smtClean="0"/>
              <a:t>Database Approach</a:t>
            </a:r>
            <a:endParaRPr lang="en-US" dirty="0" smtClean="0"/>
          </a:p>
        </p:txBody>
      </p:sp>
      <p:sp>
        <p:nvSpPr>
          <p:cNvPr id="16386" name="Content Placeholder 2"/>
          <p:cNvSpPr>
            <a:spLocks noGrp="1"/>
          </p:cNvSpPr>
          <p:nvPr>
            <p:ph idx="1"/>
          </p:nvPr>
        </p:nvSpPr>
        <p:spPr/>
        <p:txBody>
          <a:bodyPr/>
          <a:lstStyle/>
          <a:p>
            <a:pPr algn="just" eaLnBrk="1" hangingPunct="1"/>
            <a:r>
              <a:rPr lang="en-US" smtClean="0"/>
              <a:t>Therefore, to become more efficient in data storage and information management, a new approach was required. What emerged were the Database and the Database Management System (DBMS).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E4983D1B-5CBF-4B44-97F6-75749E98E501}"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What is a Database?</a:t>
            </a:r>
            <a:br>
              <a:rPr lang="en-US" dirty="0" smtClean="0"/>
            </a:br>
            <a:endParaRPr lang="en-US" dirty="0" smtClean="0"/>
          </a:p>
        </p:txBody>
      </p:sp>
      <p:sp>
        <p:nvSpPr>
          <p:cNvPr id="17410" name="Content Placeholder 2"/>
          <p:cNvSpPr>
            <a:spLocks noGrp="1"/>
          </p:cNvSpPr>
          <p:nvPr>
            <p:ph idx="1"/>
          </p:nvPr>
        </p:nvSpPr>
        <p:spPr/>
        <p:txBody>
          <a:bodyPr/>
          <a:lstStyle/>
          <a:p>
            <a:pPr algn="just"/>
            <a:r>
              <a:rPr lang="en-US" dirty="0"/>
              <a:t>A database </a:t>
            </a:r>
            <a:r>
              <a:rPr lang="en-US" dirty="0" smtClean="0"/>
              <a:t>is </a:t>
            </a:r>
            <a:r>
              <a:rPr lang="en-US" dirty="0"/>
              <a:t>a well-organized collection of data that are related in a meaningful way which can be accessed by different users but stored only once in a system. </a:t>
            </a:r>
            <a:endParaRPr lang="en-US" dirty="0" smtClean="0"/>
          </a:p>
          <a:p>
            <a:pPr algn="just"/>
            <a:r>
              <a:rPr lang="en-US" dirty="0" smtClean="0"/>
              <a:t>The </a:t>
            </a:r>
            <a:r>
              <a:rPr lang="en-US" dirty="0"/>
              <a:t>various operations performed by the DBMS system are: Insertion, deletion, selection, sorting etc.</a:t>
            </a:r>
            <a:endParaRPr lang="en-US" dirty="0" smtClean="0"/>
          </a:p>
        </p:txBody>
      </p:sp>
      <p:sp>
        <p:nvSpPr>
          <p:cNvPr id="4" name="Date Placeholder 3"/>
          <p:cNvSpPr>
            <a:spLocks noGrp="1"/>
          </p:cNvSpPr>
          <p:nvPr>
            <p:ph type="dt" sz="half" idx="10"/>
          </p:nvPr>
        </p:nvSpPr>
        <p:spPr/>
        <p:txBody>
          <a:bodyPr/>
          <a:lstStyle/>
          <a:p>
            <a:pPr>
              <a:defRPr/>
            </a:pPr>
            <a:fld id="{8682584F-884B-4DA8-8C78-2AB343082061}"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of DBMS approach</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pic>
        <p:nvPicPr>
          <p:cNvPr id="9" name="Content Placeholder 8"/>
          <p:cNvPicPr>
            <a:picLocks noGrp="1"/>
          </p:cNvPicPr>
          <p:nvPr>
            <p:ph idx="1"/>
          </p:nvPr>
        </p:nvPicPr>
        <p:blipFill rotWithShape="1">
          <a:blip r:embed="rId1"/>
          <a:srcRect l="18205" t="41026" r="45000" b="7008"/>
          <a:stretch>
            <a:fillRect/>
          </a:stretch>
        </p:blipFill>
        <p:spPr bwMode="auto">
          <a:xfrm>
            <a:off x="2407813" y="2490788"/>
            <a:ext cx="4336311" cy="3444875"/>
          </a:xfrm>
          <a:prstGeom prst="rect">
            <a:avLst/>
          </a:prstGeom>
          <a:ln>
            <a:noFill/>
          </a:ln>
        </p:spPr>
      </p:pic>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38201"/>
            <a:ext cx="7213600" cy="228600"/>
          </a:xfrm>
        </p:spPr>
        <p:txBody>
          <a:bodyPr>
            <a:normAutofit fontScale="90000"/>
          </a:bodyPr>
          <a:lstStyle/>
          <a:p>
            <a:r>
              <a:rPr lang="en-US" b="1" dirty="0"/>
              <a:t>D</a:t>
            </a:r>
            <a:r>
              <a:rPr lang="en-US" b="1" dirty="0" smtClean="0"/>
              <a:t>ifferences </a:t>
            </a:r>
            <a:r>
              <a:rPr lang="en-US" b="1" dirty="0"/>
              <a:t>between DBMS and File systems</a:t>
            </a:r>
            <a:endParaRPr lang="en-US" dirty="0"/>
          </a:p>
        </p:txBody>
      </p:sp>
      <p:graphicFrame>
        <p:nvGraphicFramePr>
          <p:cNvPr id="7" name="Content Placeholder 6"/>
          <p:cNvGraphicFramePr>
            <a:graphicFrameLocks noGrp="1"/>
          </p:cNvGraphicFramePr>
          <p:nvPr>
            <p:ph idx="1"/>
          </p:nvPr>
        </p:nvGraphicFramePr>
        <p:xfrm>
          <a:off x="457200" y="1447800"/>
          <a:ext cx="8229600" cy="5180407"/>
        </p:xfrm>
        <a:graphic>
          <a:graphicData uri="http://schemas.openxmlformats.org/drawingml/2006/table">
            <a:tbl>
              <a:tblPr firstRow="1" bandRow="1">
                <a:tableStyleId>{5C22544A-7EE6-4342-B048-85BDC9FD1C3A}</a:tableStyleId>
              </a:tblPr>
              <a:tblGrid>
                <a:gridCol w="2743200"/>
                <a:gridCol w="2743200"/>
                <a:gridCol w="2743200"/>
              </a:tblGrid>
              <a:tr h="478578">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1230805">
                <a:tc>
                  <a:txBody>
                    <a:bodyPr/>
                    <a:lstStyle/>
                    <a:p>
                      <a:r>
                        <a:rPr lang="en-US" b="1" dirty="0" smtClean="0"/>
                        <a:t>Meaning</a:t>
                      </a:r>
                      <a:endParaRPr lang="en-US" b="1" dirty="0"/>
                    </a:p>
                  </a:txBody>
                  <a:tcPr/>
                </a:tc>
                <a:tc>
                  <a:txBody>
                    <a:bodyPr/>
                    <a:lstStyle/>
                    <a:p>
                      <a:r>
                        <a:rPr lang="en-US" sz="1800" b="0" i="0" kern="1200" dirty="0" smtClean="0">
                          <a:solidFill>
                            <a:schemeClr val="dk1"/>
                          </a:solidFill>
                          <a:effectLst/>
                          <a:latin typeface="+mn-lt"/>
                          <a:ea typeface="+mn-ea"/>
                          <a:cs typeface="+mn-cs"/>
                        </a:rPr>
                        <a:t>DBMS is a collection of data. In DBMS, the user is not required to write the procedures.</a:t>
                      </a:r>
                      <a:endParaRPr lang="en-US" dirty="0"/>
                    </a:p>
                  </a:txBody>
                  <a:tcPr/>
                </a:tc>
                <a:tc>
                  <a:txBody>
                    <a:bodyPr/>
                    <a:lstStyle/>
                    <a:p>
                      <a:r>
                        <a:rPr lang="en-US" sz="1800" b="0" i="0" kern="1200" dirty="0" smtClean="0">
                          <a:solidFill>
                            <a:schemeClr val="dk1"/>
                          </a:solidFill>
                          <a:effectLst/>
                          <a:latin typeface="+mn-lt"/>
                          <a:ea typeface="+mn-ea"/>
                          <a:cs typeface="+mn-cs"/>
                        </a:rPr>
                        <a:t>The file system is a collection of data. In this system, the user has to write the procedures for managing the database.</a:t>
                      </a:r>
                      <a:endParaRPr lang="en-US" dirty="0"/>
                    </a:p>
                  </a:txBody>
                  <a:tcPr/>
                </a:tc>
              </a:tr>
              <a:tr h="1000029">
                <a:tc>
                  <a:txBody>
                    <a:bodyPr/>
                    <a:lstStyle/>
                    <a:p>
                      <a:r>
                        <a:rPr lang="en-US" sz="1800" b="1" i="0" kern="1200" dirty="0" smtClean="0">
                          <a:solidFill>
                            <a:schemeClr val="dk1"/>
                          </a:solidFill>
                          <a:effectLst/>
                          <a:latin typeface="+mn-lt"/>
                          <a:ea typeface="+mn-ea"/>
                          <a:cs typeface="+mn-cs"/>
                        </a:rPr>
                        <a:t>Sharing of data</a:t>
                      </a:r>
                      <a:endParaRPr lang="en-US" dirty="0"/>
                    </a:p>
                  </a:txBody>
                  <a:tcPr/>
                </a:tc>
                <a:tc>
                  <a:txBody>
                    <a:bodyPr/>
                    <a:lstStyle/>
                    <a:p>
                      <a:r>
                        <a:rPr lang="en-US" sz="1800" b="0" i="0" kern="1200" dirty="0" smtClean="0">
                          <a:solidFill>
                            <a:schemeClr val="dk1"/>
                          </a:solidFill>
                          <a:effectLst/>
                          <a:latin typeface="+mn-lt"/>
                          <a:ea typeface="+mn-ea"/>
                          <a:cs typeface="+mn-cs"/>
                        </a:rPr>
                        <a:t>Due to the centralized approach, data sharing is easy.</a:t>
                      </a:r>
                      <a:endParaRPr lang="en-US" dirty="0"/>
                    </a:p>
                  </a:txBody>
                  <a:tcPr/>
                </a:tc>
                <a:tc>
                  <a:txBody>
                    <a:bodyPr/>
                    <a:lstStyle/>
                    <a:p>
                      <a:r>
                        <a:rPr lang="en-US" sz="1800" b="0" i="0" kern="1200" dirty="0" smtClean="0">
                          <a:solidFill>
                            <a:schemeClr val="dk1"/>
                          </a:solidFill>
                          <a:effectLst/>
                          <a:latin typeface="+mn-lt"/>
                          <a:ea typeface="+mn-ea"/>
                          <a:cs typeface="+mn-cs"/>
                        </a:rPr>
                        <a:t>Data is distributed in many files, and it may be of different formats, so it isn't easy to share data.</a:t>
                      </a:r>
                      <a:endParaRPr lang="en-US" dirty="0"/>
                    </a:p>
                  </a:txBody>
                  <a:tcPr/>
                </a:tc>
              </a:tr>
              <a:tr h="1000029">
                <a:tc>
                  <a:txBody>
                    <a:bodyPr/>
                    <a:lstStyle/>
                    <a:p>
                      <a:r>
                        <a:rPr lang="en-US" sz="1800" b="1" i="0" kern="1200" dirty="0" smtClean="0">
                          <a:solidFill>
                            <a:schemeClr val="dk1"/>
                          </a:solidFill>
                          <a:effectLst/>
                          <a:latin typeface="+mn-lt"/>
                          <a:ea typeface="+mn-ea"/>
                          <a:cs typeface="+mn-cs"/>
                        </a:rPr>
                        <a:t>Data Abstraction</a:t>
                      </a:r>
                      <a:endParaRPr lang="en-US" dirty="0"/>
                    </a:p>
                  </a:txBody>
                  <a:tcPr/>
                </a:tc>
                <a:tc>
                  <a:txBody>
                    <a:bodyPr/>
                    <a:lstStyle/>
                    <a:p>
                      <a:r>
                        <a:rPr lang="en-US" sz="1800" b="0" i="0" kern="1200" dirty="0" smtClean="0">
                          <a:solidFill>
                            <a:schemeClr val="dk1"/>
                          </a:solidFill>
                          <a:effectLst/>
                          <a:latin typeface="+mn-lt"/>
                          <a:ea typeface="+mn-ea"/>
                          <a:cs typeface="+mn-cs"/>
                        </a:rPr>
                        <a:t>DBMS gives an abstract view of data that hides the details.</a:t>
                      </a:r>
                      <a:endParaRPr lang="en-US" dirty="0"/>
                    </a:p>
                  </a:txBody>
                  <a:tcPr/>
                </a:tc>
                <a:tc>
                  <a:txBody>
                    <a:bodyPr/>
                    <a:lstStyle/>
                    <a:p>
                      <a:r>
                        <a:rPr lang="en-US" sz="1800" b="0" i="0" kern="1200" dirty="0" smtClean="0">
                          <a:solidFill>
                            <a:schemeClr val="dk1"/>
                          </a:solidFill>
                          <a:effectLst/>
                          <a:latin typeface="+mn-lt"/>
                          <a:ea typeface="+mn-ea"/>
                          <a:cs typeface="+mn-cs"/>
                        </a:rPr>
                        <a:t>The file system provides the detail of the data representation and storage of data.</a:t>
                      </a:r>
                      <a:endParaRPr lang="en-US" dirty="0"/>
                    </a:p>
                  </a:txBody>
                  <a:tcPr/>
                </a:tc>
              </a:tr>
              <a:tr h="495589">
                <a:tc>
                  <a:txBody>
                    <a:bodyPr/>
                    <a:lstStyle/>
                    <a:p>
                      <a:endParaRPr lang="en-US" dirty="0"/>
                    </a:p>
                  </a:txBody>
                  <a:tcPr/>
                </a:tc>
                <a:tc>
                  <a:txBody>
                    <a:bodyPr/>
                    <a:lstStyle/>
                    <a:p>
                      <a:endParaRPr lang="en-US" dirty="0"/>
                    </a:p>
                  </a:txBody>
                  <a:tcPr/>
                </a:tc>
                <a:tc>
                  <a:txBody>
                    <a:bodyPr/>
                    <a:lstStyle/>
                    <a:p>
                      <a:endParaRPr lang="en-US" dirty="0"/>
                    </a:p>
                  </a:txBody>
                  <a:tcPr/>
                </a:tc>
              </a:tr>
              <a:tr h="307701">
                <a:tc gridSpan="3">
                  <a:txBody>
                    <a:bodyPr/>
                    <a:lstStyle/>
                    <a:p>
                      <a:endParaRPr lang="en-US" dirty="0"/>
                    </a:p>
                  </a:txBody>
                  <a:tcPr/>
                </a:tc>
                <a:tc hMerge="1">
                  <a:tcPr/>
                </a:tc>
                <a:tc hMerge="1">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9" y="685801"/>
            <a:ext cx="7620000" cy="761999"/>
          </a:xfrm>
        </p:spPr>
        <p:txBody>
          <a:bodyPr>
            <a:normAutofit fontScale="90000"/>
          </a:bodyPr>
          <a:lstStyle/>
          <a:p>
            <a:r>
              <a:rPr lang="en-US" b="1" dirty="0"/>
              <a:t>Differences between DBMS and File systems</a:t>
            </a:r>
            <a:endParaRPr lang="en-US" dirty="0"/>
          </a:p>
        </p:txBody>
      </p:sp>
      <p:graphicFrame>
        <p:nvGraphicFramePr>
          <p:cNvPr id="7" name="Content Placeholder 6"/>
          <p:cNvGraphicFramePr>
            <a:graphicFrameLocks noGrp="1"/>
          </p:cNvGraphicFramePr>
          <p:nvPr>
            <p:ph idx="1"/>
          </p:nvPr>
        </p:nvGraphicFramePr>
        <p:xfrm>
          <a:off x="761999" y="1600200"/>
          <a:ext cx="7620000" cy="4372700"/>
        </p:xfrm>
        <a:graphic>
          <a:graphicData uri="http://schemas.openxmlformats.org/drawingml/2006/table">
            <a:tbl>
              <a:tblPr firstRow="1" bandRow="1">
                <a:tableStyleId>{5C22544A-7EE6-4342-B048-85BDC9FD1C3A}</a:tableStyleId>
              </a:tblPr>
              <a:tblGrid>
                <a:gridCol w="2540000"/>
                <a:gridCol w="2540000"/>
                <a:gridCol w="2540000"/>
              </a:tblGrid>
              <a:tr h="437033">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754331">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b="1" i="0" kern="1200" dirty="0" smtClean="0">
                          <a:solidFill>
                            <a:schemeClr val="dk1"/>
                          </a:solidFill>
                          <a:effectLst/>
                          <a:latin typeface="+mn-lt"/>
                          <a:ea typeface="+mn-ea"/>
                          <a:cs typeface="+mn-cs"/>
                        </a:rPr>
                        <a:t>Security and Protection</a:t>
                      </a:r>
                      <a:endParaRPr lang="en-US" dirty="0" smtClean="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b="0" i="0" kern="1200" dirty="0" smtClean="0">
                          <a:solidFill>
                            <a:schemeClr val="dk1"/>
                          </a:solidFill>
                          <a:effectLst/>
                          <a:latin typeface="+mn-lt"/>
                          <a:ea typeface="+mn-ea"/>
                          <a:cs typeface="+mn-cs"/>
                        </a:rPr>
                        <a:t>DBMS provides a good protection mechanism.</a:t>
                      </a:r>
                      <a:endParaRPr lang="en-US" dirty="0" smtClean="0"/>
                    </a:p>
                  </a:txBody>
                  <a:tcPr/>
                </a:tc>
                <a:tc>
                  <a:txBody>
                    <a:bodyPr/>
                    <a:lstStyle/>
                    <a:p>
                      <a:r>
                        <a:rPr lang="en-US" sz="1800" b="0" i="0" kern="1200" dirty="0" smtClean="0">
                          <a:solidFill>
                            <a:schemeClr val="dk1"/>
                          </a:solidFill>
                          <a:effectLst/>
                          <a:latin typeface="+mn-lt"/>
                          <a:ea typeface="+mn-ea"/>
                          <a:cs typeface="+mn-cs"/>
                        </a:rPr>
                        <a:t>It isn't easy to protect a file under the file system.</a:t>
                      </a:r>
                      <a:endParaRPr lang="en-US" dirty="0"/>
                    </a:p>
                  </a:txBody>
                  <a:tcPr/>
                </a:tc>
              </a:tr>
              <a:tr h="1780436">
                <a:tc>
                  <a:txBody>
                    <a:bodyPr/>
                    <a:lstStyle/>
                    <a:p>
                      <a:r>
                        <a:rPr lang="en-US" sz="1800" b="1" i="0" kern="1200" dirty="0" smtClean="0">
                          <a:solidFill>
                            <a:schemeClr val="dk1"/>
                          </a:solidFill>
                          <a:effectLst/>
                          <a:latin typeface="+mn-lt"/>
                          <a:ea typeface="+mn-ea"/>
                          <a:cs typeface="+mn-cs"/>
                        </a:rPr>
                        <a:t>Recovery Mechanism</a:t>
                      </a:r>
                      <a:endParaRPr lang="en-US" dirty="0"/>
                    </a:p>
                  </a:txBody>
                  <a:tcPr/>
                </a:tc>
                <a:tc>
                  <a:txBody>
                    <a:bodyPr/>
                    <a:lstStyle/>
                    <a:p>
                      <a:r>
                        <a:rPr lang="en-US" sz="1800" b="0" i="0" kern="1200" dirty="0" smtClean="0">
                          <a:solidFill>
                            <a:schemeClr val="dk1"/>
                          </a:solidFill>
                          <a:effectLst/>
                          <a:latin typeface="+mn-lt"/>
                          <a:ea typeface="+mn-ea"/>
                          <a:cs typeface="+mn-cs"/>
                        </a:rPr>
                        <a:t>DBMS provides a crash recovery mechanism, i.e., DBMS protects the user from system failure.</a:t>
                      </a:r>
                      <a:endParaRPr lang="en-US" dirty="0"/>
                    </a:p>
                  </a:txBody>
                  <a:tcPr/>
                </a:tc>
                <a:tc>
                  <a:txBody>
                    <a:bodyPr/>
                    <a:lstStyle/>
                    <a:p>
                      <a:r>
                        <a:rPr lang="en-US" sz="1800" b="0" i="0" kern="1200" dirty="0" smtClean="0">
                          <a:solidFill>
                            <a:schemeClr val="dk1"/>
                          </a:solidFill>
                          <a:effectLst/>
                          <a:latin typeface="+mn-lt"/>
                          <a:ea typeface="+mn-ea"/>
                          <a:cs typeface="+mn-cs"/>
                        </a:rPr>
                        <a:t>The file system doesn't have a crash mechanism, i.e., if the system crashes while entering some data, then the content of the file will be lost.</a:t>
                      </a:r>
                      <a:endParaRPr lang="en-US" dirty="0"/>
                    </a:p>
                  </a:txBody>
                  <a:tcPr/>
                </a:tc>
              </a:tr>
              <a:tr h="1400900">
                <a:tc>
                  <a:txBody>
                    <a:bodyPr/>
                    <a:lstStyle/>
                    <a:p>
                      <a:r>
                        <a:rPr lang="en-US" sz="1800" b="1" i="0" kern="1200" dirty="0" smtClean="0">
                          <a:solidFill>
                            <a:schemeClr val="dk1"/>
                          </a:solidFill>
                          <a:effectLst/>
                          <a:latin typeface="+mn-lt"/>
                          <a:ea typeface="+mn-ea"/>
                          <a:cs typeface="+mn-cs"/>
                        </a:rPr>
                        <a:t>Manipulation Techniques</a:t>
                      </a:r>
                      <a:endParaRPr lang="en-US" dirty="0"/>
                    </a:p>
                  </a:txBody>
                  <a:tcPr/>
                </a:tc>
                <a:tc>
                  <a:txBody>
                    <a:bodyPr/>
                    <a:lstStyle/>
                    <a:p>
                      <a:r>
                        <a:rPr lang="en-US" sz="1800" b="0" i="0" kern="1200" dirty="0" smtClean="0">
                          <a:solidFill>
                            <a:schemeClr val="dk1"/>
                          </a:solidFill>
                          <a:effectLst/>
                          <a:latin typeface="+mn-lt"/>
                          <a:ea typeface="+mn-ea"/>
                          <a:cs typeface="+mn-cs"/>
                        </a:rPr>
                        <a:t>DBMS contains a wide variety of sophisticated techniques to store and retrieve the data.</a:t>
                      </a:r>
                      <a:endParaRPr lang="en-US" dirty="0"/>
                    </a:p>
                  </a:txBody>
                  <a:tcPr/>
                </a:tc>
                <a:tc>
                  <a:txBody>
                    <a:bodyPr/>
                    <a:lstStyle/>
                    <a:p>
                      <a:r>
                        <a:rPr lang="en-US" sz="1800" b="0" i="0" kern="1200" dirty="0" smtClean="0">
                          <a:solidFill>
                            <a:schemeClr val="dk1"/>
                          </a:solidFill>
                          <a:effectLst/>
                          <a:latin typeface="+mn-lt"/>
                          <a:ea typeface="+mn-ea"/>
                          <a:cs typeface="+mn-cs"/>
                        </a:rPr>
                        <a:t>The file system can't efficiently store and retrieve the data.</a:t>
                      </a:r>
                      <a:endParaRPr lang="en-US" dirty="0"/>
                    </a:p>
                  </a:txBody>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Differences between DBMS and File systems</a:t>
            </a:r>
            <a:endParaRPr lang="en-US" dirty="0"/>
          </a:p>
        </p:txBody>
      </p:sp>
      <p:graphicFrame>
        <p:nvGraphicFramePr>
          <p:cNvPr id="7" name="Content Placeholder 6"/>
          <p:cNvGraphicFramePr>
            <a:graphicFrameLocks noGrp="1"/>
          </p:cNvGraphicFramePr>
          <p:nvPr>
            <p:ph idx="1"/>
          </p:nvPr>
        </p:nvGraphicFramePr>
        <p:xfrm>
          <a:off x="761999" y="2490788"/>
          <a:ext cx="7620000" cy="3114040"/>
        </p:xfrm>
        <a:graphic>
          <a:graphicData uri="http://schemas.openxmlformats.org/drawingml/2006/table">
            <a:tbl>
              <a:tblPr firstRow="1" bandRow="1">
                <a:tableStyleId>{5C22544A-7EE6-4342-B048-85BDC9FD1C3A}</a:tableStyleId>
              </a:tblPr>
              <a:tblGrid>
                <a:gridCol w="2540000"/>
                <a:gridCol w="2540000"/>
                <a:gridCol w="2540000"/>
              </a:tblGrid>
              <a:tr h="370840">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370840">
                <a:tc>
                  <a:txBody>
                    <a:bodyPr/>
                    <a:lstStyle/>
                    <a:p>
                      <a:r>
                        <a:rPr lang="en-US" sz="1800" b="1" i="0" kern="1200" dirty="0" smtClean="0">
                          <a:solidFill>
                            <a:schemeClr val="dk1"/>
                          </a:solidFill>
                          <a:effectLst/>
                          <a:latin typeface="+mn-lt"/>
                          <a:ea typeface="+mn-ea"/>
                          <a:cs typeface="+mn-cs"/>
                        </a:rPr>
                        <a:t>Concurrency Problems</a:t>
                      </a:r>
                      <a:endParaRPr lang="en-US" dirty="0"/>
                    </a:p>
                  </a:txBody>
                  <a:tcPr/>
                </a:tc>
                <a:tc>
                  <a:txBody>
                    <a:bodyPr/>
                    <a:lstStyle/>
                    <a:p>
                      <a:r>
                        <a:rPr lang="en-US" sz="1800" b="0" i="0" kern="1200" dirty="0" smtClean="0">
                          <a:solidFill>
                            <a:schemeClr val="dk1"/>
                          </a:solidFill>
                          <a:effectLst/>
                          <a:latin typeface="+mn-lt"/>
                          <a:ea typeface="+mn-ea"/>
                          <a:cs typeface="+mn-cs"/>
                        </a:rPr>
                        <a:t>DBMS takes care of Concurrent access of data using some form of locking.</a:t>
                      </a:r>
                      <a:endParaRPr lang="en-US" dirty="0"/>
                    </a:p>
                  </a:txBody>
                  <a:tcPr/>
                </a:tc>
                <a:tc>
                  <a:txBody>
                    <a:bodyPr/>
                    <a:lstStyle/>
                    <a:p>
                      <a:r>
                        <a:rPr lang="en-US" dirty="0" smtClean="0"/>
                        <a:t>No support for concurrent access</a:t>
                      </a:r>
                      <a:endParaRPr lang="en-US" dirty="0"/>
                    </a:p>
                  </a:txBody>
                  <a:tcPr/>
                </a:tc>
              </a:tr>
              <a:tr h="370840">
                <a:tc>
                  <a:txBody>
                    <a:bodyPr/>
                    <a:lstStyle/>
                    <a:p>
                      <a:r>
                        <a:rPr lang="en-US" sz="1800" b="1" i="0" kern="1200" dirty="0" smtClean="0">
                          <a:solidFill>
                            <a:schemeClr val="dk1"/>
                          </a:solidFill>
                          <a:effectLst/>
                          <a:latin typeface="+mn-lt"/>
                          <a:ea typeface="+mn-ea"/>
                          <a:cs typeface="+mn-cs"/>
                        </a:rPr>
                        <a:t>Where to use</a:t>
                      </a:r>
                      <a:endParaRPr lang="en-US" dirty="0"/>
                    </a:p>
                  </a:txBody>
                  <a:tcPr/>
                </a:tc>
                <a:tc>
                  <a:txBody>
                    <a:bodyPr/>
                    <a:lstStyle/>
                    <a:p>
                      <a:r>
                        <a:rPr lang="en-US" sz="1800" b="0" i="0" kern="1200" dirty="0" smtClean="0">
                          <a:solidFill>
                            <a:schemeClr val="dk1"/>
                          </a:solidFill>
                          <a:effectLst/>
                          <a:latin typeface="+mn-lt"/>
                          <a:ea typeface="+mn-ea"/>
                          <a:cs typeface="+mn-cs"/>
                        </a:rPr>
                        <a:t>Database approach used in large systems which interrelate many files.</a:t>
                      </a:r>
                      <a:endParaRPr lang="en-US" dirty="0"/>
                    </a:p>
                  </a:txBody>
                  <a:tcPr/>
                </a:tc>
                <a:tc>
                  <a:txBody>
                    <a:bodyPr/>
                    <a:lstStyle/>
                    <a:p>
                      <a:r>
                        <a:rPr lang="en-US" sz="1800" b="0" i="0" kern="1200" dirty="0" smtClean="0">
                          <a:solidFill>
                            <a:schemeClr val="dk1"/>
                          </a:solidFill>
                          <a:effectLst/>
                          <a:latin typeface="+mn-lt"/>
                          <a:ea typeface="+mn-ea"/>
                          <a:cs typeface="+mn-cs"/>
                        </a:rPr>
                        <a:t>File system approach used in smaller systems with decentralized</a:t>
                      </a:r>
                      <a:r>
                        <a:rPr lang="en-US" sz="1800" b="0" i="0" kern="1200" baseline="0" dirty="0" smtClean="0">
                          <a:solidFill>
                            <a:schemeClr val="dk1"/>
                          </a:solidFill>
                          <a:effectLst/>
                          <a:latin typeface="+mn-lt"/>
                          <a:ea typeface="+mn-ea"/>
                          <a:cs typeface="+mn-cs"/>
                        </a:rPr>
                        <a:t> </a:t>
                      </a:r>
                      <a:r>
                        <a:rPr lang="en-US" sz="1800" b="0" i="0" kern="1200" dirty="0" smtClean="0">
                          <a:solidFill>
                            <a:schemeClr val="dk1"/>
                          </a:solidFill>
                          <a:effectLst/>
                          <a:latin typeface="+mn-lt"/>
                          <a:ea typeface="+mn-ea"/>
                          <a:cs typeface="+mn-cs"/>
                        </a:rPr>
                        <a:t>files.</a:t>
                      </a:r>
                      <a:endParaRPr lang="en-US" dirty="0"/>
                    </a:p>
                  </a:txBody>
                  <a:tcPr/>
                </a:tc>
              </a:tr>
              <a:tr h="370840">
                <a:tc>
                  <a:txBody>
                    <a:bodyPr/>
                    <a:lstStyle/>
                    <a:p>
                      <a:r>
                        <a:rPr lang="en-US" sz="1800" b="1" i="0" kern="1200" dirty="0" smtClean="0">
                          <a:solidFill>
                            <a:schemeClr val="dk1"/>
                          </a:solidFill>
                          <a:effectLst/>
                          <a:latin typeface="+mn-lt"/>
                          <a:ea typeface="+mn-ea"/>
                          <a:cs typeface="+mn-cs"/>
                        </a:rPr>
                        <a:t>Cost</a:t>
                      </a:r>
                      <a:endParaRPr lang="en-US" dirty="0"/>
                    </a:p>
                  </a:txBody>
                  <a:tcPr/>
                </a:tc>
                <a:tc>
                  <a:txBody>
                    <a:bodyPr/>
                    <a:lstStyle/>
                    <a:p>
                      <a:r>
                        <a:rPr lang="en-US" sz="1800" b="0" i="0" kern="1200" dirty="0" smtClean="0">
                          <a:solidFill>
                            <a:schemeClr val="dk1"/>
                          </a:solidFill>
                          <a:effectLst/>
                          <a:latin typeface="+mn-lt"/>
                          <a:ea typeface="+mn-ea"/>
                          <a:cs typeface="+mn-cs"/>
                        </a:rPr>
                        <a:t>The database system is expensive to design.</a:t>
                      </a:r>
                      <a:endParaRPr lang="en-US" dirty="0"/>
                    </a:p>
                  </a:txBody>
                  <a:tcPr/>
                </a:tc>
                <a:tc>
                  <a:txBody>
                    <a:bodyPr/>
                    <a:lstStyle/>
                    <a:p>
                      <a:r>
                        <a:rPr lang="en-US" sz="1800" b="0" i="0" kern="1200" dirty="0" smtClean="0">
                          <a:solidFill>
                            <a:schemeClr val="dk1"/>
                          </a:solidFill>
                          <a:effectLst/>
                          <a:latin typeface="+mn-lt"/>
                          <a:ea typeface="+mn-ea"/>
                          <a:cs typeface="+mn-cs"/>
                        </a:rPr>
                        <a:t>The file system approach is cheaper to design.</a:t>
                      </a:r>
                      <a:endParaRPr lang="en-US" dirty="0"/>
                    </a:p>
                  </a:txBody>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609601"/>
            <a:ext cx="6798734" cy="990599"/>
          </a:xfrm>
        </p:spPr>
        <p:txBody>
          <a:bodyPr>
            <a:normAutofit fontScale="90000"/>
          </a:bodyPr>
          <a:lstStyle/>
          <a:p>
            <a:r>
              <a:rPr lang="en-US" b="1" dirty="0"/>
              <a:t>Differences between DBMS and File systems</a:t>
            </a:r>
            <a:endParaRPr lang="en-US" dirty="0"/>
          </a:p>
        </p:txBody>
      </p:sp>
      <p:graphicFrame>
        <p:nvGraphicFramePr>
          <p:cNvPr id="7" name="Content Placeholder 6"/>
          <p:cNvGraphicFramePr>
            <a:graphicFrameLocks noGrp="1"/>
          </p:cNvGraphicFramePr>
          <p:nvPr>
            <p:ph idx="1"/>
          </p:nvPr>
        </p:nvGraphicFramePr>
        <p:xfrm>
          <a:off x="761999" y="1752600"/>
          <a:ext cx="7620000" cy="3979317"/>
        </p:xfrm>
        <a:graphic>
          <a:graphicData uri="http://schemas.openxmlformats.org/drawingml/2006/table">
            <a:tbl>
              <a:tblPr firstRow="1" bandRow="1">
                <a:tableStyleId>{5C22544A-7EE6-4342-B048-85BDC9FD1C3A}</a:tableStyleId>
              </a:tblPr>
              <a:tblGrid>
                <a:gridCol w="2540000"/>
                <a:gridCol w="2540000"/>
                <a:gridCol w="2540000"/>
              </a:tblGrid>
              <a:tr h="440283">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1769517">
                <a:tc>
                  <a:txBody>
                    <a:bodyPr/>
                    <a:lstStyle/>
                    <a:p>
                      <a:r>
                        <a:rPr lang="en-US" sz="1800" b="1" i="0" kern="1200" dirty="0" smtClean="0">
                          <a:solidFill>
                            <a:schemeClr val="dk1"/>
                          </a:solidFill>
                          <a:effectLst/>
                          <a:latin typeface="+mn-lt"/>
                          <a:ea typeface="+mn-ea"/>
                          <a:cs typeface="+mn-cs"/>
                        </a:rPr>
                        <a:t>Data Redundancy and Inconsistency</a:t>
                      </a:r>
                      <a:endParaRPr lang="en-US" dirty="0"/>
                    </a:p>
                  </a:txBody>
                  <a:tcPr/>
                </a:tc>
                <a:tc>
                  <a:txBody>
                    <a:bodyPr/>
                    <a:lstStyle/>
                    <a:p>
                      <a:r>
                        <a:rPr lang="en-US" sz="1800" b="0" i="0" kern="1200" dirty="0" smtClean="0">
                          <a:solidFill>
                            <a:schemeClr val="dk1"/>
                          </a:solidFill>
                          <a:effectLst/>
                          <a:latin typeface="+mn-lt"/>
                          <a:ea typeface="+mn-ea"/>
                          <a:cs typeface="+mn-cs"/>
                        </a:rPr>
                        <a:t>Due to the centralization of the database, the problems of data redundancy and inconsistency are controlled.</a:t>
                      </a:r>
                      <a:endParaRPr lang="en-US" dirty="0"/>
                    </a:p>
                  </a:txBody>
                  <a:tcPr/>
                </a:tc>
                <a:tc>
                  <a:txBody>
                    <a:bodyPr/>
                    <a:lstStyle/>
                    <a:p>
                      <a:r>
                        <a:rPr lang="en-US" sz="1800" b="0" i="0" kern="1200" dirty="0" smtClean="0">
                          <a:solidFill>
                            <a:schemeClr val="dk1"/>
                          </a:solidFill>
                          <a:effectLst/>
                          <a:latin typeface="+mn-lt"/>
                          <a:ea typeface="+mn-ea"/>
                          <a:cs typeface="+mn-cs"/>
                        </a:rPr>
                        <a:t>Files and application programs are created by different programmers so that there exists a lot of duplication of data which may lead to inconsistency.</a:t>
                      </a:r>
                      <a:endParaRPr lang="en-US" dirty="0"/>
                    </a:p>
                  </a:txBody>
                  <a:tcPr/>
                </a:tc>
              </a:tr>
              <a:tr h="855117">
                <a:tc>
                  <a:txBody>
                    <a:bodyPr/>
                    <a:lstStyle/>
                    <a:p>
                      <a:r>
                        <a:rPr lang="en-US" sz="1800" b="1" i="0" kern="1200" dirty="0" smtClean="0">
                          <a:solidFill>
                            <a:schemeClr val="dk1"/>
                          </a:solidFill>
                          <a:effectLst/>
                          <a:latin typeface="+mn-lt"/>
                          <a:ea typeface="+mn-ea"/>
                          <a:cs typeface="+mn-cs"/>
                        </a:rPr>
                        <a:t>Structure</a:t>
                      </a:r>
                      <a:endParaRPr lang="en-US" dirty="0"/>
                    </a:p>
                  </a:txBody>
                  <a:tcPr/>
                </a:tc>
                <a:tc>
                  <a:txBody>
                    <a:bodyPr/>
                    <a:lstStyle/>
                    <a:p>
                      <a:r>
                        <a:rPr lang="en-US" sz="1800" b="0" i="0" kern="1200" dirty="0" smtClean="0">
                          <a:solidFill>
                            <a:schemeClr val="dk1"/>
                          </a:solidFill>
                          <a:effectLst/>
                          <a:latin typeface="+mn-lt"/>
                          <a:ea typeface="+mn-ea"/>
                          <a:cs typeface="+mn-cs"/>
                        </a:rPr>
                        <a:t>The database structure is complex to design.</a:t>
                      </a:r>
                      <a:endParaRPr lang="en-US" dirty="0"/>
                    </a:p>
                  </a:txBody>
                  <a:tcPr/>
                </a:tc>
                <a:tc>
                  <a:txBody>
                    <a:bodyPr/>
                    <a:lstStyle/>
                    <a:p>
                      <a:r>
                        <a:rPr lang="en-US" sz="1800" b="0" i="0" kern="1200" dirty="0" smtClean="0">
                          <a:solidFill>
                            <a:schemeClr val="dk1"/>
                          </a:solidFill>
                          <a:effectLst/>
                          <a:latin typeface="+mn-lt"/>
                          <a:ea typeface="+mn-ea"/>
                          <a:cs typeface="+mn-cs"/>
                        </a:rPr>
                        <a:t>The file system approach has a simple structure.</a:t>
                      </a:r>
                      <a:endParaRPr lang="en-US" dirty="0"/>
                    </a:p>
                  </a:txBody>
                  <a:tcPr/>
                </a:tc>
              </a:tr>
              <a:tr h="440283">
                <a:tc>
                  <a:txBody>
                    <a:bodyPr/>
                    <a:lstStyle/>
                    <a:p>
                      <a:r>
                        <a:rPr lang="en-US" sz="1800" b="1" i="0" kern="1200" dirty="0" smtClean="0">
                          <a:solidFill>
                            <a:schemeClr val="dk1"/>
                          </a:solidFill>
                          <a:effectLst/>
                          <a:latin typeface="+mn-lt"/>
                          <a:ea typeface="+mn-ea"/>
                          <a:cs typeface="+mn-cs"/>
                        </a:rPr>
                        <a:t>Integrity Constraints</a:t>
                      </a:r>
                      <a:endParaRPr lang="en-US" dirty="0"/>
                    </a:p>
                  </a:txBody>
                  <a:tcPr/>
                </a:tc>
                <a:tc>
                  <a:txBody>
                    <a:bodyPr/>
                    <a:lstStyle/>
                    <a:p>
                      <a:r>
                        <a:rPr lang="en-US" sz="1800" b="0" i="0" kern="1200" dirty="0" smtClean="0">
                          <a:solidFill>
                            <a:schemeClr val="dk1"/>
                          </a:solidFill>
                          <a:effectLst/>
                          <a:latin typeface="+mn-lt"/>
                          <a:ea typeface="+mn-ea"/>
                          <a:cs typeface="+mn-cs"/>
                        </a:rPr>
                        <a:t>Integrity Constraints are easy to apply.</a:t>
                      </a:r>
                      <a:endParaRPr lang="en-US" dirty="0"/>
                    </a:p>
                  </a:txBody>
                  <a:tcPr/>
                </a:tc>
                <a:tc>
                  <a:txBody>
                    <a:bodyPr/>
                    <a:lstStyle/>
                    <a:p>
                      <a:r>
                        <a:rPr lang="en-US" sz="1800" b="0" i="0" kern="1200" dirty="0" smtClean="0">
                          <a:solidFill>
                            <a:schemeClr val="dk1"/>
                          </a:solidFill>
                          <a:effectLst/>
                          <a:latin typeface="+mn-lt"/>
                          <a:ea typeface="+mn-ea"/>
                          <a:cs typeface="+mn-cs"/>
                        </a:rPr>
                        <a:t>Integrity Constraints are difficult to implement in file system.</a:t>
                      </a:r>
                      <a:endParaRPr lang="en-US" dirty="0"/>
                    </a:p>
                  </a:txBody>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915337"/>
            <a:ext cx="6798734" cy="913463"/>
          </a:xfrm>
        </p:spPr>
        <p:txBody>
          <a:bodyPr>
            <a:normAutofit fontScale="90000"/>
          </a:bodyPr>
          <a:lstStyle/>
          <a:p>
            <a:r>
              <a:rPr lang="en-US" b="1" dirty="0"/>
              <a:t>Differences between DBMS and File systems</a:t>
            </a:r>
            <a:endParaRPr lang="en-US" dirty="0"/>
          </a:p>
        </p:txBody>
      </p:sp>
      <p:graphicFrame>
        <p:nvGraphicFramePr>
          <p:cNvPr id="7" name="Content Placeholder 6"/>
          <p:cNvGraphicFramePr>
            <a:graphicFrameLocks noGrp="1"/>
          </p:cNvGraphicFramePr>
          <p:nvPr>
            <p:ph idx="1"/>
          </p:nvPr>
        </p:nvGraphicFramePr>
        <p:xfrm>
          <a:off x="762000" y="1981200"/>
          <a:ext cx="7620000" cy="3845103"/>
        </p:xfrm>
        <a:graphic>
          <a:graphicData uri="http://schemas.openxmlformats.org/drawingml/2006/table">
            <a:tbl>
              <a:tblPr firstRow="1" bandRow="1">
                <a:tableStyleId>{5C22544A-7EE6-4342-B048-85BDC9FD1C3A}</a:tableStyleId>
              </a:tblPr>
              <a:tblGrid>
                <a:gridCol w="2182988"/>
                <a:gridCol w="2897012"/>
                <a:gridCol w="2540000"/>
              </a:tblGrid>
              <a:tr h="370383">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1382217">
                <a:tc>
                  <a:txBody>
                    <a:bodyPr/>
                    <a:lstStyle/>
                    <a:p>
                      <a:r>
                        <a:rPr lang="en-US" sz="1800" b="1" i="0" kern="1200" dirty="0" smtClean="0">
                          <a:solidFill>
                            <a:schemeClr val="dk1"/>
                          </a:solidFill>
                          <a:effectLst/>
                          <a:latin typeface="+mn-lt"/>
                          <a:ea typeface="+mn-ea"/>
                          <a:cs typeface="+mn-cs"/>
                        </a:rPr>
                        <a:t>Data Models</a:t>
                      </a:r>
                      <a:endParaRPr lang="en-US" dirty="0"/>
                    </a:p>
                  </a:txBody>
                  <a:tcPr/>
                </a:tc>
                <a:tc>
                  <a:txBody>
                    <a:bodyPr/>
                    <a:lstStyle/>
                    <a:p>
                      <a:r>
                        <a:rPr lang="en-US" sz="1800" b="0" i="0" kern="1200" dirty="0" smtClean="0">
                          <a:solidFill>
                            <a:schemeClr val="dk1"/>
                          </a:solidFill>
                          <a:effectLst/>
                          <a:latin typeface="+mn-lt"/>
                          <a:ea typeface="+mn-ea"/>
                          <a:cs typeface="+mn-cs"/>
                        </a:rPr>
                        <a:t>3 types of data models exist:</a:t>
                      </a:r>
                      <a:endParaRPr lang="en-US" sz="18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smtClean="0">
                          <a:solidFill>
                            <a:schemeClr val="dk1"/>
                          </a:solidFill>
                          <a:effectLst/>
                          <a:latin typeface="+mn-lt"/>
                          <a:ea typeface="+mn-ea"/>
                          <a:cs typeface="+mn-cs"/>
                        </a:rPr>
                        <a:t>Hierarchal data models</a:t>
                      </a:r>
                      <a:endParaRPr lang="en-US" sz="18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smtClean="0">
                          <a:solidFill>
                            <a:schemeClr val="dk1"/>
                          </a:solidFill>
                          <a:effectLst/>
                          <a:latin typeface="+mn-lt"/>
                          <a:ea typeface="+mn-ea"/>
                          <a:cs typeface="+mn-cs"/>
                        </a:rPr>
                        <a:t>Network data models</a:t>
                      </a:r>
                      <a:endParaRPr lang="en-US" sz="18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smtClean="0">
                          <a:solidFill>
                            <a:schemeClr val="dk1"/>
                          </a:solidFill>
                          <a:effectLst/>
                          <a:latin typeface="+mn-lt"/>
                          <a:ea typeface="+mn-ea"/>
                          <a:cs typeface="+mn-cs"/>
                        </a:rPr>
                        <a:t>Relational data models</a:t>
                      </a:r>
                      <a:endParaRPr lang="en-US" sz="1800" b="0" i="0" kern="1200" dirty="0" smtClean="0">
                        <a:solidFill>
                          <a:schemeClr val="dk1"/>
                        </a:solidFill>
                        <a:effectLst/>
                        <a:latin typeface="+mn-lt"/>
                        <a:ea typeface="+mn-ea"/>
                        <a:cs typeface="+mn-cs"/>
                      </a:endParaRPr>
                    </a:p>
                    <a:p>
                      <a:endParaRPr lang="en-US" dirty="0"/>
                    </a:p>
                  </a:txBody>
                  <a:tcPr/>
                </a:tc>
                <a:tc>
                  <a:txBody>
                    <a:bodyPr/>
                    <a:lstStyle/>
                    <a:p>
                      <a:r>
                        <a:rPr lang="en-US" sz="1800" b="0" i="0" kern="1200" dirty="0" smtClean="0">
                          <a:solidFill>
                            <a:schemeClr val="dk1"/>
                          </a:solidFill>
                          <a:effectLst/>
                          <a:latin typeface="+mn-lt"/>
                          <a:ea typeface="+mn-ea"/>
                          <a:cs typeface="+mn-cs"/>
                        </a:rPr>
                        <a:t>In the file system approach, no concept of data models exists.</a:t>
                      </a:r>
                      <a:endParaRPr lang="en-US" dirty="0"/>
                    </a:p>
                  </a:txBody>
                  <a:tcPr/>
                </a:tc>
              </a:tr>
              <a:tr h="2009200">
                <a:tc>
                  <a:txBody>
                    <a:bodyPr/>
                    <a:lstStyle/>
                    <a:p>
                      <a:r>
                        <a:rPr lang="en-US" sz="1800" b="1" i="0" kern="1200" dirty="0" smtClean="0">
                          <a:solidFill>
                            <a:schemeClr val="dk1"/>
                          </a:solidFill>
                          <a:effectLst/>
                          <a:latin typeface="+mn-lt"/>
                          <a:ea typeface="+mn-ea"/>
                          <a:cs typeface="+mn-cs"/>
                        </a:rPr>
                        <a:t>Data Independence</a:t>
                      </a:r>
                      <a:endParaRPr lang="en-US" dirty="0"/>
                    </a:p>
                  </a:txBody>
                  <a:tcPr/>
                </a:tc>
                <a:tc>
                  <a:txBody>
                    <a:bodyPr/>
                    <a:lstStyle/>
                    <a:p>
                      <a:r>
                        <a:rPr lang="en-US" sz="1800" b="0" i="0" kern="1200" dirty="0" smtClean="0">
                          <a:solidFill>
                            <a:schemeClr val="dk1"/>
                          </a:solidFill>
                          <a:effectLst/>
                          <a:latin typeface="+mn-lt"/>
                          <a:ea typeface="+mn-ea"/>
                          <a:cs typeface="+mn-cs"/>
                        </a:rPr>
                        <a:t>Data Independence exists, and it can be of two types.</a:t>
                      </a:r>
                      <a:endParaRPr lang="en-US" sz="18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smtClean="0">
                          <a:solidFill>
                            <a:schemeClr val="dk1"/>
                          </a:solidFill>
                          <a:effectLst/>
                          <a:latin typeface="+mn-lt"/>
                          <a:ea typeface="+mn-ea"/>
                          <a:cs typeface="+mn-cs"/>
                        </a:rPr>
                        <a:t>Logical Data Independence</a:t>
                      </a:r>
                      <a:endParaRPr lang="en-US" sz="18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smtClean="0">
                          <a:solidFill>
                            <a:schemeClr val="dk1"/>
                          </a:solidFill>
                          <a:effectLst/>
                          <a:latin typeface="+mn-lt"/>
                          <a:ea typeface="+mn-ea"/>
                          <a:cs typeface="+mn-cs"/>
                        </a:rPr>
                        <a:t>Physical Data Independence</a:t>
                      </a:r>
                      <a:endParaRPr lang="en-US" sz="1800" b="0" i="0" kern="1200" dirty="0" smtClean="0">
                        <a:solidFill>
                          <a:schemeClr val="dk1"/>
                        </a:solidFill>
                        <a:effectLst/>
                        <a:latin typeface="+mn-lt"/>
                        <a:ea typeface="+mn-ea"/>
                        <a:cs typeface="+mn-cs"/>
                      </a:endParaRPr>
                    </a:p>
                    <a:p>
                      <a:endParaRPr lang="en-US" dirty="0"/>
                    </a:p>
                  </a:txBody>
                  <a:tcPr/>
                </a:tc>
                <a:tc>
                  <a:txBody>
                    <a:bodyPr/>
                    <a:lstStyle/>
                    <a:p>
                      <a:r>
                        <a:rPr lang="en-US" dirty="0" smtClean="0"/>
                        <a:t>Data files are embedded in the application programs</a:t>
                      </a:r>
                      <a:endParaRPr lang="en-US" dirty="0"/>
                    </a:p>
                  </a:txBody>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609601"/>
            <a:ext cx="6798734" cy="1142999"/>
          </a:xfrm>
        </p:spPr>
        <p:txBody>
          <a:bodyPr>
            <a:normAutofit fontScale="90000"/>
          </a:bodyPr>
          <a:lstStyle/>
          <a:p>
            <a:r>
              <a:rPr lang="en-US" b="1" dirty="0"/>
              <a:t>Differences between DBMS and File systems</a:t>
            </a:r>
            <a:endParaRPr lang="en-US" dirty="0"/>
          </a:p>
        </p:txBody>
      </p:sp>
      <p:graphicFrame>
        <p:nvGraphicFramePr>
          <p:cNvPr id="7" name="Content Placeholder 6"/>
          <p:cNvGraphicFramePr>
            <a:graphicFrameLocks noGrp="1"/>
          </p:cNvGraphicFramePr>
          <p:nvPr>
            <p:ph idx="1"/>
          </p:nvPr>
        </p:nvGraphicFramePr>
        <p:xfrm>
          <a:off x="761999" y="1752601"/>
          <a:ext cx="7620000" cy="3917025"/>
        </p:xfrm>
        <a:graphic>
          <a:graphicData uri="http://schemas.openxmlformats.org/drawingml/2006/table">
            <a:tbl>
              <a:tblPr firstRow="1" bandRow="1">
                <a:tableStyleId>{5C22544A-7EE6-4342-B048-85BDC9FD1C3A}</a:tableStyleId>
              </a:tblPr>
              <a:tblGrid>
                <a:gridCol w="2540000"/>
                <a:gridCol w="2540000"/>
                <a:gridCol w="2540000"/>
              </a:tblGrid>
              <a:tr h="383411">
                <a:tc>
                  <a:txBody>
                    <a:bodyPr/>
                    <a:lstStyle/>
                    <a:p>
                      <a:pPr algn="ctr"/>
                      <a:r>
                        <a:rPr lang="en-US" dirty="0" smtClean="0"/>
                        <a:t>Parameter</a:t>
                      </a:r>
                      <a:endParaRPr lang="en-US" dirty="0"/>
                    </a:p>
                  </a:txBody>
                  <a:tcPr/>
                </a:tc>
                <a:tc>
                  <a:txBody>
                    <a:bodyPr/>
                    <a:lstStyle/>
                    <a:p>
                      <a:pPr algn="ctr"/>
                      <a:r>
                        <a:rPr lang="en-US" dirty="0" smtClean="0"/>
                        <a:t>DBMS</a:t>
                      </a:r>
                      <a:endParaRPr lang="en-US" dirty="0"/>
                    </a:p>
                  </a:txBody>
                  <a:tcPr/>
                </a:tc>
                <a:tc>
                  <a:txBody>
                    <a:bodyPr/>
                    <a:lstStyle/>
                    <a:p>
                      <a:pPr algn="ctr"/>
                      <a:r>
                        <a:rPr lang="en-US" dirty="0" smtClean="0"/>
                        <a:t>File System</a:t>
                      </a:r>
                      <a:endParaRPr lang="en-US" dirty="0"/>
                    </a:p>
                  </a:txBody>
                  <a:tcPr/>
                </a:tc>
              </a:tr>
              <a:tr h="1554135">
                <a:tc>
                  <a:txBody>
                    <a:bodyPr/>
                    <a:lstStyle/>
                    <a:p>
                      <a:r>
                        <a:rPr lang="en-US" sz="1800" b="1" i="0" kern="1200" dirty="0" smtClean="0">
                          <a:solidFill>
                            <a:schemeClr val="dk1"/>
                          </a:solidFill>
                          <a:effectLst/>
                          <a:latin typeface="+mn-lt"/>
                          <a:ea typeface="+mn-ea"/>
                          <a:cs typeface="+mn-cs"/>
                        </a:rPr>
                        <a:t>Flexibility</a:t>
                      </a:r>
                      <a:endParaRPr lang="en-US" dirty="0"/>
                    </a:p>
                  </a:txBody>
                  <a:tcPr/>
                </a:tc>
                <a:tc>
                  <a:txBody>
                    <a:bodyPr/>
                    <a:lstStyle/>
                    <a:p>
                      <a:r>
                        <a:rPr lang="en-US" sz="1800" b="0" i="0" kern="1200" dirty="0" smtClean="0">
                          <a:solidFill>
                            <a:schemeClr val="dk1"/>
                          </a:solidFill>
                          <a:effectLst/>
                          <a:latin typeface="+mn-lt"/>
                          <a:ea typeface="+mn-ea"/>
                          <a:cs typeface="+mn-cs"/>
                        </a:rPr>
                        <a:t>Changes are often a necessity to the content of the data stored in any system, and these changes are more easily with a database approach.</a:t>
                      </a:r>
                      <a:endParaRPr lang="en-US" dirty="0"/>
                    </a:p>
                  </a:txBody>
                  <a:tcPr/>
                </a:tc>
                <a:tc>
                  <a:txBody>
                    <a:bodyPr/>
                    <a:lstStyle/>
                    <a:p>
                      <a:r>
                        <a:rPr lang="en-US" sz="1800" b="0" i="0" kern="1200" dirty="0" smtClean="0">
                          <a:solidFill>
                            <a:schemeClr val="dk1"/>
                          </a:solidFill>
                          <a:effectLst/>
                          <a:latin typeface="+mn-lt"/>
                          <a:ea typeface="+mn-ea"/>
                          <a:cs typeface="+mn-cs"/>
                        </a:rPr>
                        <a:t>The flexibility of the system is less as compared to the DBMS approach.</a:t>
                      </a:r>
                      <a:endParaRPr lang="en-US" dirty="0"/>
                    </a:p>
                  </a:txBody>
                  <a:tcPr/>
                </a:tc>
              </a:tr>
              <a:tr h="1796254">
                <a:tc>
                  <a:txBody>
                    <a:bodyPr/>
                    <a:lstStyle/>
                    <a:p>
                      <a:r>
                        <a:rPr lang="en-US" b="1" dirty="0" smtClean="0"/>
                        <a:t>Examples</a:t>
                      </a:r>
                      <a:r>
                        <a:rPr lang="en-US" dirty="0" smtClean="0"/>
                        <a:t> </a:t>
                      </a:r>
                      <a:endParaRPr lang="en-US" dirty="0"/>
                    </a:p>
                  </a:txBody>
                  <a:tcPr/>
                </a:tc>
                <a:tc>
                  <a:txBody>
                    <a:bodyPr/>
                    <a:lstStyle/>
                    <a:p>
                      <a:r>
                        <a:rPr lang="en-US" sz="1800" b="0" i="0" kern="1200" dirty="0" smtClean="0">
                          <a:solidFill>
                            <a:schemeClr val="dk1"/>
                          </a:solidFill>
                          <a:effectLst/>
                          <a:latin typeface="+mn-lt"/>
                          <a:ea typeface="+mn-ea"/>
                          <a:cs typeface="+mn-cs"/>
                        </a:rPr>
                        <a:t>MySQL, PostgreSQL, Microsoft Access, SQL Server, FileMaker, Oracle, RDBMS, </a:t>
                      </a:r>
                      <a:r>
                        <a:rPr lang="en-US" sz="1800" b="0" i="0" kern="1200" dirty="0" err="1" smtClean="0">
                          <a:solidFill>
                            <a:schemeClr val="dk1"/>
                          </a:solidFill>
                          <a:effectLst/>
                          <a:latin typeface="+mn-lt"/>
                          <a:ea typeface="+mn-ea"/>
                          <a:cs typeface="+mn-cs"/>
                        </a:rPr>
                        <a:t>dBASE</a:t>
                      </a:r>
                      <a:r>
                        <a:rPr lang="en-US" sz="1800" b="0" i="0" kern="1200" dirty="0" smtClean="0">
                          <a:solidFill>
                            <a:schemeClr val="dk1"/>
                          </a:solidFill>
                          <a:effectLst/>
                          <a:latin typeface="+mn-lt"/>
                          <a:ea typeface="+mn-ea"/>
                          <a:cs typeface="+mn-cs"/>
                        </a:rPr>
                        <a:t>, Clipper, and FoxPro</a:t>
                      </a:r>
                      <a:endParaRPr lang="en-US" dirty="0"/>
                    </a:p>
                  </a:txBody>
                  <a:tcPr/>
                </a:tc>
                <a:tc>
                  <a:txBody>
                    <a:bodyPr/>
                    <a:lstStyle/>
                    <a:p>
                      <a:endParaRPr lang="en-US" dirty="0"/>
                    </a:p>
                  </a:txBody>
                  <a:tcPr/>
                </a:tc>
              </a:tr>
            </a:tbl>
          </a:graphicData>
        </a:graphic>
      </p:graphicFrame>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Simple database examples</a:t>
            </a:r>
            <a:br>
              <a:rPr lang="en-US" dirty="0" smtClean="0"/>
            </a:br>
            <a:endParaRPr lang="en-US" dirty="0" smtClean="0"/>
          </a:p>
        </p:txBody>
      </p:sp>
      <p:sp>
        <p:nvSpPr>
          <p:cNvPr id="18434" name="Content Placeholder 2"/>
          <p:cNvSpPr>
            <a:spLocks noGrp="1"/>
          </p:cNvSpPr>
          <p:nvPr>
            <p:ph idx="1"/>
          </p:nvPr>
        </p:nvSpPr>
        <p:spPr/>
        <p:txBody>
          <a:bodyPr/>
          <a:lstStyle/>
          <a:p>
            <a:pPr eaLnBrk="1" hangingPunct="1"/>
            <a:r>
              <a:rPr lang="en-US" b="1" smtClean="0"/>
              <a:t>Text File</a:t>
            </a:r>
            <a:endParaRPr lang="en-US" smtClean="0"/>
          </a:p>
          <a:p>
            <a:pPr eaLnBrk="1" hangingPunct="1">
              <a:buFont typeface="Arial" panose="020B0604020202020204" pitchFamily="34" charset="0"/>
              <a:buNone/>
            </a:pPr>
            <a:r>
              <a:rPr lang="en-US" smtClean="0"/>
              <a:t>	Imagine we have a text file called "Individual.txt", and that the contents look like this:</a:t>
            </a:r>
            <a:endParaRPr lang="en-US" smtClean="0"/>
          </a:p>
          <a:p>
            <a:pPr eaLnBrk="1" hangingPunct="1">
              <a:buFont typeface="Arial" panose="020B0604020202020204" pitchFamily="34" charset="0"/>
              <a:buNone/>
            </a:pPr>
            <a:endParaRPr lang="en-US" smtClean="0"/>
          </a:p>
        </p:txBody>
      </p:sp>
      <p:sp>
        <p:nvSpPr>
          <p:cNvPr id="4" name="Date Placeholder 3"/>
          <p:cNvSpPr>
            <a:spLocks noGrp="1"/>
          </p:cNvSpPr>
          <p:nvPr>
            <p:ph type="dt" sz="half" idx="10"/>
          </p:nvPr>
        </p:nvSpPr>
        <p:spPr/>
        <p:txBody>
          <a:bodyPr/>
          <a:lstStyle/>
          <a:p>
            <a:pPr>
              <a:defRPr/>
            </a:pPr>
            <a:fld id="{0E2021D6-B6BD-4AE4-ACF6-23DE322D525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fontAlgn="auto" hangingPunct="1">
              <a:spcAft>
                <a:spcPts val="0"/>
              </a:spcAft>
              <a:defRPr/>
            </a:pPr>
            <a:r>
              <a:rPr lang="en-US" smtClean="0"/>
              <a:t>Individual.txt TEXT FILE</a:t>
            </a:r>
            <a:endParaRPr lang="en-US" smtClean="0"/>
          </a:p>
        </p:txBody>
      </p:sp>
      <p:pic>
        <p:nvPicPr>
          <p:cNvPr id="19458" name="Content Placeholder 3" descr="Notepad text file"/>
          <p:cNvPicPr>
            <a:picLocks noGrp="1"/>
          </p:cNvPicPr>
          <p:nvPr>
            <p:ph idx="1"/>
          </p:nvPr>
        </p:nvPicPr>
        <p:blipFill>
          <a:blip r:embed="rId1"/>
          <a:srcRect/>
          <a:stretch>
            <a:fillRect/>
          </a:stretch>
        </p:blipFill>
        <p:spPr>
          <a:xfrm>
            <a:off x="381000" y="1143000"/>
            <a:ext cx="8305800" cy="4648200"/>
          </a:xfrm>
        </p:spPr>
      </p:pic>
      <p:sp>
        <p:nvSpPr>
          <p:cNvPr id="4" name="Date Placeholder 3"/>
          <p:cNvSpPr>
            <a:spLocks noGrp="1"/>
          </p:cNvSpPr>
          <p:nvPr>
            <p:ph type="dt" sz="half" idx="10"/>
          </p:nvPr>
        </p:nvSpPr>
        <p:spPr/>
        <p:txBody>
          <a:bodyPr/>
          <a:lstStyle/>
          <a:p>
            <a:pPr>
              <a:defRPr/>
            </a:pPr>
            <a:fld id="{9CE01A0D-55C4-482B-A129-F21258CE087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eaLnBrk="1" fontAlgn="auto" hangingPunct="1">
              <a:spcAft>
                <a:spcPts val="0"/>
              </a:spcAft>
              <a:defRPr/>
            </a:pPr>
            <a:r>
              <a:rPr lang="en-US" dirty="0" smtClean="0"/>
              <a:t>Simple database examples….</a:t>
            </a:r>
            <a:endParaRPr lang="en-US" dirty="0" smtClean="0"/>
          </a:p>
        </p:txBody>
      </p:sp>
      <p:sp>
        <p:nvSpPr>
          <p:cNvPr id="20482" name="Content Placeholder 2"/>
          <p:cNvSpPr>
            <a:spLocks noGrp="1"/>
          </p:cNvSpPr>
          <p:nvPr>
            <p:ph idx="1"/>
          </p:nvPr>
        </p:nvSpPr>
        <p:spPr/>
        <p:txBody>
          <a:bodyPr>
            <a:normAutofit/>
          </a:bodyPr>
          <a:lstStyle/>
          <a:p>
            <a:pPr algn="just" eaLnBrk="1" hangingPunct="1"/>
            <a:r>
              <a:rPr lang="en-US" smtClean="0"/>
              <a:t>We could use this information to do things such as send an email to everyone on our list.</a:t>
            </a:r>
            <a:endParaRPr lang="en-US" smtClean="0"/>
          </a:p>
          <a:p>
            <a:pPr algn="just" eaLnBrk="1" hangingPunct="1"/>
            <a:r>
              <a:rPr lang="en-US" smtClean="0"/>
              <a:t>We could do this because, due to the way we designed the list, we know that each </a:t>
            </a:r>
            <a:r>
              <a:rPr lang="en-US" i="1" smtClean="0"/>
              <a:t>row</a:t>
            </a:r>
            <a:r>
              <a:rPr lang="en-US" smtClean="0"/>
              <a:t> contains a different individual, and the information on that row is related to that individual. </a:t>
            </a:r>
            <a:endParaRPr lang="en-US" smtClean="0"/>
          </a:p>
          <a:p>
            <a:pPr algn="just" eaLnBrk="1" hangingPunct="1"/>
            <a:r>
              <a:rPr lang="en-US" smtClean="0"/>
              <a:t>Also, the items in each row are separated by commas. </a:t>
            </a:r>
            <a:endParaRPr lang="en-US" smtClean="0"/>
          </a:p>
        </p:txBody>
      </p:sp>
      <p:sp>
        <p:nvSpPr>
          <p:cNvPr id="4" name="Date Placeholder 3"/>
          <p:cNvSpPr>
            <a:spLocks noGrp="1"/>
          </p:cNvSpPr>
          <p:nvPr>
            <p:ph type="dt" sz="half" idx="10"/>
          </p:nvPr>
        </p:nvSpPr>
        <p:spPr/>
        <p:txBody>
          <a:bodyPr/>
          <a:lstStyle/>
          <a:p>
            <a:pPr>
              <a:defRPr/>
            </a:pPr>
            <a:fld id="{79C1664B-99F2-4960-BC12-D88F2D373EBB}"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371600"/>
          </a:xfrm>
        </p:spPr>
        <p:txBody>
          <a:bodyPr/>
          <a:lstStyle/>
          <a:p>
            <a:pPr eaLnBrk="1" fontAlgn="auto" hangingPunct="1">
              <a:spcAft>
                <a:spcPts val="0"/>
              </a:spcAft>
              <a:defRPr/>
            </a:pPr>
            <a:r>
              <a:rPr lang="en-US" dirty="0" smtClean="0"/>
              <a:t>Simple database examples….</a:t>
            </a:r>
            <a:endParaRPr lang="en-US" dirty="0" smtClean="0"/>
          </a:p>
        </p:txBody>
      </p:sp>
      <p:sp>
        <p:nvSpPr>
          <p:cNvPr id="21506" name="Content Placeholder 2"/>
          <p:cNvSpPr>
            <a:spLocks noGrp="1"/>
          </p:cNvSpPr>
          <p:nvPr>
            <p:ph idx="1"/>
          </p:nvPr>
        </p:nvSpPr>
        <p:spPr/>
        <p:txBody>
          <a:bodyPr>
            <a:normAutofit lnSpcReduction="10000"/>
          </a:bodyPr>
          <a:lstStyle/>
          <a:p>
            <a:pPr eaLnBrk="1" hangingPunct="1"/>
            <a:endParaRPr lang="en-US" smtClean="0"/>
          </a:p>
          <a:p>
            <a:pPr eaLnBrk="1" hangingPunct="1"/>
            <a:r>
              <a:rPr lang="en-US" smtClean="0"/>
              <a:t>Therefore, we know that the email address next to "Homer" is his email address. We could also call each row a </a:t>
            </a:r>
            <a:r>
              <a:rPr lang="en-US" i="1" smtClean="0"/>
              <a:t>record</a:t>
            </a:r>
            <a:r>
              <a:rPr lang="en-US" smtClean="0"/>
              <a:t>. Therefore, we currently have 4 records in our database.</a:t>
            </a:r>
            <a:endParaRPr lang="en-US" smtClean="0"/>
          </a:p>
          <a:p>
            <a:pPr eaLnBrk="1" hangingPunct="1"/>
            <a:endParaRPr lang="en-US" smtClean="0"/>
          </a:p>
          <a:p>
            <a:pPr eaLnBrk="1" hangingPunct="1"/>
            <a:r>
              <a:rPr lang="en-US" smtClean="0"/>
              <a:t>With a small list like this, a text file may serve our purposes perfectly. </a:t>
            </a:r>
            <a:endParaRPr lang="en-US" smtClean="0"/>
          </a:p>
          <a:p>
            <a:pPr eaLnBrk="1" hangingPunct="1">
              <a:buFont typeface="Arial" panose="020B0604020202020204" pitchFamily="34" charset="0"/>
              <a:buNone/>
            </a:pPr>
            <a:endParaRPr lang="en-US" smtClean="0"/>
          </a:p>
        </p:txBody>
      </p:sp>
      <p:sp>
        <p:nvSpPr>
          <p:cNvPr id="4" name="Date Placeholder 3"/>
          <p:cNvSpPr>
            <a:spLocks noGrp="1"/>
          </p:cNvSpPr>
          <p:nvPr>
            <p:ph type="dt" sz="half" idx="10"/>
          </p:nvPr>
        </p:nvSpPr>
        <p:spPr/>
        <p:txBody>
          <a:bodyPr/>
          <a:lstStyle/>
          <a:p>
            <a:pPr>
              <a:defRPr/>
            </a:pPr>
            <a:fld id="{BEC06582-55A5-46C5-BE77-16F38FCF6FF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Spreadsheet</a:t>
            </a:r>
            <a:br>
              <a:rPr lang="en-US" dirty="0" smtClean="0"/>
            </a:br>
            <a:endParaRPr lang="en-US" dirty="0" smtClean="0"/>
          </a:p>
        </p:txBody>
      </p:sp>
      <p:sp>
        <p:nvSpPr>
          <p:cNvPr id="18435" name="Content Placeholder 2"/>
          <p:cNvSpPr>
            <a:spLocks noGrp="1"/>
          </p:cNvSpPr>
          <p:nvPr>
            <p:ph idx="1"/>
          </p:nvPr>
        </p:nvSpPr>
        <p:spPr/>
        <p:txBody>
          <a:bodyPr rtlCol="0">
            <a:normAutofit fontScale="92500"/>
          </a:bodyPr>
          <a:lstStyle/>
          <a:p>
            <a:pPr marL="365760" indent="-255905" algn="just" eaLnBrk="1" fontAlgn="auto" hangingPunct="1">
              <a:spcAft>
                <a:spcPts val="0"/>
              </a:spcAft>
              <a:buFont typeface="Wingdings 3" panose="05040102010807070707"/>
              <a:buChar char=""/>
              <a:defRPr/>
            </a:pPr>
            <a:r>
              <a:rPr lang="en-US" dirty="0" smtClean="0"/>
              <a:t>Another option would be to store it in a spreadsheet using spreadsheet software (for example, Microsoft Excel). That way, we could do some extra things with our list (such as format it, or sort by first name/surname etc).</a:t>
            </a:r>
            <a:endParaRPr lang="en-US" dirty="0" smtClean="0"/>
          </a:p>
          <a:p>
            <a:pPr marL="365760" indent="-255905" algn="just" eaLnBrk="1" fontAlgn="auto" hangingPunct="1">
              <a:spcAft>
                <a:spcPts val="0"/>
              </a:spcAft>
              <a:buFont typeface="Wingdings 3" panose="05040102010807070707"/>
              <a:buChar char=""/>
              <a:defRPr/>
            </a:pPr>
            <a:r>
              <a:rPr lang="en-US" dirty="0" smtClean="0"/>
              <a:t>A spreadsheet program like Excel makes these tasks relatively easy to do. Also, programs like Excel organize the data into </a:t>
            </a:r>
            <a:r>
              <a:rPr lang="en-US" i="1" dirty="0" smtClean="0"/>
              <a:t>rows</a:t>
            </a:r>
            <a:r>
              <a:rPr lang="en-US" dirty="0" smtClean="0"/>
              <a:t> and </a:t>
            </a:r>
            <a:r>
              <a:rPr lang="en-US" i="1" dirty="0" smtClean="0"/>
              <a:t>columns</a:t>
            </a:r>
            <a:r>
              <a:rPr lang="en-US" dirty="0" smtClean="0"/>
              <a:t>, making your data easier to understand. Something like in the next slide:</a:t>
            </a:r>
            <a:endParaRPr lang="en-US" dirty="0" smtClean="0"/>
          </a:p>
          <a:p>
            <a:pPr marL="365760" indent="-255905" eaLnBrk="1" fontAlgn="auto" hangingPunct="1">
              <a:spcAft>
                <a:spcPts val="0"/>
              </a:spcAft>
              <a:buFont typeface="Wingdings 3" panose="05040102010807070707"/>
              <a:buChar char=""/>
              <a:defRPr/>
            </a:pPr>
            <a:endParaRPr lang="en-US" dirty="0" smtClean="0"/>
          </a:p>
        </p:txBody>
      </p:sp>
      <p:sp>
        <p:nvSpPr>
          <p:cNvPr id="4" name="Date Placeholder 3"/>
          <p:cNvSpPr>
            <a:spLocks noGrp="1"/>
          </p:cNvSpPr>
          <p:nvPr>
            <p:ph type="dt" sz="half" idx="10"/>
          </p:nvPr>
        </p:nvSpPr>
        <p:spPr/>
        <p:txBody>
          <a:bodyPr/>
          <a:lstStyle/>
          <a:p>
            <a:pPr>
              <a:defRPr/>
            </a:pPr>
            <a:fld id="{93A7D7CF-81FE-47A4-8D64-1742D7345F5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fontAlgn="auto" hangingPunct="1">
              <a:spcAft>
                <a:spcPts val="0"/>
              </a:spcAft>
              <a:defRPr/>
            </a:pPr>
            <a:r>
              <a:rPr lang="en-US" smtClean="0"/>
              <a:t>Ms Excel file</a:t>
            </a:r>
            <a:endParaRPr lang="en-US" smtClean="0"/>
          </a:p>
        </p:txBody>
      </p:sp>
      <p:pic>
        <p:nvPicPr>
          <p:cNvPr id="23554" name="Content Placeholder 3" descr="Excel spreadsheet"/>
          <p:cNvPicPr>
            <a:picLocks noGrp="1"/>
          </p:cNvPicPr>
          <p:nvPr>
            <p:ph idx="1"/>
          </p:nvPr>
        </p:nvPicPr>
        <p:blipFill>
          <a:blip r:embed="rId1"/>
          <a:srcRect/>
          <a:stretch>
            <a:fillRect/>
          </a:stretch>
        </p:blipFill>
        <p:spPr>
          <a:xfrm>
            <a:off x="762000" y="685800"/>
            <a:ext cx="7696200" cy="5181600"/>
          </a:xfrm>
        </p:spPr>
      </p:pic>
      <p:sp>
        <p:nvSpPr>
          <p:cNvPr id="4" name="Date Placeholder 3"/>
          <p:cNvSpPr>
            <a:spLocks noGrp="1"/>
          </p:cNvSpPr>
          <p:nvPr>
            <p:ph type="dt" sz="half" idx="10"/>
          </p:nvPr>
        </p:nvSpPr>
        <p:spPr/>
        <p:txBody>
          <a:bodyPr/>
          <a:lstStyle/>
          <a:p>
            <a:pPr>
              <a:defRPr/>
            </a:pPr>
            <a:fld id="{0EFA4A7D-EF30-490C-B5A8-0B4F5311C28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Database Software</a:t>
            </a:r>
            <a:br>
              <a:rPr lang="en-US" dirty="0" smtClean="0"/>
            </a:br>
            <a:endParaRPr lang="en-US" dirty="0" smtClean="0"/>
          </a:p>
        </p:txBody>
      </p:sp>
      <p:sp>
        <p:nvSpPr>
          <p:cNvPr id="24578" name="Content Placeholder 2"/>
          <p:cNvSpPr>
            <a:spLocks noGrp="1"/>
          </p:cNvSpPr>
          <p:nvPr>
            <p:ph idx="1"/>
          </p:nvPr>
        </p:nvSpPr>
        <p:spPr/>
        <p:txBody>
          <a:bodyPr/>
          <a:lstStyle/>
          <a:p>
            <a:pPr eaLnBrk="1" hangingPunct="1"/>
            <a:endParaRPr lang="en-US" smtClean="0"/>
          </a:p>
          <a:p>
            <a:pPr eaLnBrk="1" hangingPunct="1"/>
            <a:r>
              <a:rPr lang="en-US" smtClean="0"/>
              <a:t>A better option would be to store the data in a database </a:t>
            </a:r>
            <a:r>
              <a:rPr lang="en-US" i="1" smtClean="0"/>
              <a:t>table</a:t>
            </a:r>
            <a:r>
              <a:rPr lang="en-US" smtClean="0"/>
              <a:t> using specialized database software, such as Microsoft Access. Something like on the next slide:</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6F26146B-CBCE-426B-BDBE-230EDB636CA0}"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fontAlgn="auto" hangingPunct="1">
              <a:spcAft>
                <a:spcPts val="0"/>
              </a:spcAft>
              <a:defRPr/>
            </a:pPr>
            <a:r>
              <a:rPr lang="en-US" smtClean="0"/>
              <a:t>Microsoft Access table </a:t>
            </a:r>
            <a:endParaRPr lang="en-US" smtClean="0"/>
          </a:p>
        </p:txBody>
      </p:sp>
      <p:pic>
        <p:nvPicPr>
          <p:cNvPr id="25602" name="Content Placeholder 3" descr="Microsoft Access database table"/>
          <p:cNvPicPr>
            <a:picLocks noGrp="1"/>
          </p:cNvPicPr>
          <p:nvPr>
            <p:ph idx="1"/>
          </p:nvPr>
        </p:nvPicPr>
        <p:blipFill>
          <a:blip r:embed="rId1"/>
          <a:srcRect/>
          <a:stretch>
            <a:fillRect/>
          </a:stretch>
        </p:blipFill>
        <p:spPr>
          <a:xfrm>
            <a:off x="685800" y="609600"/>
            <a:ext cx="7772400" cy="5410200"/>
          </a:xfrm>
        </p:spPr>
      </p:pic>
      <p:sp>
        <p:nvSpPr>
          <p:cNvPr id="4" name="Date Placeholder 3"/>
          <p:cNvSpPr>
            <a:spLocks noGrp="1"/>
          </p:cNvSpPr>
          <p:nvPr>
            <p:ph type="dt" sz="half" idx="10"/>
          </p:nvPr>
        </p:nvSpPr>
        <p:spPr/>
        <p:txBody>
          <a:bodyPr/>
          <a:lstStyle/>
          <a:p>
            <a:pPr>
              <a:defRPr/>
            </a:pPr>
            <a:fld id="{136084FA-9128-4A32-B8C0-5AC711C6982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So What's the Difference?</a:t>
            </a:r>
            <a:br>
              <a:rPr lang="en-US" dirty="0" smtClean="0"/>
            </a:br>
            <a:endParaRPr lang="en-US" dirty="0" smtClean="0"/>
          </a:p>
        </p:txBody>
      </p:sp>
      <p:sp>
        <p:nvSpPr>
          <p:cNvPr id="26626" name="Content Placeholder 2"/>
          <p:cNvSpPr>
            <a:spLocks noGrp="1"/>
          </p:cNvSpPr>
          <p:nvPr>
            <p:ph idx="1"/>
          </p:nvPr>
        </p:nvSpPr>
        <p:spPr/>
        <p:txBody>
          <a:bodyPr>
            <a:normAutofit/>
          </a:bodyPr>
          <a:lstStyle/>
          <a:p>
            <a:pPr algn="just" eaLnBrk="1" hangingPunct="1"/>
            <a:r>
              <a:rPr lang="en-US" smtClean="0"/>
              <a:t>You may be wondering what the difference is between the last two examples (Excel vs Access). After all, both examples have the data organized into rows and columns. </a:t>
            </a:r>
            <a:endParaRPr lang="en-US" smtClean="0"/>
          </a:p>
          <a:p>
            <a:pPr algn="just" eaLnBrk="1" hangingPunct="1"/>
            <a:r>
              <a:rPr lang="en-US" smtClean="0"/>
              <a:t>There are many differences between spreadsheet software and database software. The rest of our lessons will show why database software is a much better option for creating databases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ECBFC50A-C6A1-41A8-8871-40968BBEB1FC}"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Definitions:</a:t>
            </a:r>
            <a:br>
              <a:rPr lang="en-US" dirty="0" smtClean="0"/>
            </a:br>
            <a:endParaRPr lang="en-US" dirty="0" smtClean="0"/>
          </a:p>
        </p:txBody>
      </p:sp>
      <p:sp>
        <p:nvSpPr>
          <p:cNvPr id="27650" name="Content Placeholder 2"/>
          <p:cNvSpPr>
            <a:spLocks noGrp="1"/>
          </p:cNvSpPr>
          <p:nvPr>
            <p:ph idx="1"/>
          </p:nvPr>
        </p:nvSpPr>
        <p:spPr/>
        <p:txBody>
          <a:bodyPr/>
          <a:lstStyle/>
          <a:p>
            <a:pPr eaLnBrk="1" hangingPunct="1"/>
            <a:r>
              <a:rPr lang="en-US" b="1" dirty="0" smtClean="0"/>
              <a:t>Data</a:t>
            </a:r>
            <a:r>
              <a:rPr lang="en-US" dirty="0" smtClean="0"/>
              <a:t> means known facts that can be recorded and have implicit (hidden) meaning. E.g. names, telephone numbers, and addresses of the people that you know, are examples of data. Collecting and recording this data in an organized way constitutes into a database. Thus a phone book is an example of a database.</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2E3FDEAE-5E6D-4BC9-A019-4432E6F9A1C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fontAlgn="auto" hangingPunct="1">
              <a:spcAft>
                <a:spcPts val="0"/>
              </a:spcAft>
              <a:defRPr/>
            </a:pPr>
            <a:r>
              <a:rPr lang="en-US" smtClean="0"/>
              <a:t>Definitions cont’d</a:t>
            </a:r>
            <a:endParaRPr lang="en-US" smtClean="0"/>
          </a:p>
        </p:txBody>
      </p:sp>
      <p:sp>
        <p:nvSpPr>
          <p:cNvPr id="28674" name="Content Placeholder 2"/>
          <p:cNvSpPr>
            <a:spLocks noGrp="1"/>
          </p:cNvSpPr>
          <p:nvPr>
            <p:ph idx="1"/>
          </p:nvPr>
        </p:nvSpPr>
        <p:spPr/>
        <p:txBody>
          <a:bodyPr/>
          <a:lstStyle/>
          <a:p>
            <a:pPr algn="just" eaLnBrk="1" hangingPunct="1"/>
            <a:r>
              <a:rPr lang="en-US" b="1" dirty="0" smtClean="0"/>
              <a:t>A database</a:t>
            </a:r>
            <a:r>
              <a:rPr lang="en-US" dirty="0" smtClean="0"/>
              <a:t> is a collection of interrelated data items (and the description of this data) designed and stored to meet information needs of an organization. </a:t>
            </a:r>
            <a:endParaRPr lang="en-US" dirty="0" smtClean="0"/>
          </a:p>
          <a:p>
            <a:pPr algn="just" eaLnBrk="1" hangingPunct="1"/>
            <a:r>
              <a:rPr lang="en-US" dirty="0" smtClean="0"/>
              <a:t>These data items are always stored in form of tables. The primary aim of database is to provide a way to store and retrieve database information in a fast and efficient manner.</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1C06138D-F71F-44D4-9685-FDC30E72006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Database Systems Vs File Systems</a:t>
            </a:r>
            <a:br>
              <a:rPr lang="en-US" dirty="0" smtClean="0"/>
            </a:br>
            <a:endParaRPr lang="en-US" dirty="0" smtClean="0"/>
          </a:p>
        </p:txBody>
      </p:sp>
      <p:sp>
        <p:nvSpPr>
          <p:cNvPr id="29698" name="Content Placeholder 2"/>
          <p:cNvSpPr>
            <a:spLocks noGrp="1"/>
          </p:cNvSpPr>
          <p:nvPr>
            <p:ph idx="1"/>
          </p:nvPr>
        </p:nvSpPr>
        <p:spPr/>
        <p:txBody>
          <a:bodyPr>
            <a:normAutofit lnSpcReduction="10000"/>
          </a:bodyPr>
          <a:lstStyle/>
          <a:p>
            <a:pPr algn="just" eaLnBrk="1" hangingPunct="1"/>
            <a:r>
              <a:rPr lang="en-US" smtClean="0"/>
              <a:t>There are a number of characteristics that databases differ from traditional file management system. In file system approach, each user defines and implements the needed files for a specific application. For example in an institution like UICT, the office of the academic registrar will maintain records of how many registered students have joined the institution. These details will be stored and maintained in a separate file.</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A57CB8AA-83E4-460E-9BB9-A510A6D36F28}"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0722" name="Content Placeholder 2"/>
          <p:cNvSpPr>
            <a:spLocks noGrp="1"/>
          </p:cNvSpPr>
          <p:nvPr>
            <p:ph idx="1"/>
          </p:nvPr>
        </p:nvSpPr>
        <p:spPr/>
        <p:txBody>
          <a:bodyPr/>
          <a:lstStyle/>
          <a:p>
            <a:pPr algn="just" eaLnBrk="1" hangingPunct="1"/>
            <a:r>
              <a:rPr lang="en-US" smtClean="0"/>
              <a:t>Another user in the bursar’s office will be maintaining tuition details of all students. The detailed tuition report will be stored and maintained in a separate file. Although both of the users are interested in the data items of the same students, they will be having their details in separate files and they need different programs to manipulate their files. This will lead to the following:</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17506A47-4ECE-4405-98B7-7ADED9D8B3DB}"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1746" name="Content Placeholder 2"/>
          <p:cNvSpPr>
            <a:spLocks noGrp="1"/>
          </p:cNvSpPr>
          <p:nvPr>
            <p:ph idx="1"/>
          </p:nvPr>
        </p:nvSpPr>
        <p:spPr/>
        <p:txBody>
          <a:bodyPr/>
          <a:lstStyle/>
          <a:p>
            <a:pPr eaLnBrk="1" hangingPunct="1"/>
            <a:endParaRPr lang="en-US" smtClean="0"/>
          </a:p>
          <a:p>
            <a:pPr eaLnBrk="1" hangingPunct="1"/>
            <a:r>
              <a:rPr lang="en-US" smtClean="0"/>
              <a:t>wastage of storage space</a:t>
            </a:r>
            <a:endParaRPr lang="en-US" smtClean="0"/>
          </a:p>
          <a:p>
            <a:pPr eaLnBrk="1" hangingPunct="1"/>
            <a:r>
              <a:rPr lang="en-US" smtClean="0"/>
              <a:t>redundancy or replication of data items, which may lead to confusion, </a:t>
            </a:r>
            <a:endParaRPr lang="en-US" smtClean="0"/>
          </a:p>
          <a:p>
            <a:pPr eaLnBrk="1" hangingPunct="1"/>
            <a:r>
              <a:rPr lang="en-US" smtClean="0"/>
              <a:t>sharing of data among various users is not possible,</a:t>
            </a:r>
            <a:endParaRPr lang="en-US" smtClean="0"/>
          </a:p>
          <a:p>
            <a:pPr eaLnBrk="1" hangingPunct="1"/>
            <a:r>
              <a:rPr lang="en-US" smtClean="0"/>
              <a:t>also data inconsistency may occur. </a:t>
            </a:r>
            <a:endParaRPr lang="en-US" smtClean="0"/>
          </a:p>
          <a:p>
            <a:pPr eaLnBrk="1" hangingPunct="1">
              <a:buFont typeface="Arial" panose="020B0604020202020204" pitchFamily="34" charset="0"/>
              <a:buNone/>
            </a:pPr>
            <a:endParaRPr lang="en-US" smtClean="0"/>
          </a:p>
        </p:txBody>
      </p:sp>
      <p:sp>
        <p:nvSpPr>
          <p:cNvPr id="4" name="Date Placeholder 3"/>
          <p:cNvSpPr>
            <a:spLocks noGrp="1"/>
          </p:cNvSpPr>
          <p:nvPr>
            <p:ph type="dt" sz="half" idx="10"/>
          </p:nvPr>
        </p:nvSpPr>
        <p:spPr/>
        <p:txBody>
          <a:bodyPr/>
          <a:lstStyle/>
          <a:p>
            <a:pPr>
              <a:defRPr/>
            </a:pPr>
            <a:fld id="{97EECCF2-91E5-4901-A8B7-5B5731C5C47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2770" name="Content Placeholder 2"/>
          <p:cNvSpPr>
            <a:spLocks noGrp="1"/>
          </p:cNvSpPr>
          <p:nvPr>
            <p:ph idx="1"/>
          </p:nvPr>
        </p:nvSpPr>
        <p:spPr/>
        <p:txBody>
          <a:bodyPr/>
          <a:lstStyle/>
          <a:p>
            <a:pPr algn="just" eaLnBrk="1" hangingPunct="1"/>
            <a:r>
              <a:rPr lang="en-US" smtClean="0"/>
              <a:t>There will not be any inter-relationship among the data’s stored in these files. Therefore in traditional file processing every user will be defining their own constraints/rules and implement the files needed for the applications.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275E81FB-AD74-44DB-AA70-AB1DABDB9E74}"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3794" name="Content Placeholder 2"/>
          <p:cNvSpPr>
            <a:spLocks noGrp="1"/>
          </p:cNvSpPr>
          <p:nvPr>
            <p:ph idx="1"/>
          </p:nvPr>
        </p:nvSpPr>
        <p:spPr/>
        <p:txBody>
          <a:bodyPr/>
          <a:lstStyle/>
          <a:p>
            <a:pPr algn="just" eaLnBrk="1" hangingPunct="1"/>
            <a:r>
              <a:rPr lang="en-US" smtClean="0"/>
              <a:t>In database approach, a single repository of data is maintained that is defined once and then accessed by many users. </a:t>
            </a:r>
            <a:endParaRPr lang="en-US" smtClean="0"/>
          </a:p>
          <a:p>
            <a:pPr algn="just" eaLnBrk="1" hangingPunct="1"/>
            <a:r>
              <a:rPr lang="en-US" smtClean="0"/>
              <a:t>The fundamental characteristic of database approach is that the database system not only contains data items but it contains complete definition or description of the database structure and constraints/rules. </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17186AF8-AEE6-405D-94E0-3650F51316B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4818" name="Content Placeholder 2"/>
          <p:cNvSpPr>
            <a:spLocks noGrp="1"/>
          </p:cNvSpPr>
          <p:nvPr>
            <p:ph idx="1"/>
          </p:nvPr>
        </p:nvSpPr>
        <p:spPr/>
        <p:txBody>
          <a:bodyPr/>
          <a:lstStyle/>
          <a:p>
            <a:pPr algn="just" eaLnBrk="1" hangingPunct="1"/>
            <a:r>
              <a:rPr lang="en-US" dirty="0" smtClean="0"/>
              <a:t>The other main characteristic of the database is that it will allow multiple users to access the database at the same time and sharing of data is possible. The database must include concurrency control (mechanism) software to ensure that several users can update the same data at the same time, but this should be maintained in a controlled manner.</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E2F5DED3-DB4B-45B0-A6B4-F3082439CA9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5842" name="Content Placeholder 2"/>
          <p:cNvSpPr>
            <a:spLocks noGrp="1"/>
          </p:cNvSpPr>
          <p:nvPr>
            <p:ph idx="1"/>
          </p:nvPr>
        </p:nvSpPr>
        <p:spPr/>
        <p:txBody>
          <a:bodyPr/>
          <a:lstStyle/>
          <a:p>
            <a:pPr eaLnBrk="1" hangingPunct="1"/>
            <a:endParaRPr lang="en-US" dirty="0" smtClean="0"/>
          </a:p>
          <a:p>
            <a:pPr algn="just" eaLnBrk="1" hangingPunct="1">
              <a:buFont typeface="Arial" panose="020B0604020202020204" pitchFamily="34" charset="0"/>
              <a:buNone/>
            </a:pPr>
            <a:r>
              <a:rPr lang="en-US" dirty="0" smtClean="0"/>
              <a:t>	For these reasons, a database is also called a self-describing collection of integrated records. </a:t>
            </a:r>
            <a:endParaRPr lang="en-US" dirty="0" smtClean="0"/>
          </a:p>
          <a:p>
            <a:pPr eaLnBrk="1" hangingPunct="1">
              <a:buFont typeface="Arial" panose="020B0604020202020204" pitchFamily="34" charset="0"/>
              <a:buNone/>
            </a:pPr>
            <a:r>
              <a:rPr lang="en-US" dirty="0" smtClean="0"/>
              <a:t>	</a:t>
            </a:r>
            <a:endParaRPr lang="en-US" dirty="0" smtClean="0"/>
          </a:p>
          <a:p>
            <a:pPr algn="just" eaLnBrk="1" hangingPunct="1">
              <a:buFont typeface="Arial" panose="020B0604020202020204" pitchFamily="34" charset="0"/>
              <a:buNone/>
            </a:pPr>
            <a:r>
              <a:rPr lang="en-US" smtClean="0"/>
              <a:t>  The description of data is known as the </a:t>
            </a:r>
            <a:r>
              <a:rPr lang="en-US" b="1" i="1" smtClean="0"/>
              <a:t>data dictionary (meta data)</a:t>
            </a:r>
            <a:r>
              <a:rPr lang="en-US" smtClean="0"/>
              <a:t>.</a:t>
            </a:r>
            <a:endParaRPr lang="en-US"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7F8CBE5D-D6DA-449E-B836-DA2D67FF8A4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pPr eaLnBrk="1" fontAlgn="auto" hangingPunct="1">
              <a:spcAft>
                <a:spcPts val="0"/>
              </a:spcAft>
              <a:defRPr/>
            </a:pPr>
            <a:r>
              <a:rPr lang="en-US" smtClean="0"/>
              <a:t>Database Systems Vs File Systems</a:t>
            </a:r>
            <a:endParaRPr lang="en-US" smtClean="0"/>
          </a:p>
        </p:txBody>
      </p:sp>
      <p:sp>
        <p:nvSpPr>
          <p:cNvPr id="36866" name="Content Placeholder 2"/>
          <p:cNvSpPr>
            <a:spLocks noGrp="1"/>
          </p:cNvSpPr>
          <p:nvPr>
            <p:ph idx="1"/>
          </p:nvPr>
        </p:nvSpPr>
        <p:spPr/>
        <p:txBody>
          <a:bodyPr/>
          <a:lstStyle/>
          <a:p>
            <a:pPr eaLnBrk="1" hangingPunct="1"/>
            <a:endParaRPr lang="en-US" smtClean="0"/>
          </a:p>
          <a:p>
            <a:pPr algn="just" eaLnBrk="1" hangingPunct="1">
              <a:buFont typeface="Arial" panose="020B0604020202020204" pitchFamily="34" charset="0"/>
              <a:buNone/>
            </a:pPr>
            <a:r>
              <a:rPr lang="en-US" smtClean="0"/>
              <a:t>	From the database definition, it is logically related. This is because, when we analyze the information needs in an organization, we attempt to identify </a:t>
            </a:r>
            <a:r>
              <a:rPr lang="en-US" b="1" smtClean="0"/>
              <a:t>entities, attributes </a:t>
            </a:r>
            <a:r>
              <a:rPr lang="en-US" smtClean="0"/>
              <a:t>and </a:t>
            </a:r>
            <a:r>
              <a:rPr lang="en-US" b="1" smtClean="0"/>
              <a:t>relationships</a:t>
            </a:r>
            <a:r>
              <a:rPr lang="en-US" smtClean="0"/>
              <a:t>.</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C0EDD897-44FA-4B2D-88E8-D461E6BB3D3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914400"/>
            <a:ext cx="7620000" cy="1143000"/>
          </a:xfrm>
        </p:spPr>
        <p:txBody>
          <a:bodyPr/>
          <a:lstStyle/>
          <a:p>
            <a:pPr eaLnBrk="1" fontAlgn="auto" hangingPunct="1">
              <a:spcAft>
                <a:spcPts val="0"/>
              </a:spcAft>
              <a:defRPr/>
            </a:pPr>
            <a:r>
              <a:rPr lang="en-US" dirty="0" smtClean="0"/>
              <a:t>Data Modeling Definitions</a:t>
            </a:r>
            <a:endParaRPr lang="en-US" dirty="0" smtClean="0"/>
          </a:p>
        </p:txBody>
      </p:sp>
      <p:sp>
        <p:nvSpPr>
          <p:cNvPr id="37890" name="Content Placeholder 2"/>
          <p:cNvSpPr>
            <a:spLocks noGrp="1"/>
          </p:cNvSpPr>
          <p:nvPr>
            <p:ph idx="1"/>
          </p:nvPr>
        </p:nvSpPr>
        <p:spPr/>
        <p:txBody>
          <a:bodyPr>
            <a:normAutofit lnSpcReduction="10000"/>
          </a:bodyPr>
          <a:lstStyle/>
          <a:p>
            <a:pPr eaLnBrk="1" hangingPunct="1"/>
            <a:endParaRPr lang="en-US" smtClean="0"/>
          </a:p>
          <a:p>
            <a:pPr algn="just" eaLnBrk="1" hangingPunct="1"/>
            <a:r>
              <a:rPr lang="en-US" smtClean="0"/>
              <a:t>An </a:t>
            </a:r>
            <a:r>
              <a:rPr lang="en-US" b="1" smtClean="0"/>
              <a:t>entity</a:t>
            </a:r>
            <a:r>
              <a:rPr lang="en-US" smtClean="0"/>
              <a:t> is a distinct object (e.g. a person, a place etc) in the organization that is to be represented in the database. </a:t>
            </a:r>
            <a:endParaRPr lang="en-US" smtClean="0"/>
          </a:p>
          <a:p>
            <a:pPr eaLnBrk="1" hangingPunct="1"/>
            <a:endParaRPr lang="en-US" smtClean="0"/>
          </a:p>
          <a:p>
            <a:pPr algn="just" eaLnBrk="1" hangingPunct="1"/>
            <a:r>
              <a:rPr lang="en-US" smtClean="0"/>
              <a:t>An </a:t>
            </a:r>
            <a:r>
              <a:rPr lang="en-US" b="1" smtClean="0"/>
              <a:t>Attribute</a:t>
            </a:r>
            <a:r>
              <a:rPr lang="en-US" smtClean="0"/>
              <a:t> is a property that describes some aspect of the object that we wish to record (e.g. name, height, and sex of a person) and </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8746DE34-62DC-418A-8ACE-C8A1E036C4CC}"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371600"/>
          </a:xfrm>
        </p:spPr>
        <p:txBody>
          <a:bodyPr/>
          <a:lstStyle/>
          <a:p>
            <a:pPr eaLnBrk="1" fontAlgn="auto" hangingPunct="1">
              <a:spcAft>
                <a:spcPts val="0"/>
              </a:spcAft>
              <a:defRPr/>
            </a:pPr>
            <a:r>
              <a:rPr lang="en-US" dirty="0" smtClean="0"/>
              <a:t>Data Modeling Definitions (cont’d)</a:t>
            </a:r>
            <a:endParaRPr lang="en-US" dirty="0" smtClean="0"/>
          </a:p>
        </p:txBody>
      </p:sp>
      <p:sp>
        <p:nvSpPr>
          <p:cNvPr id="38914" name="Content Placeholder 2"/>
          <p:cNvSpPr>
            <a:spLocks noGrp="1"/>
          </p:cNvSpPr>
          <p:nvPr>
            <p:ph idx="1"/>
          </p:nvPr>
        </p:nvSpPr>
        <p:spPr/>
        <p:txBody>
          <a:bodyPr/>
          <a:lstStyle/>
          <a:p>
            <a:pPr algn="just" eaLnBrk="1" hangingPunct="1"/>
            <a:r>
              <a:rPr lang="en-US" dirty="0" smtClean="0"/>
              <a:t>A</a:t>
            </a:r>
            <a:r>
              <a:rPr lang="en-US" b="1" dirty="0" smtClean="0"/>
              <a:t> relationship</a:t>
            </a:r>
            <a:r>
              <a:rPr lang="en-US" dirty="0" smtClean="0"/>
              <a:t> is an association between several entities.</a:t>
            </a:r>
            <a:endParaRPr lang="en-US" dirty="0" smtClean="0"/>
          </a:p>
          <a:p>
            <a:pPr eaLnBrk="1" hangingPunct="1"/>
            <a:endParaRPr lang="en-US" dirty="0" smtClean="0"/>
          </a:p>
          <a:p>
            <a:pPr algn="just" eaLnBrk="1" hangingPunct="1"/>
            <a:r>
              <a:rPr lang="en-US" dirty="0" smtClean="0"/>
              <a:t>The database represents the entities, the attributes and the logical relationships between the entities. Thus, data in the database is logically related.</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7E4A0776-917A-48CB-A216-84B251E336C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fontAlgn="auto" hangingPunct="1">
              <a:spcAft>
                <a:spcPts val="0"/>
              </a:spcAft>
              <a:defRPr/>
            </a:pPr>
            <a:r>
              <a:rPr lang="en-US" dirty="0" smtClean="0"/>
              <a:t>Entities and their attributes</a:t>
            </a:r>
            <a:endParaRPr lang="en-US" dirty="0" smtClean="0"/>
          </a:p>
        </p:txBody>
      </p:sp>
      <p:sp>
        <p:nvSpPr>
          <p:cNvPr id="39938" name="Content Placeholder 2"/>
          <p:cNvSpPr>
            <a:spLocks noGrp="1"/>
          </p:cNvSpPr>
          <p:nvPr>
            <p:ph idx="1"/>
          </p:nvPr>
        </p:nvSpPr>
        <p:spPr/>
        <p:txBody>
          <a:bodyPr/>
          <a:lstStyle/>
          <a:p>
            <a:pPr eaLnBrk="1" hangingPunct="1"/>
            <a:r>
              <a:rPr lang="en-US" dirty="0" smtClean="0"/>
              <a:t>Taking UICT as our case study, we can create a database by identifying the following</a:t>
            </a:r>
            <a:endParaRPr lang="en-US" dirty="0" smtClean="0"/>
          </a:p>
          <a:p>
            <a:pPr eaLnBrk="1" hangingPunct="1"/>
            <a:r>
              <a:rPr lang="en-US" b="1" dirty="0" smtClean="0"/>
              <a:t>Entity1</a:t>
            </a:r>
            <a:r>
              <a:rPr lang="en-US" dirty="0" smtClean="0"/>
              <a:t>: </a:t>
            </a:r>
            <a:r>
              <a:rPr lang="en-US" i="1" dirty="0" smtClean="0"/>
              <a:t>student </a:t>
            </a:r>
            <a:endParaRPr lang="en-US" i="1" dirty="0" smtClean="0"/>
          </a:p>
          <a:p>
            <a:pPr eaLnBrk="1" hangingPunct="1"/>
            <a:r>
              <a:rPr lang="en-US" b="1" dirty="0" smtClean="0"/>
              <a:t>Attributes:</a:t>
            </a:r>
            <a:r>
              <a:rPr lang="en-US" dirty="0" smtClean="0"/>
              <a:t> </a:t>
            </a:r>
            <a:r>
              <a:rPr lang="en-US" i="1" u="sng" dirty="0" err="1" smtClean="0"/>
              <a:t>regNo</a:t>
            </a:r>
            <a:r>
              <a:rPr lang="en-US" dirty="0" smtClean="0"/>
              <a:t>, </a:t>
            </a:r>
            <a:r>
              <a:rPr lang="en-US" i="1" dirty="0" err="1" smtClean="0"/>
              <a:t>student_name</a:t>
            </a:r>
            <a:r>
              <a:rPr lang="en-US" i="1" dirty="0" smtClean="0"/>
              <a:t>, age, </a:t>
            </a:r>
            <a:r>
              <a:rPr lang="en-US" i="1" dirty="0" err="1" smtClean="0"/>
              <a:t>homeaddress</a:t>
            </a:r>
            <a:r>
              <a:rPr lang="en-US" i="1" dirty="0" smtClean="0"/>
              <a:t>, </a:t>
            </a:r>
            <a:r>
              <a:rPr lang="en-US" i="1" dirty="0" err="1" smtClean="0"/>
              <a:t>etc</a:t>
            </a:r>
            <a:endParaRPr lang="en-US" dirty="0" smtClean="0"/>
          </a:p>
          <a:p>
            <a:pPr eaLnBrk="1" hangingPunct="1"/>
            <a:r>
              <a:rPr lang="en-US" b="1" dirty="0" smtClean="0"/>
              <a:t>Entity2</a:t>
            </a:r>
            <a:r>
              <a:rPr lang="en-US" dirty="0" smtClean="0"/>
              <a:t>: </a:t>
            </a:r>
            <a:r>
              <a:rPr lang="en-US" i="1" dirty="0" smtClean="0"/>
              <a:t>lecturer</a:t>
            </a:r>
            <a:r>
              <a:rPr lang="en-US" dirty="0" smtClean="0"/>
              <a:t> </a:t>
            </a:r>
            <a:endParaRPr lang="en-US" dirty="0" smtClean="0"/>
          </a:p>
          <a:p>
            <a:pPr eaLnBrk="1" hangingPunct="1"/>
            <a:r>
              <a:rPr lang="en-US" b="1" dirty="0" smtClean="0"/>
              <a:t>Attributes:</a:t>
            </a:r>
            <a:r>
              <a:rPr lang="en-US" dirty="0" smtClean="0"/>
              <a:t> </a:t>
            </a:r>
            <a:r>
              <a:rPr lang="en-US" i="1" u="sng" dirty="0" smtClean="0"/>
              <a:t>lecturer </a:t>
            </a:r>
            <a:r>
              <a:rPr lang="en-US" i="1" u="sng" dirty="0" err="1" smtClean="0"/>
              <a:t>IDNo</a:t>
            </a:r>
            <a:r>
              <a:rPr lang="en-US" i="1" dirty="0" smtClean="0"/>
              <a:t>, name, age, status, </a:t>
            </a:r>
            <a:r>
              <a:rPr lang="en-US" i="1" dirty="0" err="1" smtClean="0"/>
              <a:t>etc</a:t>
            </a:r>
            <a:r>
              <a:rPr lang="en-US" dirty="0" smtClean="0"/>
              <a:t> </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4C739707-39DE-4A2C-BB94-912337F2EEF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fontAlgn="auto" hangingPunct="1">
              <a:spcAft>
                <a:spcPts val="0"/>
              </a:spcAft>
              <a:defRPr/>
            </a:pPr>
            <a:r>
              <a:rPr lang="en-US" dirty="0" smtClean="0"/>
              <a:t>Entities and their attributes….</a:t>
            </a:r>
            <a:endParaRPr lang="en-US" dirty="0" smtClean="0"/>
          </a:p>
        </p:txBody>
      </p:sp>
      <p:sp>
        <p:nvSpPr>
          <p:cNvPr id="40962" name="Content Placeholder 2"/>
          <p:cNvSpPr>
            <a:spLocks noGrp="1"/>
          </p:cNvSpPr>
          <p:nvPr>
            <p:ph idx="1"/>
          </p:nvPr>
        </p:nvSpPr>
        <p:spPr/>
        <p:txBody>
          <a:bodyPr>
            <a:normAutofit lnSpcReduction="10000"/>
          </a:bodyPr>
          <a:lstStyle/>
          <a:p>
            <a:pPr eaLnBrk="1" hangingPunct="1"/>
            <a:r>
              <a:rPr lang="en-US" b="1" dirty="0" smtClean="0"/>
              <a:t>Entity3</a:t>
            </a:r>
            <a:r>
              <a:rPr lang="en-US" dirty="0" smtClean="0"/>
              <a:t>: </a:t>
            </a:r>
            <a:r>
              <a:rPr lang="en-US" i="1" dirty="0" smtClean="0"/>
              <a:t>course</a:t>
            </a:r>
            <a:r>
              <a:rPr lang="en-US" dirty="0" smtClean="0"/>
              <a:t> </a:t>
            </a:r>
            <a:endParaRPr lang="en-US" dirty="0" smtClean="0"/>
          </a:p>
          <a:p>
            <a:pPr eaLnBrk="1" hangingPunct="1"/>
            <a:r>
              <a:rPr lang="en-US" b="1" dirty="0" smtClean="0"/>
              <a:t>Attributes: </a:t>
            </a:r>
            <a:r>
              <a:rPr lang="en-US" i="1" u="sng" dirty="0" smtClean="0"/>
              <a:t>course ID</a:t>
            </a:r>
            <a:r>
              <a:rPr lang="en-US" i="1" dirty="0" smtClean="0"/>
              <a:t>, course Name, </a:t>
            </a:r>
            <a:r>
              <a:rPr lang="en-US" i="1" u="sng" dirty="0" err="1" smtClean="0"/>
              <a:t>lectureIDNo</a:t>
            </a:r>
            <a:endParaRPr lang="en-US" dirty="0" smtClean="0"/>
          </a:p>
          <a:p>
            <a:pPr eaLnBrk="1" hangingPunct="1"/>
            <a:r>
              <a:rPr lang="en-US" b="1" dirty="0" smtClean="0"/>
              <a:t>Entiti4:</a:t>
            </a:r>
            <a:r>
              <a:rPr lang="en-US" dirty="0" smtClean="0"/>
              <a:t> </a:t>
            </a:r>
            <a:r>
              <a:rPr lang="en-US" i="1" dirty="0" err="1" smtClean="0"/>
              <a:t>lecture_room</a:t>
            </a:r>
            <a:r>
              <a:rPr lang="en-US" dirty="0" smtClean="0"/>
              <a:t> </a:t>
            </a:r>
            <a:endParaRPr lang="en-US" dirty="0" smtClean="0"/>
          </a:p>
          <a:p>
            <a:pPr eaLnBrk="1" hangingPunct="1"/>
            <a:r>
              <a:rPr lang="en-US" b="1" dirty="0" smtClean="0"/>
              <a:t>Attributes: </a:t>
            </a:r>
            <a:r>
              <a:rPr lang="en-US" i="1" u="sng" dirty="0" smtClean="0"/>
              <a:t>room No,</a:t>
            </a:r>
            <a:r>
              <a:rPr lang="en-US" i="1" dirty="0" smtClean="0"/>
              <a:t> room Name, location</a:t>
            </a:r>
            <a:endParaRPr lang="en-US" i="1" dirty="0" smtClean="0"/>
          </a:p>
          <a:p>
            <a:pPr eaLnBrk="1" hangingPunct="1"/>
            <a:endParaRPr lang="en-US" dirty="0" smtClean="0"/>
          </a:p>
          <a:p>
            <a:pPr eaLnBrk="1" hangingPunct="1"/>
            <a:r>
              <a:rPr lang="en-US" b="1" dirty="0" smtClean="0"/>
              <a:t>Relation Ship1: </a:t>
            </a:r>
            <a:r>
              <a:rPr lang="en-US" dirty="0" smtClean="0"/>
              <a:t>course lectured by lecturer </a:t>
            </a:r>
            <a:endParaRPr lang="en-US" dirty="0" smtClean="0"/>
          </a:p>
          <a:p>
            <a:pPr eaLnBrk="1" hangingPunct="1"/>
            <a:r>
              <a:rPr lang="en-US" b="1" dirty="0" smtClean="0"/>
              <a:t>Relation Ship2</a:t>
            </a:r>
            <a:r>
              <a:rPr lang="en-US" dirty="0" smtClean="0"/>
              <a:t>:  course taken by student </a:t>
            </a:r>
            <a:endParaRPr lang="en-US" dirty="0" smtClean="0"/>
          </a:p>
          <a:p>
            <a:pPr eaLnBrk="1" hangingPunct="1">
              <a:buFont typeface="Arial" panose="020B0604020202020204" pitchFamily="34" charset="0"/>
              <a:buNone/>
            </a:pPr>
            <a:endParaRPr lang="en-US" dirty="0" smtClean="0"/>
          </a:p>
        </p:txBody>
      </p:sp>
      <p:sp>
        <p:nvSpPr>
          <p:cNvPr id="4" name="Date Placeholder 3"/>
          <p:cNvSpPr>
            <a:spLocks noGrp="1"/>
          </p:cNvSpPr>
          <p:nvPr>
            <p:ph type="dt" sz="half" idx="10"/>
          </p:nvPr>
        </p:nvSpPr>
        <p:spPr/>
        <p:txBody>
          <a:bodyPr/>
          <a:lstStyle/>
          <a:p>
            <a:pPr>
              <a:defRPr/>
            </a:pPr>
            <a:fld id="{75006A6E-E9B3-41A1-A342-A6D8387422E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eaLnBrk="1" fontAlgn="auto" hangingPunct="1">
              <a:spcAft>
                <a:spcPts val="0"/>
              </a:spcAft>
              <a:defRPr/>
            </a:pPr>
            <a:r>
              <a:rPr lang="en-US" dirty="0" smtClean="0"/>
              <a:t>Note:</a:t>
            </a:r>
            <a:endParaRPr lang="en-US" dirty="0"/>
          </a:p>
        </p:txBody>
      </p:sp>
      <p:sp>
        <p:nvSpPr>
          <p:cNvPr id="41986" name="Content Placeholder 2"/>
          <p:cNvSpPr>
            <a:spLocks noGrp="1"/>
          </p:cNvSpPr>
          <p:nvPr>
            <p:ph idx="1"/>
          </p:nvPr>
        </p:nvSpPr>
        <p:spPr/>
        <p:txBody>
          <a:bodyPr/>
          <a:lstStyle/>
          <a:p>
            <a:pPr eaLnBrk="1" hangingPunct="1"/>
            <a:endParaRPr lang="en-US" smtClean="0"/>
          </a:p>
          <a:p>
            <a:pPr algn="just" eaLnBrk="1" hangingPunct="1"/>
            <a:r>
              <a:rPr lang="en-US" smtClean="0"/>
              <a:t>The total numbers of entities and relationships depend on the nature of the organization and the required data to be stored.</a:t>
            </a:r>
            <a:endParaRPr lang="en-US" smtClean="0"/>
          </a:p>
          <a:p>
            <a:pPr eaLnBrk="1" hangingPunct="1">
              <a:buFont typeface="Arial" panose="020B0604020202020204" pitchFamily="34" charset="0"/>
              <a:buNone/>
            </a:pPr>
            <a:endParaRPr lang="en-US" smtClean="0"/>
          </a:p>
        </p:txBody>
      </p:sp>
      <p:sp>
        <p:nvSpPr>
          <p:cNvPr id="5" name="Date Placeholder 4"/>
          <p:cNvSpPr>
            <a:spLocks noGrp="1"/>
          </p:cNvSpPr>
          <p:nvPr>
            <p:ph type="dt" sz="half" idx="10"/>
          </p:nvPr>
        </p:nvSpPr>
        <p:spPr/>
        <p:txBody>
          <a:bodyPr/>
          <a:lstStyle/>
          <a:p>
            <a:pPr>
              <a:defRPr/>
            </a:pPr>
            <a:fld id="{314B8C02-05B8-4007-9BE5-B79347B62704}" type="datetime1">
              <a:rPr lang="en-US" smtClean="0"/>
            </a:fld>
            <a:endParaRPr lang="en-US"/>
          </a:p>
        </p:txBody>
      </p:sp>
      <p:sp>
        <p:nvSpPr>
          <p:cNvPr id="7" name="Footer Placeholder 6"/>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85801"/>
            <a:ext cx="6798734" cy="795337"/>
          </a:xfrm>
        </p:spPr>
        <p:txBody>
          <a:bodyPr>
            <a:normAutofit fontScale="90000"/>
          </a:bodyPr>
          <a:lstStyle/>
          <a:p>
            <a:pPr eaLnBrk="1" fontAlgn="auto" hangingPunct="1">
              <a:spcAft>
                <a:spcPts val="0"/>
              </a:spcAft>
              <a:defRPr/>
            </a:pPr>
            <a:r>
              <a:rPr lang="en-US" sz="3200" dirty="0" smtClean="0"/>
              <a:t>In summary, Databases are important because….</a:t>
            </a:r>
            <a:endParaRPr lang="en-US" sz="3200" dirty="0"/>
          </a:p>
        </p:txBody>
      </p:sp>
      <p:sp>
        <p:nvSpPr>
          <p:cNvPr id="2" name="Content Placeholder 1"/>
          <p:cNvSpPr>
            <a:spLocks noGrp="1"/>
          </p:cNvSpPr>
          <p:nvPr>
            <p:ph idx="1"/>
          </p:nvPr>
        </p:nvSpPr>
        <p:spPr>
          <a:xfrm>
            <a:off x="457200" y="1481138"/>
            <a:ext cx="8229600" cy="4691062"/>
          </a:xfrm>
        </p:spPr>
        <p:txBody>
          <a:bodyPr>
            <a:normAutofit/>
          </a:bodyPr>
          <a:lstStyle/>
          <a:p>
            <a:pPr marL="623570" indent="-514350" algn="just" eaLnBrk="1" fontAlgn="auto" hangingPunct="1">
              <a:spcAft>
                <a:spcPts val="0"/>
              </a:spcAft>
              <a:buFont typeface="+mj-lt"/>
              <a:buAutoNum type="arabicPeriod"/>
              <a:defRPr/>
            </a:pPr>
            <a:r>
              <a:rPr lang="en-US" sz="2600" dirty="0" smtClean="0"/>
              <a:t>They can store a large number of records, </a:t>
            </a:r>
            <a:endParaRPr lang="en-US" sz="2600" dirty="0" smtClean="0"/>
          </a:p>
          <a:p>
            <a:pPr marL="623570" indent="-514350" algn="just" eaLnBrk="1" fontAlgn="auto" hangingPunct="1">
              <a:spcAft>
                <a:spcPts val="0"/>
              </a:spcAft>
              <a:buFont typeface="+mj-lt"/>
              <a:buAutoNum type="arabicPeriod"/>
              <a:defRPr/>
            </a:pPr>
            <a:r>
              <a:rPr lang="en-US" sz="2600" dirty="0" smtClean="0"/>
              <a:t>There is ease of use when accessing information, </a:t>
            </a:r>
            <a:endParaRPr lang="en-US" sz="2600" dirty="0" smtClean="0"/>
          </a:p>
          <a:p>
            <a:pPr marL="623570" indent="-514350" algn="just" eaLnBrk="1" fontAlgn="auto" hangingPunct="1">
              <a:spcAft>
                <a:spcPts val="0"/>
              </a:spcAft>
              <a:buFont typeface="+mj-lt"/>
              <a:buAutoNum type="arabicPeriod"/>
              <a:defRPr/>
            </a:pPr>
            <a:r>
              <a:rPr lang="en-US" sz="2600" dirty="0" smtClean="0"/>
              <a:t>It is easy to add new data and to edit or delete old data, </a:t>
            </a:r>
            <a:endParaRPr lang="en-US" sz="2600" dirty="0" smtClean="0"/>
          </a:p>
          <a:p>
            <a:pPr marL="623570" indent="-514350" algn="just" eaLnBrk="1" fontAlgn="auto" hangingPunct="1">
              <a:spcAft>
                <a:spcPts val="0"/>
              </a:spcAft>
              <a:buFont typeface="+mj-lt"/>
              <a:buAutoNum type="arabicPeriod"/>
              <a:defRPr/>
            </a:pPr>
            <a:r>
              <a:rPr lang="en-US" sz="2600" dirty="0" smtClean="0"/>
              <a:t>There is ease of storage, </a:t>
            </a:r>
            <a:endParaRPr lang="en-US" sz="2600" dirty="0" smtClean="0"/>
          </a:p>
          <a:p>
            <a:pPr marL="623570" indent="-514350" algn="just" eaLnBrk="1" fontAlgn="auto" hangingPunct="1">
              <a:spcAft>
                <a:spcPts val="0"/>
              </a:spcAft>
              <a:buFont typeface="+mj-lt"/>
              <a:buAutoNum type="arabicPeriod"/>
              <a:defRPr/>
            </a:pPr>
            <a:r>
              <a:rPr lang="en-US" sz="2600" dirty="0" smtClean="0"/>
              <a:t>Data can be imported into other applications,</a:t>
            </a:r>
            <a:endParaRPr lang="en-US" sz="2600" dirty="0" smtClean="0"/>
          </a:p>
          <a:p>
            <a:pPr marL="623570" indent="-514350" algn="just" eaLnBrk="1" fontAlgn="auto" hangingPunct="1">
              <a:spcAft>
                <a:spcPts val="0"/>
              </a:spcAft>
              <a:buFont typeface="+mj-lt"/>
              <a:buAutoNum type="arabicPeriod"/>
              <a:defRPr/>
            </a:pPr>
            <a:r>
              <a:rPr lang="en-US" sz="2600" dirty="0" smtClean="0"/>
              <a:t>More than one person can access the same database at the same time, and</a:t>
            </a:r>
            <a:endParaRPr lang="en-US" sz="2600" dirty="0" smtClean="0"/>
          </a:p>
          <a:p>
            <a:pPr marL="623570" indent="-514350" algn="just" eaLnBrk="1" fontAlgn="auto" hangingPunct="1">
              <a:spcAft>
                <a:spcPts val="0"/>
              </a:spcAft>
              <a:buFont typeface="+mj-lt"/>
              <a:buAutoNum type="arabicPeriod"/>
              <a:defRPr/>
            </a:pPr>
            <a:r>
              <a:rPr lang="en-US" sz="2600" dirty="0" smtClean="0"/>
              <a:t>Data security is enhanced as access to some of the information is restricted. </a:t>
            </a:r>
            <a:endParaRPr lang="en-US" sz="2600" dirty="0"/>
          </a:p>
        </p:txBody>
      </p:sp>
      <p:sp>
        <p:nvSpPr>
          <p:cNvPr id="4" name="Date Placeholder 3"/>
          <p:cNvSpPr>
            <a:spLocks noGrp="1"/>
          </p:cNvSpPr>
          <p:nvPr>
            <p:ph type="dt" sz="half" idx="10"/>
          </p:nvPr>
        </p:nvSpPr>
        <p:spPr/>
        <p:txBody>
          <a:bodyPr/>
          <a:lstStyle/>
          <a:p>
            <a:pPr>
              <a:defRPr/>
            </a:pPr>
            <a:fld id="{5CA4C723-E1EF-4EE0-911D-A13BEB8F5965}"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Components of a Database</a:t>
            </a:r>
            <a:br>
              <a:rPr lang="en-US" dirty="0" smtClean="0"/>
            </a:br>
            <a:endParaRPr lang="en-US" dirty="0" smtClean="0"/>
          </a:p>
        </p:txBody>
      </p:sp>
      <p:sp>
        <p:nvSpPr>
          <p:cNvPr id="44034" name="Content Placeholder 2"/>
          <p:cNvSpPr>
            <a:spLocks noGrp="1"/>
          </p:cNvSpPr>
          <p:nvPr>
            <p:ph idx="1"/>
          </p:nvPr>
        </p:nvSpPr>
        <p:spPr/>
        <p:txBody>
          <a:bodyPr>
            <a:normAutofit/>
          </a:bodyPr>
          <a:lstStyle/>
          <a:p>
            <a:pPr algn="just" eaLnBrk="1" hangingPunct="1"/>
            <a:r>
              <a:rPr lang="en-US" smtClean="0"/>
              <a:t>A database comprises of various components/objects that include the following;</a:t>
            </a:r>
            <a:endParaRPr lang="en-US" smtClean="0"/>
          </a:p>
          <a:p>
            <a:pPr algn="just" eaLnBrk="1" hangingPunct="1">
              <a:buFont typeface="Wingdings 3" panose="05040102010807070707" pitchFamily="18" charset="2"/>
              <a:buNone/>
            </a:pPr>
            <a:endParaRPr lang="en-US" smtClean="0"/>
          </a:p>
          <a:p>
            <a:pPr algn="just" eaLnBrk="1" hangingPunct="1"/>
            <a:r>
              <a:rPr lang="en-US" b="1" smtClean="0"/>
              <a:t>1-Tables:-</a:t>
            </a:r>
            <a:r>
              <a:rPr lang="en-US" smtClean="0"/>
              <a:t> A table is a primary object of the database. Tables are used to collect and store data relating to a particular subject. Tables are organized in rows and columns as shown in the figure below:</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0A642CB7-0779-45BA-8F58-A86EE2CFAAB5}"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924800" cy="1600200"/>
          </a:xfrm>
        </p:spPr>
        <p:txBody>
          <a:bodyPr>
            <a:normAutofit fontScale="90000"/>
          </a:bodyPr>
          <a:lstStyle/>
          <a:p>
            <a:pPr eaLnBrk="1" fontAlgn="auto" hangingPunct="1">
              <a:spcAft>
                <a:spcPts val="0"/>
              </a:spcAft>
              <a:defRPr/>
            </a:pPr>
            <a:br>
              <a:rPr lang="en-US" dirty="0" smtClean="0"/>
            </a:br>
            <a:r>
              <a:rPr lang="en-US" dirty="0" smtClean="0"/>
              <a:t>Table Name: Registration</a:t>
            </a:r>
            <a:br>
              <a:rPr lang="en-US" dirty="0" smtClean="0"/>
            </a:br>
            <a:r>
              <a:rPr lang="en-US" dirty="0" smtClean="0"/>
              <a:t>(an example of a table structure)</a:t>
            </a:r>
            <a:br>
              <a:rPr lang="en-US" dirty="0" smtClean="0"/>
            </a:br>
            <a:endParaRPr lang="en-US" dirty="0" smtClean="0"/>
          </a:p>
        </p:txBody>
      </p:sp>
      <p:graphicFrame>
        <p:nvGraphicFramePr>
          <p:cNvPr id="5" name="Content Placeholder 4"/>
          <p:cNvGraphicFramePr>
            <a:graphicFrameLocks noGrp="1"/>
          </p:cNvGraphicFramePr>
          <p:nvPr>
            <p:ph idx="1"/>
          </p:nvPr>
        </p:nvGraphicFramePr>
        <p:xfrm>
          <a:off x="761999" y="2286000"/>
          <a:ext cx="7619999" cy="3149600"/>
        </p:xfrm>
        <a:graphic>
          <a:graphicData uri="http://schemas.openxmlformats.org/drawingml/2006/table">
            <a:tbl>
              <a:tblPr firstRow="1" bandRow="1">
                <a:tableStyleId>{5C22544A-7EE6-4342-B048-85BDC9FD1C3A}</a:tableStyleId>
              </a:tblPr>
              <a:tblGrid>
                <a:gridCol w="1671339"/>
                <a:gridCol w="1487165"/>
                <a:gridCol w="1487165"/>
                <a:gridCol w="1487165"/>
                <a:gridCol w="1487165"/>
              </a:tblGrid>
              <a:tr h="838200">
                <a:tc>
                  <a:txBody>
                    <a:bodyPr/>
                    <a:lstStyle/>
                    <a:p>
                      <a:r>
                        <a:rPr lang="en-US" sz="2400" dirty="0" err="1" smtClean="0"/>
                        <a:t>studentNo</a:t>
                      </a:r>
                      <a:endParaRPr lang="en-US" sz="2400" dirty="0"/>
                    </a:p>
                  </a:txBody>
                  <a:tcPr/>
                </a:tc>
                <a:tc>
                  <a:txBody>
                    <a:bodyPr/>
                    <a:lstStyle/>
                    <a:p>
                      <a:r>
                        <a:rPr lang="en-US" sz="2400" dirty="0" err="1" smtClean="0"/>
                        <a:t>fName</a:t>
                      </a:r>
                      <a:endParaRPr lang="en-US" sz="2400" dirty="0"/>
                    </a:p>
                  </a:txBody>
                  <a:tcPr/>
                </a:tc>
                <a:tc>
                  <a:txBody>
                    <a:bodyPr/>
                    <a:lstStyle/>
                    <a:p>
                      <a:r>
                        <a:rPr lang="en-US" sz="2400" dirty="0" err="1" smtClean="0"/>
                        <a:t>lName</a:t>
                      </a:r>
                      <a:endParaRPr lang="en-US" sz="2400" dirty="0"/>
                    </a:p>
                  </a:txBody>
                  <a:tcPr/>
                </a:tc>
                <a:tc>
                  <a:txBody>
                    <a:bodyPr/>
                    <a:lstStyle/>
                    <a:p>
                      <a:r>
                        <a:rPr lang="en-US" sz="2400" dirty="0" smtClean="0"/>
                        <a:t>age</a:t>
                      </a:r>
                      <a:endParaRPr lang="en-US" sz="2400" dirty="0"/>
                    </a:p>
                  </a:txBody>
                  <a:tcPr/>
                </a:tc>
                <a:tc>
                  <a:txBody>
                    <a:bodyPr/>
                    <a:lstStyle/>
                    <a:p>
                      <a:r>
                        <a:rPr lang="en-US" sz="2400" dirty="0" smtClean="0"/>
                        <a:t>sex</a:t>
                      </a:r>
                      <a:endParaRPr lang="en-US" sz="2400" dirty="0"/>
                    </a:p>
                  </a:txBody>
                  <a:tcPr/>
                </a:tc>
              </a:tr>
              <a:tr h="1270000">
                <a:tc>
                  <a:txBody>
                    <a:bodyPr/>
                    <a:lstStyle/>
                    <a:p>
                      <a:pPr marL="0" marR="0" algn="just">
                        <a:lnSpc>
                          <a:spcPct val="150000"/>
                        </a:lnSpc>
                        <a:spcBef>
                          <a:spcPts val="0"/>
                        </a:spcBef>
                        <a:spcAft>
                          <a:spcPts val="0"/>
                        </a:spcAft>
                      </a:pPr>
                      <a:r>
                        <a:rPr kumimoji="0" lang="en-US" sz="1800" kern="1200" dirty="0" smtClean="0">
                          <a:solidFill>
                            <a:schemeClr val="dk1"/>
                          </a:solidFill>
                          <a:latin typeface="+mn-lt"/>
                          <a:ea typeface="+mn-ea"/>
                          <a:cs typeface="+mn-cs"/>
                        </a:rPr>
                        <a:t>2006/REC/026</a:t>
                      </a:r>
                      <a:endParaRPr kumimoji="0" lang="en-US" sz="1800" kern="1200" dirty="0">
                        <a:solidFill>
                          <a:schemeClr val="dk1"/>
                        </a:solidFill>
                        <a:latin typeface="+mn-lt"/>
                        <a:ea typeface="+mn-ea"/>
                        <a:cs typeface="+mn-cs"/>
                      </a:endParaRPr>
                    </a:p>
                  </a:txBody>
                  <a:tcPr marL="68580" marR="68580" marT="0" marB="0"/>
                </a:tc>
                <a:tc>
                  <a:txBody>
                    <a:bodyPr/>
                    <a:lstStyle/>
                    <a:p>
                      <a:r>
                        <a:rPr lang="en-US" dirty="0" err="1" smtClean="0"/>
                        <a:t>Mukasa</a:t>
                      </a:r>
                      <a:endParaRPr lang="en-US" dirty="0"/>
                    </a:p>
                  </a:txBody>
                  <a:tcPr/>
                </a:tc>
                <a:tc>
                  <a:txBody>
                    <a:bodyPr/>
                    <a:lstStyle/>
                    <a:p>
                      <a:r>
                        <a:rPr lang="en-US" dirty="0" smtClean="0"/>
                        <a:t>John</a:t>
                      </a:r>
                      <a:endParaRPr lang="en-US" dirty="0"/>
                    </a:p>
                  </a:txBody>
                  <a:tcPr/>
                </a:tc>
                <a:tc>
                  <a:txBody>
                    <a:bodyPr/>
                    <a:lstStyle/>
                    <a:p>
                      <a:r>
                        <a:rPr lang="en-US" dirty="0" smtClean="0"/>
                        <a:t>32</a:t>
                      </a:r>
                      <a:endParaRPr lang="en-US" dirty="0"/>
                    </a:p>
                  </a:txBody>
                  <a:tcPr/>
                </a:tc>
                <a:tc>
                  <a:txBody>
                    <a:bodyPr/>
                    <a:lstStyle/>
                    <a:p>
                      <a:r>
                        <a:rPr lang="en-US" dirty="0" smtClean="0"/>
                        <a:t>M</a:t>
                      </a:r>
                      <a:endParaRPr lang="en-US" dirty="0"/>
                    </a:p>
                  </a:txBody>
                  <a:tcPr/>
                </a:tc>
              </a:tr>
              <a:tr h="1041400">
                <a:tc>
                  <a:txBody>
                    <a:bodyPr/>
                    <a:lstStyle/>
                    <a:p>
                      <a:r>
                        <a:rPr lang="en-US" sz="1800" kern="1200" dirty="0" smtClean="0">
                          <a:solidFill>
                            <a:schemeClr val="dk1"/>
                          </a:solidFill>
                          <a:latin typeface="+mn-lt"/>
                          <a:ea typeface="+mn-ea"/>
                          <a:cs typeface="+mn-cs"/>
                        </a:rPr>
                        <a:t>2006/ITB/013</a:t>
                      </a:r>
                      <a:endParaRPr lang="en-US" dirty="0"/>
                    </a:p>
                  </a:txBody>
                  <a:tcPr/>
                </a:tc>
                <a:tc>
                  <a:txBody>
                    <a:bodyPr/>
                    <a:lstStyle/>
                    <a:p>
                      <a:r>
                        <a:rPr lang="en-US" dirty="0" err="1" smtClean="0"/>
                        <a:t>Namukasa</a:t>
                      </a:r>
                      <a:endParaRPr lang="en-US" dirty="0"/>
                    </a:p>
                  </a:txBody>
                  <a:tcPr/>
                </a:tc>
                <a:tc>
                  <a:txBody>
                    <a:bodyPr/>
                    <a:lstStyle/>
                    <a:p>
                      <a:r>
                        <a:rPr lang="en-US" dirty="0" smtClean="0"/>
                        <a:t>Mary</a:t>
                      </a:r>
                      <a:endParaRPr lang="en-US" dirty="0"/>
                    </a:p>
                  </a:txBody>
                  <a:tcPr/>
                </a:tc>
                <a:tc>
                  <a:txBody>
                    <a:bodyPr/>
                    <a:lstStyle/>
                    <a:p>
                      <a:r>
                        <a:rPr lang="en-US" dirty="0" smtClean="0"/>
                        <a:t>28</a:t>
                      </a:r>
                      <a:endParaRPr lang="en-US" dirty="0"/>
                    </a:p>
                  </a:txBody>
                  <a:tcPr/>
                </a:tc>
                <a:tc>
                  <a:txBody>
                    <a:bodyPr/>
                    <a:lstStyle/>
                    <a:p>
                      <a:r>
                        <a:rPr lang="en-US" dirty="0" smtClean="0"/>
                        <a:t>F</a:t>
                      </a:r>
                      <a:endParaRPr lang="en-US" dirty="0"/>
                    </a:p>
                  </a:txBody>
                  <a:tcPr/>
                </a:tc>
              </a:tr>
            </a:tbl>
          </a:graphicData>
        </a:graphic>
      </p:graphicFrame>
      <p:sp>
        <p:nvSpPr>
          <p:cNvPr id="4" name="Date Placeholder 3"/>
          <p:cNvSpPr>
            <a:spLocks noGrp="1"/>
          </p:cNvSpPr>
          <p:nvPr>
            <p:ph type="dt" sz="half" idx="10"/>
          </p:nvPr>
        </p:nvSpPr>
        <p:spPr/>
        <p:txBody>
          <a:bodyPr/>
          <a:lstStyle/>
          <a:p>
            <a:pPr>
              <a:defRPr/>
            </a:pPr>
            <a:fld id="{8361D445-65F8-45A2-BB5A-24A6CCD94CA6}" type="datetime1">
              <a:rPr lang="en-US" smtClean="0"/>
            </a:fld>
            <a:endParaRPr lang="en-US"/>
          </a:p>
        </p:txBody>
      </p:sp>
      <p:sp>
        <p:nvSpPr>
          <p:cNvPr id="7" name="Footer Placeholder 6"/>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fontAlgn="auto" hangingPunct="1">
              <a:spcAft>
                <a:spcPts val="0"/>
              </a:spcAft>
              <a:defRPr/>
            </a:pPr>
            <a:r>
              <a:rPr lang="en-US" dirty="0" smtClean="0"/>
              <a:t>Table description</a:t>
            </a:r>
            <a:endParaRPr lang="en-US" dirty="0" smtClean="0"/>
          </a:p>
        </p:txBody>
      </p:sp>
      <p:sp>
        <p:nvSpPr>
          <p:cNvPr id="46082" name="Content Placeholder 2"/>
          <p:cNvSpPr>
            <a:spLocks noGrp="1"/>
          </p:cNvSpPr>
          <p:nvPr>
            <p:ph idx="1"/>
          </p:nvPr>
        </p:nvSpPr>
        <p:spPr/>
        <p:txBody>
          <a:bodyPr/>
          <a:lstStyle/>
          <a:p>
            <a:pPr eaLnBrk="1" hangingPunct="1"/>
            <a:endParaRPr lang="en-US" smtClean="0"/>
          </a:p>
          <a:p>
            <a:pPr algn="just" eaLnBrk="1" hangingPunct="1"/>
            <a:r>
              <a:rPr lang="en-US" smtClean="0"/>
              <a:t>Each column is called a Field or an attribute and it contains the same type of information for every entity occurrence. </a:t>
            </a:r>
            <a:endParaRPr lang="en-US" smtClean="0"/>
          </a:p>
          <a:p>
            <a:pPr algn="just" eaLnBrk="1" hangingPunct="1"/>
            <a:r>
              <a:rPr lang="en-US" smtClean="0"/>
              <a:t>Each row is called a record or a tuple and it contains all the information about one entity occurrence.</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80C4B7AE-B7C1-444C-9A0A-59AF7001AF2F}"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fontAlgn="auto" hangingPunct="1">
              <a:spcAft>
                <a:spcPts val="0"/>
              </a:spcAft>
              <a:defRPr/>
            </a:pPr>
            <a:r>
              <a:rPr lang="en-US" smtClean="0"/>
              <a:t>2-  Forms: -</a:t>
            </a:r>
            <a:endParaRPr lang="en-US" smtClean="0"/>
          </a:p>
        </p:txBody>
      </p:sp>
      <p:sp>
        <p:nvSpPr>
          <p:cNvPr id="47106" name="Content Placeholder 2"/>
          <p:cNvSpPr>
            <a:spLocks noGrp="1"/>
          </p:cNvSpPr>
          <p:nvPr>
            <p:ph idx="1"/>
          </p:nvPr>
        </p:nvSpPr>
        <p:spPr/>
        <p:txBody>
          <a:bodyPr/>
          <a:lstStyle/>
          <a:p>
            <a:pPr algn="just" eaLnBrk="1" hangingPunct="1"/>
            <a:r>
              <a:rPr lang="en-US" smtClean="0"/>
              <a:t>A form allows a user to view one record at a time on the screen. </a:t>
            </a:r>
            <a:endParaRPr lang="en-US" smtClean="0"/>
          </a:p>
          <a:p>
            <a:pPr algn="just" eaLnBrk="1" hangingPunct="1"/>
            <a:r>
              <a:rPr lang="en-US" smtClean="0"/>
              <a:t>It is also commonly used to send information into a table. </a:t>
            </a:r>
            <a:endParaRPr lang="en-US" smtClean="0"/>
          </a:p>
          <a:p>
            <a:pPr algn="just" eaLnBrk="1" hangingPunct="1"/>
            <a:r>
              <a:rPr lang="en-US" smtClean="0"/>
              <a:t>Normally, each table has a corresponding form for entering data in it. Figure on the next slide shows a form for entering data in the above table.</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71F32757-3131-4B98-92C1-5D6A823753AF}"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524000"/>
          </a:xfrm>
        </p:spPr>
        <p:txBody>
          <a:bodyPr>
            <a:normAutofit/>
          </a:bodyPr>
          <a:lstStyle/>
          <a:p>
            <a:pPr eaLnBrk="1" fontAlgn="auto" hangingPunct="1">
              <a:spcAft>
                <a:spcPts val="0"/>
              </a:spcAft>
              <a:defRPr/>
            </a:pPr>
            <a:r>
              <a:rPr lang="en-US" dirty="0" smtClean="0"/>
              <a:t>A Form for entering or viewing data in a table</a:t>
            </a:r>
            <a:endParaRPr lang="en-US" dirty="0" smtClean="0"/>
          </a:p>
        </p:txBody>
      </p:sp>
      <p:pic>
        <p:nvPicPr>
          <p:cNvPr id="48130" name="Content Placeholder 3"/>
          <p:cNvPicPr>
            <a:picLocks noGrp="1"/>
          </p:cNvPicPr>
          <p:nvPr>
            <p:ph idx="1"/>
          </p:nvPr>
        </p:nvPicPr>
        <p:blipFill>
          <a:blip r:embed="rId1"/>
          <a:stretch>
            <a:fillRect/>
          </a:stretch>
        </p:blipFill>
        <p:spPr>
          <a:xfrm>
            <a:off x="762000" y="1981200"/>
            <a:ext cx="7620000" cy="3954463"/>
          </a:xfrm>
        </p:spPr>
      </p:pic>
      <p:sp>
        <p:nvSpPr>
          <p:cNvPr id="4" name="Date Placeholder 3"/>
          <p:cNvSpPr>
            <a:spLocks noGrp="1"/>
          </p:cNvSpPr>
          <p:nvPr>
            <p:ph type="dt" sz="half" idx="10"/>
          </p:nvPr>
        </p:nvSpPr>
        <p:spPr/>
        <p:txBody>
          <a:bodyPr/>
          <a:lstStyle/>
          <a:p>
            <a:pPr>
              <a:defRPr/>
            </a:pPr>
            <a:fld id="{87868C94-3055-44EA-A575-A18FA3C88F9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fontAlgn="auto" hangingPunct="1">
              <a:spcAft>
                <a:spcPts val="0"/>
              </a:spcAft>
              <a:defRPr/>
            </a:pPr>
            <a:r>
              <a:rPr lang="en-US" smtClean="0"/>
              <a:t>3.   </a:t>
            </a:r>
            <a:r>
              <a:rPr lang="en-US" dirty="0" smtClean="0"/>
              <a:t>Queries: -</a:t>
            </a:r>
            <a:endParaRPr lang="en-US" dirty="0" smtClean="0"/>
          </a:p>
        </p:txBody>
      </p:sp>
      <p:sp>
        <p:nvSpPr>
          <p:cNvPr id="49154" name="Content Placeholder 2"/>
          <p:cNvSpPr>
            <a:spLocks noGrp="1"/>
          </p:cNvSpPr>
          <p:nvPr>
            <p:ph idx="1"/>
          </p:nvPr>
        </p:nvSpPr>
        <p:spPr/>
        <p:txBody>
          <a:bodyPr>
            <a:normAutofit/>
          </a:bodyPr>
          <a:lstStyle/>
          <a:p>
            <a:pPr algn="just" eaLnBrk="1" hangingPunct="1"/>
            <a:r>
              <a:rPr lang="en-US" smtClean="0"/>
              <a:t>A query is a question you ask the database. In a database that stores student’s data, you might query/ask the database for a list of all students who are over the age of 30. The answer usually is a list of records matching the query condition(s).  </a:t>
            </a:r>
            <a:endParaRPr lang="en-US" smtClean="0"/>
          </a:p>
          <a:p>
            <a:pPr algn="just" eaLnBrk="1" hangingPunct="1"/>
            <a:r>
              <a:rPr lang="en-US" smtClean="0"/>
              <a:t>Data can also be drawn from more than one table and displayed in a single query that can later be used to produce reports.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68BB2080-71EC-4937-A193-978D68577E0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fontAlgn="auto" hangingPunct="1">
              <a:spcAft>
                <a:spcPts val="0"/>
              </a:spcAft>
              <a:defRPr/>
            </a:pPr>
            <a:r>
              <a:rPr lang="en-US" smtClean="0"/>
              <a:t>4.  Reports: -</a:t>
            </a:r>
            <a:endParaRPr lang="en-US" smtClean="0"/>
          </a:p>
        </p:txBody>
      </p:sp>
      <p:sp>
        <p:nvSpPr>
          <p:cNvPr id="50178" name="Content Placeholder 2"/>
          <p:cNvSpPr>
            <a:spLocks noGrp="1"/>
          </p:cNvSpPr>
          <p:nvPr>
            <p:ph idx="1"/>
          </p:nvPr>
        </p:nvSpPr>
        <p:spPr/>
        <p:txBody>
          <a:bodyPr/>
          <a:lstStyle/>
          <a:p>
            <a:pPr algn="just" eaLnBrk="1" hangingPunct="1"/>
            <a:r>
              <a:rPr lang="en-US" dirty="0" smtClean="0"/>
              <a:t>They are used to present, summarize and print table data. Using reports, we can calculate totals and subtotals across a set of records. </a:t>
            </a:r>
            <a:endParaRPr lang="en-US" dirty="0" smtClean="0"/>
          </a:p>
          <a:p>
            <a:pPr algn="just" eaLnBrk="1" hangingPunct="1"/>
            <a:r>
              <a:rPr lang="en-US" dirty="0" smtClean="0"/>
              <a:t>Reports can be printed out to present data and information on a hard copy.</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92EE33F9-FCFE-474B-822B-DC650911B3C7}"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Advantages of using databases</a:t>
            </a:r>
            <a:br>
              <a:rPr lang="en-US" dirty="0" smtClean="0"/>
            </a:br>
            <a:endParaRPr lang="en-US" dirty="0" smtClean="0"/>
          </a:p>
        </p:txBody>
      </p:sp>
      <p:sp>
        <p:nvSpPr>
          <p:cNvPr id="51202" name="Content Placeholder 2"/>
          <p:cNvSpPr>
            <a:spLocks noGrp="1"/>
          </p:cNvSpPr>
          <p:nvPr>
            <p:ph idx="1"/>
          </p:nvPr>
        </p:nvSpPr>
        <p:spPr>
          <a:xfrm>
            <a:off x="1176865" y="2362199"/>
            <a:ext cx="6798736" cy="3572933"/>
          </a:xfrm>
        </p:spPr>
        <p:txBody>
          <a:bodyPr>
            <a:normAutofit/>
          </a:bodyPr>
          <a:lstStyle/>
          <a:p>
            <a:pPr algn="just" eaLnBrk="1" hangingPunct="1"/>
            <a:r>
              <a:rPr lang="en-US" dirty="0" smtClean="0"/>
              <a:t>Removes duplication of records</a:t>
            </a:r>
            <a:endParaRPr lang="en-US" dirty="0" smtClean="0"/>
          </a:p>
          <a:p>
            <a:pPr algn="just" eaLnBrk="1" hangingPunct="1"/>
            <a:r>
              <a:rPr lang="en-US" dirty="0" smtClean="0"/>
              <a:t>Ensures integrity of data, that is, validity and consistency of data. This is achieved by implementing rules that the database is not permitted to violet</a:t>
            </a:r>
            <a:endParaRPr lang="en-US" dirty="0" smtClean="0"/>
          </a:p>
          <a:p>
            <a:pPr algn="just" eaLnBrk="1" hangingPunct="1"/>
            <a:r>
              <a:rPr lang="en-US" dirty="0" smtClean="0"/>
              <a:t>Creates uniformity of records</a:t>
            </a:r>
            <a:endParaRPr lang="en-US" dirty="0" smtClean="0"/>
          </a:p>
          <a:p>
            <a:pPr algn="just" eaLnBrk="1" hangingPunct="1"/>
            <a:r>
              <a:rPr lang="en-US" dirty="0" smtClean="0"/>
              <a:t>Ensures security of data by restricting unauthorized access</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AAD00854-7567-42AD-817D-51205FF68B76}"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Advantages of using databases cont’d.</a:t>
            </a:r>
            <a:endParaRPr lang="en-US" dirty="0" smtClean="0"/>
          </a:p>
        </p:txBody>
      </p:sp>
      <p:sp>
        <p:nvSpPr>
          <p:cNvPr id="52226" name="Content Placeholder 2"/>
          <p:cNvSpPr>
            <a:spLocks noGrp="1"/>
          </p:cNvSpPr>
          <p:nvPr>
            <p:ph idx="1"/>
          </p:nvPr>
        </p:nvSpPr>
        <p:spPr/>
        <p:txBody>
          <a:bodyPr/>
          <a:lstStyle/>
          <a:p>
            <a:pPr eaLnBrk="1" hangingPunct="1"/>
            <a:endParaRPr lang="en-US" smtClean="0"/>
          </a:p>
          <a:p>
            <a:pPr eaLnBrk="1" hangingPunct="1"/>
            <a:r>
              <a:rPr lang="en-US" smtClean="0"/>
              <a:t>Convenience in retrieval and analysis of data</a:t>
            </a:r>
            <a:endParaRPr lang="en-US" smtClean="0"/>
          </a:p>
          <a:p>
            <a:pPr eaLnBrk="1" hangingPunct="1"/>
            <a:r>
              <a:rPr lang="en-US" smtClean="0"/>
              <a:t>Availability of up-to-date information</a:t>
            </a:r>
            <a:endParaRPr lang="en-US" smtClean="0"/>
          </a:p>
          <a:p>
            <a:pPr eaLnBrk="1" hangingPunct="1"/>
            <a:r>
              <a:rPr lang="en-US" smtClean="0"/>
              <a:t>Allows multiple usage</a:t>
            </a:r>
            <a:endParaRPr lang="en-US" smtClean="0"/>
          </a:p>
          <a:p>
            <a:pPr eaLnBrk="1" hangingPunct="1"/>
            <a:r>
              <a:rPr lang="en-US" smtClean="0"/>
              <a:t>Improved backup and recovery services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D3EB5E52-1A61-4932-AFFF-818996EB54C1}"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Disadvantages of using databases</a:t>
            </a:r>
            <a:br>
              <a:rPr lang="en-US" dirty="0" smtClean="0"/>
            </a:br>
            <a:endParaRPr lang="en-US" dirty="0" smtClean="0"/>
          </a:p>
        </p:txBody>
      </p:sp>
      <p:sp>
        <p:nvSpPr>
          <p:cNvPr id="53250" name="Content Placeholder 2"/>
          <p:cNvSpPr>
            <a:spLocks noGrp="1"/>
          </p:cNvSpPr>
          <p:nvPr>
            <p:ph idx="1"/>
          </p:nvPr>
        </p:nvSpPr>
        <p:spPr/>
        <p:txBody>
          <a:bodyPr>
            <a:normAutofit lnSpcReduction="10000"/>
          </a:bodyPr>
          <a:lstStyle/>
          <a:p>
            <a:pPr algn="just" eaLnBrk="1" hangingPunct="1"/>
            <a:r>
              <a:rPr lang="en-US" smtClean="0"/>
              <a:t>In spite of these advantages, there are some situations where using a DBMS may incur unnecessary overhead costs as compared to traditional file processing. They include;</a:t>
            </a:r>
            <a:endParaRPr lang="en-US" smtClean="0"/>
          </a:p>
          <a:p>
            <a:pPr algn="just" eaLnBrk="1" hangingPunct="1"/>
            <a:r>
              <a:rPr lang="en-US" smtClean="0"/>
              <a:t>High initial investment in hardware, software and training.</a:t>
            </a:r>
            <a:endParaRPr lang="en-US" smtClean="0"/>
          </a:p>
          <a:p>
            <a:pPr algn="just" eaLnBrk="1" hangingPunct="1"/>
            <a:r>
              <a:rPr lang="en-US" smtClean="0"/>
              <a:t>Not fully reliable e.g. in a networked environment, the entire organization comes to a stand still if the server crashes.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51D5A99E-957B-44C6-8862-6ACCFF270E0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Disadvantages of using databases cont’d.</a:t>
            </a:r>
            <a:endParaRPr lang="en-US" dirty="0" smtClean="0"/>
          </a:p>
        </p:txBody>
      </p:sp>
      <p:sp>
        <p:nvSpPr>
          <p:cNvPr id="3" name="Content Placeholder 2"/>
          <p:cNvSpPr>
            <a:spLocks noGrp="1"/>
          </p:cNvSpPr>
          <p:nvPr>
            <p:ph idx="1"/>
          </p:nvPr>
        </p:nvSpPr>
        <p:spPr/>
        <p:txBody>
          <a:bodyPr rtlCol="0">
            <a:normAutofit fontScale="92500"/>
          </a:bodyPr>
          <a:lstStyle/>
          <a:p>
            <a:pPr marL="274320" indent="-274320" algn="just" eaLnBrk="1" fontAlgn="auto" hangingPunct="1">
              <a:spcAft>
                <a:spcPts val="0"/>
              </a:spcAft>
              <a:buClr>
                <a:schemeClr val="accent3"/>
              </a:buClr>
              <a:buFont typeface="Arial" panose="020B0604020202020204" pitchFamily="34" charset="0"/>
              <a:buChar char="•"/>
              <a:defRPr/>
            </a:pPr>
            <a:r>
              <a:rPr lang="en-US" dirty="0" smtClean="0"/>
              <a:t>Requires a lot of time to design. This is because the functionality we expect of a good database makes the DBMS an extremely complex piece of software to design.</a:t>
            </a:r>
            <a:endParaRPr lang="en-US" dirty="0" smtClean="0"/>
          </a:p>
          <a:p>
            <a:pPr marL="274320" indent="-274320" algn="just" eaLnBrk="1" fontAlgn="auto" hangingPunct="1">
              <a:spcAft>
                <a:spcPts val="0"/>
              </a:spcAft>
              <a:buClr>
                <a:schemeClr val="accent3"/>
              </a:buClr>
              <a:buFont typeface="Arial" panose="020B0604020202020204" pitchFamily="34" charset="0"/>
              <a:buChar char="•"/>
              <a:defRPr/>
            </a:pPr>
            <a:r>
              <a:rPr lang="en-US" dirty="0" smtClean="0"/>
              <a:t>Performance: typically, a file-based system is written for a specific application, such as invoicing, payroll, etc. As a result, performance is generally very good. </a:t>
            </a:r>
            <a:endParaRPr lang="en-US" dirty="0" smtClean="0"/>
          </a:p>
          <a:p>
            <a:pPr marL="274320" indent="-274320" algn="just" eaLnBrk="1" fontAlgn="auto" hangingPunct="1">
              <a:spcAft>
                <a:spcPts val="0"/>
              </a:spcAft>
              <a:buClr>
                <a:schemeClr val="accent3"/>
              </a:buClr>
              <a:buFont typeface="Arial" panose="020B0604020202020204" pitchFamily="34" charset="0"/>
              <a:buNone/>
              <a:defRPr/>
            </a:pPr>
            <a:r>
              <a:rPr lang="en-US" dirty="0" smtClean="0"/>
              <a:t>	However, the DBMS is written to be more general to cater for many applications rather than just one. The result is that some applications may not run as fast as before.</a:t>
            </a:r>
            <a:endParaRPr lang="en-US" dirty="0" smtClean="0"/>
          </a:p>
          <a:p>
            <a:pPr marL="274320" indent="-274320" eaLnBrk="1" fontAlgn="auto" hangingPunct="1">
              <a:spcAft>
                <a:spcPts val="0"/>
              </a:spcAft>
              <a:buClr>
                <a:schemeClr val="accent3"/>
              </a:buClr>
              <a:buFont typeface="Arial" panose="020B0604020202020204" pitchFamily="34" charset="0"/>
              <a:buChar char="•"/>
              <a:defRPr/>
            </a:pPr>
            <a:endParaRPr lang="en-US" dirty="0" smtClean="0"/>
          </a:p>
        </p:txBody>
      </p:sp>
      <p:sp>
        <p:nvSpPr>
          <p:cNvPr id="4" name="Date Placeholder 3"/>
          <p:cNvSpPr>
            <a:spLocks noGrp="1"/>
          </p:cNvSpPr>
          <p:nvPr>
            <p:ph type="dt" sz="half" idx="10"/>
          </p:nvPr>
        </p:nvSpPr>
        <p:spPr/>
        <p:txBody>
          <a:bodyPr/>
          <a:lstStyle/>
          <a:p>
            <a:pPr>
              <a:defRPr/>
            </a:pPr>
            <a:fld id="{4036EA98-AE53-433C-B6A1-888F15CF77B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The Database Management System (DBMS)</a:t>
            </a:r>
            <a:br>
              <a:rPr lang="en-US" dirty="0" smtClean="0"/>
            </a:br>
            <a:endParaRPr lang="en-US" dirty="0" smtClean="0"/>
          </a:p>
        </p:txBody>
      </p:sp>
      <p:sp>
        <p:nvSpPr>
          <p:cNvPr id="51203" name="Content Placeholder 2"/>
          <p:cNvSpPr>
            <a:spLocks noGrp="1"/>
          </p:cNvSpPr>
          <p:nvPr>
            <p:ph idx="1"/>
          </p:nvPr>
        </p:nvSpPr>
        <p:spPr/>
        <p:txBody>
          <a:bodyPr rtlCol="0">
            <a:normAutofit lnSpcReduction="10000"/>
          </a:bodyPr>
          <a:lstStyle/>
          <a:p>
            <a:pPr marL="365760" indent="-255905" algn="just" eaLnBrk="1" fontAlgn="auto" hangingPunct="1">
              <a:spcAft>
                <a:spcPts val="0"/>
              </a:spcAft>
              <a:buFont typeface="Wingdings 3" panose="05040102010807070707"/>
              <a:buChar char=""/>
              <a:defRPr/>
            </a:pPr>
            <a:r>
              <a:rPr lang="en-US" dirty="0" smtClean="0"/>
              <a:t>A </a:t>
            </a:r>
            <a:r>
              <a:rPr lang="en-US" i="1" dirty="0" smtClean="0"/>
              <a:t>Database Management System</a:t>
            </a:r>
            <a:r>
              <a:rPr lang="en-US" dirty="0" smtClean="0"/>
              <a:t> (DBMS), is a software program that enables the creation and management of databases. Generally, these databases will be more complex than the text file/spreadsheet examples seen in the previous slides. </a:t>
            </a:r>
            <a:endParaRPr lang="en-US" dirty="0" smtClean="0"/>
          </a:p>
          <a:p>
            <a:pPr marL="365760" indent="-255905" algn="just" eaLnBrk="1" fontAlgn="auto" hangingPunct="1">
              <a:spcAft>
                <a:spcPts val="0"/>
              </a:spcAft>
              <a:buFont typeface="Wingdings 3" panose="05040102010807070707"/>
              <a:buChar char=""/>
              <a:defRPr/>
            </a:pPr>
            <a:r>
              <a:rPr lang="en-US" dirty="0" smtClean="0"/>
              <a:t>In fact, most of today's database systems are referred to as a </a:t>
            </a:r>
            <a:r>
              <a:rPr lang="en-US" i="1" dirty="0" smtClean="0"/>
              <a:t>Relational Database Management System (RDBMS)</a:t>
            </a:r>
            <a:r>
              <a:rPr lang="en-US" dirty="0" smtClean="0"/>
              <a:t>, because of their ability to store related data across multiple tables.</a:t>
            </a:r>
            <a:endParaRPr lang="en-US" dirty="0" smtClean="0"/>
          </a:p>
          <a:p>
            <a:pPr marL="365760" indent="-255905" eaLnBrk="1" fontAlgn="auto" hangingPunct="1">
              <a:spcAft>
                <a:spcPts val="0"/>
              </a:spcAft>
              <a:buFont typeface="Wingdings 3" panose="05040102010807070707"/>
              <a:buChar char=""/>
              <a:defRPr/>
            </a:pPr>
            <a:endParaRPr lang="en-US" dirty="0" smtClean="0"/>
          </a:p>
        </p:txBody>
      </p:sp>
      <p:sp>
        <p:nvSpPr>
          <p:cNvPr id="4" name="Date Placeholder 3"/>
          <p:cNvSpPr>
            <a:spLocks noGrp="1"/>
          </p:cNvSpPr>
          <p:nvPr>
            <p:ph type="dt" sz="half" idx="10"/>
          </p:nvPr>
        </p:nvSpPr>
        <p:spPr/>
        <p:txBody>
          <a:bodyPr/>
          <a:lstStyle/>
          <a:p>
            <a:pPr>
              <a:defRPr/>
            </a:pPr>
            <a:fld id="{1164B9FB-0FE5-4174-BEE6-4CBBB03A184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Examples of Relational database management systems</a:t>
            </a:r>
            <a:endParaRPr lang="en-US" dirty="0" smtClean="0"/>
          </a:p>
        </p:txBody>
      </p:sp>
      <p:sp>
        <p:nvSpPr>
          <p:cNvPr id="56322" name="Content Placeholder 2"/>
          <p:cNvSpPr>
            <a:spLocks noGrp="1"/>
          </p:cNvSpPr>
          <p:nvPr>
            <p:ph idx="1"/>
          </p:nvPr>
        </p:nvSpPr>
        <p:spPr/>
        <p:txBody>
          <a:bodyPr>
            <a:normAutofit fontScale="92500" lnSpcReduction="10000"/>
          </a:bodyPr>
          <a:lstStyle/>
          <a:p>
            <a:pPr algn="just" eaLnBrk="1" hangingPunct="1">
              <a:defRPr/>
            </a:pPr>
            <a:r>
              <a:rPr lang="en-US" dirty="0" smtClean="0"/>
              <a:t>Some of the more popular relational database management systems include:</a:t>
            </a:r>
            <a:endParaRPr lang="en-US" dirty="0" smtClean="0"/>
          </a:p>
          <a:p>
            <a:pPr marL="623570" indent="-514350" eaLnBrk="1" hangingPunct="1">
              <a:buFont typeface="+mj-lt"/>
              <a:buAutoNum type="arabicPeriod"/>
              <a:defRPr/>
            </a:pPr>
            <a:r>
              <a:rPr lang="en-US" dirty="0" smtClean="0"/>
              <a:t>Microsoft Access </a:t>
            </a:r>
            <a:endParaRPr lang="en-US" dirty="0" smtClean="0"/>
          </a:p>
          <a:p>
            <a:pPr marL="623570" indent="-514350" eaLnBrk="1" hangingPunct="1">
              <a:buFont typeface="+mj-lt"/>
              <a:buAutoNum type="arabicPeriod"/>
              <a:defRPr/>
            </a:pPr>
            <a:r>
              <a:rPr lang="en-US" dirty="0" err="1" smtClean="0"/>
              <a:t>MySQL</a:t>
            </a:r>
            <a:r>
              <a:rPr lang="en-US" dirty="0" smtClean="0"/>
              <a:t> </a:t>
            </a:r>
            <a:endParaRPr lang="en-US" dirty="0" smtClean="0"/>
          </a:p>
          <a:p>
            <a:pPr marL="623570" indent="-514350" eaLnBrk="1" hangingPunct="1">
              <a:buFont typeface="+mj-lt"/>
              <a:buAutoNum type="arabicPeriod"/>
              <a:defRPr/>
            </a:pPr>
            <a:r>
              <a:rPr lang="en-US" dirty="0" smtClean="0"/>
              <a:t>Oracle </a:t>
            </a:r>
            <a:endParaRPr lang="en-US" dirty="0" smtClean="0"/>
          </a:p>
          <a:p>
            <a:pPr marL="623570" indent="-514350" eaLnBrk="1" hangingPunct="1">
              <a:buFont typeface="+mj-lt"/>
              <a:buAutoNum type="arabicPeriod"/>
              <a:defRPr/>
            </a:pPr>
            <a:r>
              <a:rPr lang="en-US" dirty="0" smtClean="0"/>
              <a:t>Ms </a:t>
            </a:r>
            <a:r>
              <a:rPr lang="en-US" dirty="0" err="1" smtClean="0"/>
              <a:t>Sql</a:t>
            </a:r>
            <a:r>
              <a:rPr lang="en-US" dirty="0" smtClean="0"/>
              <a:t> Server</a:t>
            </a:r>
            <a:endParaRPr lang="en-US" dirty="0" smtClean="0"/>
          </a:p>
          <a:p>
            <a:pPr marL="623570" indent="-514350" eaLnBrk="1" hangingPunct="1">
              <a:buFont typeface="+mj-lt"/>
              <a:buAutoNum type="arabicPeriod"/>
              <a:defRPr/>
            </a:pPr>
            <a:r>
              <a:rPr lang="en-US" dirty="0" err="1" smtClean="0"/>
              <a:t>PostgreSql</a:t>
            </a:r>
            <a:endParaRPr lang="en-US" dirty="0" smtClean="0"/>
          </a:p>
          <a:p>
            <a:pPr marL="623570" indent="-514350" eaLnBrk="1" hangingPunct="1">
              <a:buFont typeface="+mj-lt"/>
              <a:buAutoNum type="arabicPeriod"/>
              <a:defRPr/>
            </a:pPr>
            <a:r>
              <a:rPr lang="en-US" dirty="0" smtClean="0"/>
              <a:t>IBM DB2</a:t>
            </a:r>
            <a:endParaRPr lang="en-US" dirty="0" smtClean="0"/>
          </a:p>
          <a:p>
            <a:pPr eaLnBrk="1" hangingPunct="1">
              <a:defRPr/>
            </a:pPr>
            <a:endParaRPr lang="en-US" dirty="0" smtClean="0"/>
          </a:p>
        </p:txBody>
      </p:sp>
      <p:sp>
        <p:nvSpPr>
          <p:cNvPr id="4" name="Date Placeholder 3"/>
          <p:cNvSpPr>
            <a:spLocks noGrp="1"/>
          </p:cNvSpPr>
          <p:nvPr>
            <p:ph type="dt" sz="half" idx="10"/>
          </p:nvPr>
        </p:nvSpPr>
        <p:spPr/>
        <p:txBody>
          <a:bodyPr/>
          <a:lstStyle/>
          <a:p>
            <a:pPr>
              <a:defRPr/>
            </a:pPr>
            <a:fld id="{BCD16C91-7372-4354-A5B1-4150E3BF86E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fontAlgn="auto" hangingPunct="1">
              <a:spcAft>
                <a:spcPts val="0"/>
              </a:spcAft>
              <a:defRPr/>
            </a:pPr>
            <a:r>
              <a:rPr lang="en-US" smtClean="0"/>
              <a:t>Functions of a DBMS</a:t>
            </a:r>
            <a:endParaRPr lang="en-US" smtClean="0"/>
          </a:p>
        </p:txBody>
      </p:sp>
      <p:sp>
        <p:nvSpPr>
          <p:cNvPr id="57346" name="Content Placeholder 2"/>
          <p:cNvSpPr>
            <a:spLocks noGrp="1"/>
          </p:cNvSpPr>
          <p:nvPr>
            <p:ph idx="1"/>
          </p:nvPr>
        </p:nvSpPr>
        <p:spPr/>
        <p:txBody>
          <a:bodyPr/>
          <a:lstStyle/>
          <a:p>
            <a:pPr algn="just" eaLnBrk="1" hangingPunct="1"/>
            <a:r>
              <a:rPr lang="en-US" smtClean="0"/>
              <a:t>A DBMS interacts with user’s application programs and the database. Typically, a DBMS provides the following facilities</a:t>
            </a:r>
            <a:endParaRPr lang="en-US" smtClean="0"/>
          </a:p>
          <a:p>
            <a:pPr algn="just" eaLnBrk="1" hangingPunct="1"/>
            <a:r>
              <a:rPr lang="en-US" smtClean="0"/>
              <a:t>It allows users to create/define a database, usually using a data definition language (DDL)</a:t>
            </a:r>
            <a:endParaRPr lang="en-US" smtClean="0"/>
          </a:p>
          <a:p>
            <a:pPr algn="just" eaLnBrk="1" hangingPunct="1"/>
            <a:r>
              <a:rPr lang="en-US" smtClean="0"/>
              <a:t>It allows users to insert, update, and delete data from the database using a data manipulation language (DML)</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CA2D49FF-7C15-4DC1-BCA7-69C518534C28}"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1176866" y="609601"/>
            <a:ext cx="6798734" cy="871538"/>
          </a:xfrm>
        </p:spPr>
        <p:txBody>
          <a:bodyPr>
            <a:normAutofit/>
          </a:bodyPr>
          <a:lstStyle/>
          <a:p>
            <a:pPr eaLnBrk="1" fontAlgn="auto" hangingPunct="1">
              <a:spcAft>
                <a:spcPts val="0"/>
              </a:spcAft>
              <a:defRPr/>
            </a:pPr>
            <a:r>
              <a:rPr lang="en-US" dirty="0" smtClean="0"/>
              <a:t>Functions of a DBMS cont’d.</a:t>
            </a:r>
            <a:endParaRPr lang="en-US" dirty="0" smtClean="0"/>
          </a:p>
        </p:txBody>
      </p:sp>
      <p:sp>
        <p:nvSpPr>
          <p:cNvPr id="58370" name="Content Placeholder 2"/>
          <p:cNvSpPr>
            <a:spLocks noGrp="1"/>
          </p:cNvSpPr>
          <p:nvPr>
            <p:ph idx="1"/>
          </p:nvPr>
        </p:nvSpPr>
        <p:spPr>
          <a:xfrm>
            <a:off x="457200" y="1481138"/>
            <a:ext cx="8229600" cy="4767262"/>
          </a:xfrm>
        </p:spPr>
        <p:txBody>
          <a:bodyPr>
            <a:normAutofit/>
          </a:bodyPr>
          <a:lstStyle/>
          <a:p>
            <a:pPr eaLnBrk="1" hangingPunct="1">
              <a:defRPr/>
            </a:pPr>
            <a:r>
              <a:rPr lang="en-US" dirty="0" smtClean="0"/>
              <a:t>It provides controlled access to the database e.g. it may provide;         </a:t>
            </a:r>
            <a:endParaRPr lang="en-US" dirty="0" smtClean="0"/>
          </a:p>
          <a:p>
            <a:pPr marL="623570" indent="-514350" algn="just" eaLnBrk="1" hangingPunct="1">
              <a:buFont typeface="+mj-lt"/>
              <a:buAutoNum type="arabicPeriod"/>
              <a:defRPr/>
            </a:pPr>
            <a:r>
              <a:rPr lang="en-US" dirty="0" smtClean="0"/>
              <a:t>- a security system, which prevents unauthorized users from accessing the database                                                  </a:t>
            </a:r>
            <a:endParaRPr lang="en-US" dirty="0" smtClean="0"/>
          </a:p>
          <a:p>
            <a:pPr marL="623570" indent="-514350" algn="just" eaLnBrk="1" hangingPunct="1">
              <a:buFont typeface="+mj-lt"/>
              <a:buAutoNum type="arabicPeriod"/>
              <a:defRPr/>
            </a:pPr>
            <a:r>
              <a:rPr lang="en-US" dirty="0" smtClean="0"/>
              <a:t>- an integrity system, which maintains the consistency of stored data (entity integrity, referential integrity, and domain integrity) </a:t>
            </a:r>
            <a:endParaRPr lang="en-US" dirty="0" smtClean="0"/>
          </a:p>
          <a:p>
            <a:pPr marL="623570" indent="-514350" algn="just" eaLnBrk="1" hangingPunct="1">
              <a:buFont typeface="+mj-lt"/>
              <a:buAutoNum type="arabicPeriod"/>
              <a:defRPr/>
            </a:pPr>
            <a:r>
              <a:rPr lang="en-US" dirty="0" smtClean="0"/>
              <a:t>- a concurrency control system, which allows shared access to the database                    </a:t>
            </a:r>
            <a:endParaRPr lang="en-US" dirty="0" smtClean="0"/>
          </a:p>
          <a:p>
            <a:pPr marL="623570" indent="-514350" algn="just" eaLnBrk="1" hangingPunct="1">
              <a:buFont typeface="+mj-lt"/>
              <a:buAutoNum type="arabicPeriod"/>
              <a:defRPr/>
            </a:pPr>
            <a:r>
              <a:rPr lang="en-US" dirty="0" smtClean="0"/>
              <a:t>- a user-accessible catalog/register, which contains description of data in the database </a:t>
            </a:r>
            <a:endParaRPr lang="en-US" dirty="0" smtClean="0"/>
          </a:p>
          <a:p>
            <a:pPr eaLnBrk="1" hangingPunct="1">
              <a:defRPr/>
            </a:pPr>
            <a:endParaRPr lang="en-US" dirty="0" smtClean="0"/>
          </a:p>
        </p:txBody>
      </p:sp>
      <p:sp>
        <p:nvSpPr>
          <p:cNvPr id="4" name="Date Placeholder 3"/>
          <p:cNvSpPr>
            <a:spLocks noGrp="1"/>
          </p:cNvSpPr>
          <p:nvPr>
            <p:ph type="dt" sz="half" idx="10"/>
          </p:nvPr>
        </p:nvSpPr>
        <p:spPr/>
        <p:txBody>
          <a:bodyPr/>
          <a:lstStyle/>
          <a:p>
            <a:pPr>
              <a:defRPr/>
            </a:pPr>
            <a:fld id="{752A085D-F39F-4E53-B04B-81FADF670460}"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normAutofit fontScale="90000"/>
          </a:bodyPr>
          <a:lstStyle/>
          <a:p>
            <a:pPr eaLnBrk="1" fontAlgn="auto" hangingPunct="1">
              <a:spcAft>
                <a:spcPts val="0"/>
              </a:spcAft>
              <a:defRPr/>
            </a:pPr>
            <a:r>
              <a:rPr lang="en-US" dirty="0" smtClean="0"/>
              <a:t>Components of a </a:t>
            </a:r>
            <a:r>
              <a:rPr lang="en-US" dirty="0" smtClean="0"/>
              <a:t>DBMS environment</a:t>
            </a:r>
            <a:endParaRPr lang="en-US" dirty="0" smtClean="0"/>
          </a:p>
        </p:txBody>
      </p:sp>
      <p:sp>
        <p:nvSpPr>
          <p:cNvPr id="59394" name="Content Placeholder 2"/>
          <p:cNvSpPr>
            <a:spLocks noGrp="1"/>
          </p:cNvSpPr>
          <p:nvPr>
            <p:ph idx="1"/>
          </p:nvPr>
        </p:nvSpPr>
        <p:spPr/>
        <p:txBody>
          <a:bodyPr/>
          <a:lstStyle/>
          <a:p>
            <a:pPr eaLnBrk="1" hangingPunct="1">
              <a:buFont typeface="Arial" panose="020B0604020202020204" pitchFamily="34" charset="0"/>
              <a:buNone/>
            </a:pPr>
            <a:endParaRPr lang="en-US" dirty="0" smtClean="0"/>
          </a:p>
          <a:p>
            <a:pPr eaLnBrk="1" hangingPunct="1"/>
            <a:r>
              <a:rPr lang="en-US" dirty="0" smtClean="0"/>
              <a:t>Components of a DBMS are identified as;</a:t>
            </a:r>
            <a:endParaRPr lang="en-US" dirty="0" smtClean="0"/>
          </a:p>
          <a:p>
            <a:pPr marL="849630" lvl="1" indent="-457200" eaLnBrk="1" hangingPunct="1">
              <a:buFont typeface="Lucida Sans Unicode" panose="020B0602030504020204" pitchFamily="34" charset="0"/>
              <a:buAutoNum type="arabicPeriod"/>
            </a:pPr>
            <a:r>
              <a:rPr lang="en-US" dirty="0" smtClean="0"/>
              <a:t>Hardware, </a:t>
            </a:r>
            <a:endParaRPr lang="en-US" dirty="0" smtClean="0"/>
          </a:p>
          <a:p>
            <a:pPr marL="849630" lvl="1" indent="-457200" eaLnBrk="1" hangingPunct="1">
              <a:buFont typeface="Lucida Sans Unicode" panose="020B0602030504020204" pitchFamily="34" charset="0"/>
              <a:buAutoNum type="arabicPeriod"/>
            </a:pPr>
            <a:r>
              <a:rPr lang="en-US" dirty="0" smtClean="0"/>
              <a:t>Software, </a:t>
            </a:r>
            <a:endParaRPr lang="en-US" dirty="0" smtClean="0"/>
          </a:p>
          <a:p>
            <a:pPr marL="849630" lvl="1" indent="-457200" eaLnBrk="1" hangingPunct="1">
              <a:buFont typeface="Lucida Sans Unicode" panose="020B0602030504020204" pitchFamily="34" charset="0"/>
              <a:buAutoNum type="arabicPeriod"/>
            </a:pPr>
            <a:r>
              <a:rPr lang="en-US" dirty="0" smtClean="0"/>
              <a:t>Data, </a:t>
            </a:r>
            <a:endParaRPr lang="en-US" dirty="0" smtClean="0"/>
          </a:p>
          <a:p>
            <a:pPr marL="849630" lvl="1" indent="-457200" eaLnBrk="1" hangingPunct="1">
              <a:buFont typeface="Lucida Sans Unicode" panose="020B0602030504020204" pitchFamily="34" charset="0"/>
              <a:buAutoNum type="arabicPeriod"/>
            </a:pPr>
            <a:r>
              <a:rPr lang="en-US" dirty="0" smtClean="0"/>
              <a:t>Procedures, and </a:t>
            </a:r>
            <a:endParaRPr lang="en-US" dirty="0" smtClean="0"/>
          </a:p>
          <a:p>
            <a:pPr marL="849630" lvl="1" indent="-457200" eaLnBrk="1" hangingPunct="1">
              <a:buFont typeface="Lucida Sans Unicode" panose="020B0602030504020204" pitchFamily="34" charset="0"/>
              <a:buAutoNum type="arabicPeriod"/>
            </a:pPr>
            <a:r>
              <a:rPr lang="en-US" dirty="0" smtClean="0"/>
              <a:t>People.         </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A85B91C6-09F7-4CF1-9EC6-0C5CEB23B3AC}"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2087562"/>
          </a:xfrm>
        </p:spPr>
        <p:txBody>
          <a:bodyPr>
            <a:noAutofit/>
          </a:bodyPr>
          <a:lstStyle/>
          <a:p>
            <a:pPr algn="ctr" eaLnBrk="1" fontAlgn="auto" hangingPunct="1">
              <a:spcAft>
                <a:spcPts val="0"/>
              </a:spcAft>
              <a:defRPr/>
            </a:pPr>
            <a:r>
              <a:rPr lang="en-US" sz="2400" dirty="0" smtClean="0"/>
              <a:t>ILLUSTRATION OF THE COMPONENTS OF A DBMS ENVIRONMENT</a:t>
            </a:r>
            <a:br>
              <a:rPr lang="en-US" sz="2400" dirty="0" smtClean="0"/>
            </a:br>
            <a:endParaRPr lang="en-US" sz="2400" dirty="0"/>
          </a:p>
        </p:txBody>
      </p:sp>
      <p:pic>
        <p:nvPicPr>
          <p:cNvPr id="60418" name="Content Placeholder 3"/>
          <p:cNvPicPr>
            <a:picLocks noGrp="1"/>
          </p:cNvPicPr>
          <p:nvPr>
            <p:ph idx="1"/>
          </p:nvPr>
        </p:nvPicPr>
        <p:blipFill>
          <a:blip r:embed="rId1"/>
          <a:stretch>
            <a:fillRect/>
          </a:stretch>
        </p:blipFill>
        <p:spPr>
          <a:xfrm>
            <a:off x="1176338" y="3465044"/>
            <a:ext cx="6799262" cy="1496362"/>
          </a:xfrm>
          <a:solidFill>
            <a:srgbClr val="FFFFFF"/>
          </a:solidFill>
        </p:spPr>
      </p:pic>
      <p:sp>
        <p:nvSpPr>
          <p:cNvPr id="4" name="Date Placeholder 3"/>
          <p:cNvSpPr>
            <a:spLocks noGrp="1"/>
          </p:cNvSpPr>
          <p:nvPr>
            <p:ph type="dt" sz="half" idx="10"/>
          </p:nvPr>
        </p:nvSpPr>
        <p:spPr/>
        <p:txBody>
          <a:bodyPr/>
          <a:lstStyle/>
          <a:p>
            <a:pPr>
              <a:defRPr/>
            </a:pPr>
            <a:fld id="{06AB6D14-F060-4640-9D75-0D067197ECD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fontAlgn="auto" hangingPunct="1">
              <a:spcAft>
                <a:spcPts val="0"/>
              </a:spcAft>
              <a:defRPr/>
            </a:pPr>
            <a:r>
              <a:rPr lang="en-US" smtClean="0"/>
              <a:t>Components of a DBMS</a:t>
            </a:r>
            <a:endParaRPr lang="en-US" smtClean="0"/>
          </a:p>
        </p:txBody>
      </p:sp>
      <p:sp>
        <p:nvSpPr>
          <p:cNvPr id="3" name="Content Placeholder 2"/>
          <p:cNvSpPr>
            <a:spLocks noGrp="1"/>
          </p:cNvSpPr>
          <p:nvPr>
            <p:ph idx="1"/>
          </p:nvPr>
        </p:nvSpPr>
        <p:spPr/>
        <p:txBody>
          <a:bodyPr rtlCol="0">
            <a:normAutofit fontScale="92500" lnSpcReduction="20000"/>
          </a:bodyPr>
          <a:lstStyle/>
          <a:p>
            <a:pPr marL="274320" indent="-274320" algn="just" eaLnBrk="1" fontAlgn="auto" hangingPunct="1">
              <a:spcAft>
                <a:spcPts val="0"/>
              </a:spcAft>
              <a:buClr>
                <a:schemeClr val="accent3"/>
              </a:buClr>
              <a:buFont typeface="Arial" panose="020B0604020202020204" pitchFamily="34" charset="0"/>
              <a:buChar char="•"/>
              <a:defRPr/>
            </a:pPr>
            <a:r>
              <a:rPr lang="en-US" b="1" dirty="0" smtClean="0"/>
              <a:t>Hardware</a:t>
            </a:r>
            <a:r>
              <a:rPr lang="en-US" dirty="0" smtClean="0"/>
              <a:t>: The database requires computer hardware to run. The hardware can range from a single Personal Computer to a network of computers. The hardware depends on the organization’s information requirements and the DBMS used.</a:t>
            </a:r>
            <a:endParaRPr lang="en-US" dirty="0" smtClean="0"/>
          </a:p>
          <a:p>
            <a:pPr marL="274320" indent="-274320" algn="just" eaLnBrk="1" fontAlgn="auto" hangingPunct="1">
              <a:spcAft>
                <a:spcPts val="0"/>
              </a:spcAft>
              <a:buClr>
                <a:schemeClr val="accent3"/>
              </a:buClr>
              <a:buFont typeface="Arial" panose="020B0604020202020204" pitchFamily="34" charset="0"/>
              <a:buChar char="•"/>
              <a:defRPr/>
            </a:pPr>
            <a:r>
              <a:rPr lang="en-US" b="1" dirty="0" smtClean="0"/>
              <a:t>Software: </a:t>
            </a:r>
            <a:r>
              <a:rPr lang="en-US" dirty="0" smtClean="0"/>
              <a:t>The software component comprises of the DBMS itself, together</a:t>
            </a:r>
            <a:r>
              <a:rPr lang="en-US" b="1" dirty="0" smtClean="0"/>
              <a:t> </a:t>
            </a:r>
            <a:r>
              <a:rPr lang="en-US" dirty="0" smtClean="0"/>
              <a:t>with the operating system, including network software if the DBMS is to be used on a network.</a:t>
            </a:r>
            <a:endParaRPr lang="en-US" dirty="0" smtClean="0"/>
          </a:p>
          <a:p>
            <a:pPr marL="274320" indent="-274320" algn="just" eaLnBrk="1" fontAlgn="auto" hangingPunct="1">
              <a:spcAft>
                <a:spcPts val="0"/>
              </a:spcAft>
              <a:buClr>
                <a:schemeClr val="accent3"/>
              </a:buClr>
              <a:buFont typeface="Arial" panose="020B0604020202020204" pitchFamily="34" charset="0"/>
              <a:buChar char="•"/>
              <a:defRPr/>
            </a:pPr>
            <a:r>
              <a:rPr lang="en-US" b="1" dirty="0" smtClean="0"/>
              <a:t>Data:</a:t>
            </a:r>
            <a:r>
              <a:rPr lang="en-US" dirty="0" smtClean="0"/>
              <a:t> From the end user’s point of view, data is the most important component of a DBMS environment. This includes both operational data and meta data. </a:t>
            </a:r>
            <a:endParaRPr lang="en-US" dirty="0" smtClean="0"/>
          </a:p>
          <a:p>
            <a:pPr marL="274320" indent="-274320" eaLnBrk="1" fontAlgn="auto" hangingPunct="1">
              <a:spcAft>
                <a:spcPts val="0"/>
              </a:spcAft>
              <a:buClr>
                <a:schemeClr val="accent3"/>
              </a:buClr>
              <a:buFont typeface="Arial" panose="020B0604020202020204" pitchFamily="34" charset="0"/>
              <a:buNone/>
              <a:defRPr/>
            </a:pPr>
            <a:endParaRPr lang="en-US" dirty="0" smtClean="0"/>
          </a:p>
          <a:p>
            <a:pPr marL="274320" indent="-274320" eaLnBrk="1" fontAlgn="auto" hangingPunct="1">
              <a:spcAft>
                <a:spcPts val="0"/>
              </a:spcAft>
              <a:buClr>
                <a:schemeClr val="accent3"/>
              </a:buClr>
              <a:buFont typeface="Arial" panose="020B0604020202020204" pitchFamily="34" charset="0"/>
              <a:buNone/>
              <a:defRPr/>
            </a:pPr>
            <a:endParaRPr lang="en-US" dirty="0" smtClean="0"/>
          </a:p>
          <a:p>
            <a:pPr marL="274320" indent="-274320" eaLnBrk="1" fontAlgn="auto" hangingPunct="1">
              <a:spcAft>
                <a:spcPts val="0"/>
              </a:spcAft>
              <a:buClr>
                <a:schemeClr val="accent3"/>
              </a:buClr>
              <a:buFont typeface="Arial" panose="020B0604020202020204" pitchFamily="34" charset="0"/>
              <a:buNone/>
              <a:defRPr/>
            </a:pPr>
            <a:endParaRPr lang="en-US" dirty="0" smtClean="0"/>
          </a:p>
        </p:txBody>
      </p:sp>
      <p:sp>
        <p:nvSpPr>
          <p:cNvPr id="4" name="Date Placeholder 3"/>
          <p:cNvSpPr>
            <a:spLocks noGrp="1"/>
          </p:cNvSpPr>
          <p:nvPr>
            <p:ph type="dt" sz="half" idx="10"/>
          </p:nvPr>
        </p:nvSpPr>
        <p:spPr/>
        <p:txBody>
          <a:bodyPr/>
          <a:lstStyle/>
          <a:p>
            <a:pPr>
              <a:defRPr/>
            </a:pPr>
            <a:fld id="{27B25D0E-6283-47E4-92B5-9A4A7A9ABA04}"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fontAlgn="auto" hangingPunct="1">
              <a:spcAft>
                <a:spcPts val="0"/>
              </a:spcAft>
              <a:defRPr/>
            </a:pPr>
            <a:r>
              <a:rPr lang="en-US" smtClean="0"/>
              <a:t>Components of a DBMS</a:t>
            </a:r>
            <a:endParaRPr lang="en-US" smtClean="0"/>
          </a:p>
        </p:txBody>
      </p:sp>
      <p:sp>
        <p:nvSpPr>
          <p:cNvPr id="62466" name="Content Placeholder 2"/>
          <p:cNvSpPr>
            <a:spLocks noGrp="1"/>
          </p:cNvSpPr>
          <p:nvPr>
            <p:ph idx="1"/>
          </p:nvPr>
        </p:nvSpPr>
        <p:spPr/>
        <p:txBody>
          <a:bodyPr>
            <a:normAutofit lnSpcReduction="10000"/>
          </a:bodyPr>
          <a:lstStyle/>
          <a:p>
            <a:pPr algn="just" eaLnBrk="1" hangingPunct="1">
              <a:defRPr/>
            </a:pPr>
            <a:r>
              <a:rPr lang="en-US" b="1" dirty="0" smtClean="0"/>
              <a:t>Procedures: </a:t>
            </a:r>
            <a:r>
              <a:rPr lang="en-US" dirty="0" smtClean="0"/>
              <a:t>These are instructions and rules that govern the design and use of the database. Database users require documented procedures on how to use and run the database system. Such procedures may consist of instructions on how to:</a:t>
            </a:r>
            <a:endParaRPr lang="en-US" dirty="0" smtClean="0"/>
          </a:p>
          <a:p>
            <a:pPr marL="623570" indent="-514350" eaLnBrk="1" hangingPunct="1">
              <a:buFont typeface="+mj-lt"/>
              <a:buAutoNum type="arabicPeriod"/>
              <a:defRPr/>
            </a:pPr>
            <a:r>
              <a:rPr lang="en-US" dirty="0" smtClean="0"/>
              <a:t>- log on the DBMS</a:t>
            </a:r>
            <a:endParaRPr lang="en-US" dirty="0" smtClean="0"/>
          </a:p>
          <a:p>
            <a:pPr marL="623570" indent="-514350" eaLnBrk="1" hangingPunct="1">
              <a:buFont typeface="+mj-lt"/>
              <a:buAutoNum type="arabicPeriod"/>
              <a:defRPr/>
            </a:pPr>
            <a:r>
              <a:rPr lang="en-US" dirty="0" smtClean="0"/>
              <a:t>- start/stop the DBMS</a:t>
            </a:r>
            <a:endParaRPr lang="en-US" dirty="0" smtClean="0"/>
          </a:p>
          <a:p>
            <a:pPr marL="623570" indent="-514350" eaLnBrk="1" hangingPunct="1">
              <a:buFont typeface="+mj-lt"/>
              <a:buAutoNum type="arabicPeriod"/>
              <a:defRPr/>
            </a:pPr>
            <a:r>
              <a:rPr lang="en-US" dirty="0" smtClean="0"/>
              <a:t>- make backup copies of the database etc</a:t>
            </a:r>
            <a:endParaRPr lang="en-US" dirty="0" smtClean="0"/>
          </a:p>
          <a:p>
            <a:pPr eaLnBrk="1" hangingPunct="1">
              <a:defRPr/>
            </a:pPr>
            <a:endParaRPr lang="en-US" dirty="0" smtClean="0"/>
          </a:p>
        </p:txBody>
      </p:sp>
      <p:sp>
        <p:nvSpPr>
          <p:cNvPr id="4" name="Date Placeholder 3"/>
          <p:cNvSpPr>
            <a:spLocks noGrp="1"/>
          </p:cNvSpPr>
          <p:nvPr>
            <p:ph type="dt" sz="half" idx="10"/>
          </p:nvPr>
        </p:nvSpPr>
        <p:spPr/>
        <p:txBody>
          <a:bodyPr/>
          <a:lstStyle/>
          <a:p>
            <a:pPr>
              <a:defRPr/>
            </a:pPr>
            <a:fld id="{F4F0C1AA-5C57-4BA5-BCC6-686E32F3CBF1}"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algn="ctr" eaLnBrk="1" fontAlgn="auto" hangingPunct="1">
              <a:spcAft>
                <a:spcPts val="0"/>
              </a:spcAft>
              <a:defRPr/>
            </a:pPr>
            <a:r>
              <a:rPr lang="en-US" dirty="0" smtClean="0"/>
              <a:t>Components of a DBMS</a:t>
            </a:r>
            <a:endParaRPr lang="en-US" dirty="0" smtClean="0"/>
          </a:p>
        </p:txBody>
      </p:sp>
      <p:sp>
        <p:nvSpPr>
          <p:cNvPr id="63490" name="Content Placeholder 2"/>
          <p:cNvSpPr>
            <a:spLocks noGrp="1"/>
          </p:cNvSpPr>
          <p:nvPr>
            <p:ph idx="1"/>
          </p:nvPr>
        </p:nvSpPr>
        <p:spPr/>
        <p:txBody>
          <a:bodyPr>
            <a:normAutofit fontScale="92500" lnSpcReduction="10000"/>
          </a:bodyPr>
          <a:lstStyle/>
          <a:p>
            <a:pPr algn="just" eaLnBrk="1" hangingPunct="1">
              <a:defRPr/>
            </a:pPr>
            <a:r>
              <a:rPr lang="en-US" b="1" dirty="0" smtClean="0"/>
              <a:t>People</a:t>
            </a:r>
            <a:r>
              <a:rPr lang="en-US" dirty="0" smtClean="0"/>
              <a:t>: These are users of the database and they are in the following three categories</a:t>
            </a:r>
            <a:endParaRPr lang="en-US" dirty="0" smtClean="0"/>
          </a:p>
          <a:p>
            <a:pPr marL="623570" indent="-514350" algn="just" eaLnBrk="1" hangingPunct="1">
              <a:buFont typeface="+mj-lt"/>
              <a:buAutoNum type="arabicPeriod"/>
              <a:defRPr/>
            </a:pPr>
            <a:r>
              <a:rPr lang="en-US" dirty="0" smtClean="0"/>
              <a:t>Programmers; responsible for developing the database and writing the application programs that use the database</a:t>
            </a:r>
            <a:endParaRPr lang="en-US" dirty="0" smtClean="0"/>
          </a:p>
          <a:p>
            <a:pPr marL="623570" indent="-514350" algn="just" eaLnBrk="1" hangingPunct="1">
              <a:buFont typeface="+mj-lt"/>
              <a:buAutoNum type="arabicPeriod"/>
              <a:defRPr/>
            </a:pPr>
            <a:r>
              <a:rPr lang="en-US" dirty="0" smtClean="0"/>
              <a:t>End Users; these access and alter data from database terminals</a:t>
            </a:r>
            <a:endParaRPr lang="en-US" dirty="0" smtClean="0"/>
          </a:p>
          <a:p>
            <a:pPr marL="623570" indent="-514350" algn="just" eaLnBrk="1" hangingPunct="1">
              <a:buFont typeface="+mj-lt"/>
              <a:buAutoNum type="arabicPeriod"/>
              <a:defRPr/>
            </a:pPr>
            <a:r>
              <a:rPr lang="en-US" dirty="0" smtClean="0"/>
              <a:t>Database administrators; responsible for real control of the database</a:t>
            </a:r>
            <a:endParaRPr lang="en-US" dirty="0" smtClean="0"/>
          </a:p>
          <a:p>
            <a:pPr eaLnBrk="1" hangingPunct="1">
              <a:defRPr/>
            </a:pPr>
            <a:endParaRPr lang="en-US" dirty="0" smtClean="0"/>
          </a:p>
        </p:txBody>
      </p:sp>
      <p:sp>
        <p:nvSpPr>
          <p:cNvPr id="4" name="Date Placeholder 3"/>
          <p:cNvSpPr>
            <a:spLocks noGrp="1"/>
          </p:cNvSpPr>
          <p:nvPr>
            <p:ph type="dt" sz="half" idx="10"/>
          </p:nvPr>
        </p:nvSpPr>
        <p:spPr/>
        <p:txBody>
          <a:bodyPr/>
          <a:lstStyle/>
          <a:p>
            <a:pPr>
              <a:defRPr/>
            </a:pPr>
            <a:fld id="{69B0F950-4532-4A37-B0CE-8110CAC476C5}"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524000"/>
          </a:xfrm>
        </p:spPr>
        <p:txBody>
          <a:bodyPr/>
          <a:lstStyle/>
          <a:p>
            <a:pPr eaLnBrk="1" fontAlgn="auto" hangingPunct="1">
              <a:spcAft>
                <a:spcPts val="0"/>
              </a:spcAft>
              <a:defRPr/>
            </a:pPr>
            <a:r>
              <a:rPr lang="en-US" dirty="0" smtClean="0"/>
              <a:t>Components  (cont’d)</a:t>
            </a:r>
            <a:endParaRPr lang="en-US" dirty="0" smtClean="0"/>
          </a:p>
        </p:txBody>
      </p:sp>
      <p:sp>
        <p:nvSpPr>
          <p:cNvPr id="64514" name="Content Placeholder 2"/>
          <p:cNvSpPr>
            <a:spLocks noGrp="1"/>
          </p:cNvSpPr>
          <p:nvPr>
            <p:ph idx="1"/>
          </p:nvPr>
        </p:nvSpPr>
        <p:spPr/>
        <p:txBody>
          <a:bodyPr>
            <a:normAutofit/>
          </a:bodyPr>
          <a:lstStyle/>
          <a:p>
            <a:pPr algn="just" eaLnBrk="1" hangingPunct="1"/>
            <a:r>
              <a:rPr lang="en-US" dirty="0" smtClean="0"/>
              <a:t>Users of the database communicate their requirements to the database using Data Definition Language (DDL) and Data Manipulation Languages (DML). </a:t>
            </a:r>
            <a:endParaRPr lang="en-US" dirty="0" smtClean="0"/>
          </a:p>
          <a:p>
            <a:pPr algn="just" eaLnBrk="1" hangingPunct="1"/>
            <a:endParaRPr lang="en-US" dirty="0" smtClean="0"/>
          </a:p>
          <a:p>
            <a:pPr algn="just" eaLnBrk="1" hangingPunct="1"/>
            <a:r>
              <a:rPr lang="en-US" dirty="0" smtClean="0"/>
              <a:t>Generally, the DBMS provides an interface between the user’s programs and the contents of the database.</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C6EF9421-5B29-4CD1-B363-B79F62D9FEA7}"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DBMS Interfaces</a:t>
            </a:r>
            <a:br>
              <a:rPr lang="en-US" dirty="0" smtClean="0"/>
            </a:br>
            <a:endParaRPr lang="en-US" dirty="0" smtClean="0"/>
          </a:p>
        </p:txBody>
      </p:sp>
      <p:sp>
        <p:nvSpPr>
          <p:cNvPr id="65538" name="Content Placeholder 2"/>
          <p:cNvSpPr>
            <a:spLocks noGrp="1"/>
          </p:cNvSpPr>
          <p:nvPr>
            <p:ph idx="1"/>
          </p:nvPr>
        </p:nvSpPr>
        <p:spPr/>
        <p:txBody>
          <a:bodyPr>
            <a:normAutofit lnSpcReduction="10000"/>
          </a:bodyPr>
          <a:lstStyle/>
          <a:p>
            <a:pPr algn="just" eaLnBrk="1" hangingPunct="1"/>
            <a:r>
              <a:rPr lang="en-US" smtClean="0"/>
              <a:t>When you are using a basic command-line DBMS such as Oracle, and MySql, external development are required to build application programs which can be used to access the database. E.g. u can use Visual Basic to create the application, and use the database for storage.</a:t>
            </a:r>
            <a:endParaRPr lang="en-US" smtClean="0"/>
          </a:p>
          <a:p>
            <a:pPr algn="just" eaLnBrk="1" hangingPunct="1"/>
            <a:r>
              <a:rPr lang="en-US" smtClean="0"/>
              <a:t>However, there are graphical DBMS such as Access which has a built-in application for building its own interfaces.</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0E419922-3A71-4005-84BE-B9DE5708DC5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br>
              <a:rPr lang="en-US" dirty="0" smtClean="0"/>
            </a:br>
            <a:r>
              <a:rPr lang="en-US" dirty="0" smtClean="0"/>
              <a:t>DBMS ARCHITECTURE/DESIGN</a:t>
            </a:r>
            <a:br>
              <a:rPr lang="en-US" dirty="0" smtClean="0"/>
            </a:br>
            <a:endParaRPr lang="en-US" dirty="0" smtClean="0"/>
          </a:p>
        </p:txBody>
      </p:sp>
      <p:sp>
        <p:nvSpPr>
          <p:cNvPr id="57347" name="Content Placeholder 2"/>
          <p:cNvSpPr>
            <a:spLocks noGrp="1"/>
          </p:cNvSpPr>
          <p:nvPr>
            <p:ph idx="1"/>
          </p:nvPr>
        </p:nvSpPr>
        <p:spPr/>
        <p:txBody>
          <a:bodyPr>
            <a:normAutofit/>
          </a:bodyPr>
          <a:lstStyle/>
          <a:p>
            <a:pPr marL="365760" indent="-255905" algn="just">
              <a:buFont typeface="Wingdings 3" panose="05040102010807070707"/>
              <a:buChar char=""/>
              <a:defRPr/>
            </a:pPr>
            <a:r>
              <a:rPr lang="en-US" sz="3600" dirty="0" smtClean="0"/>
              <a:t>A DBMS is divided into 3 levels, usually referred to as:</a:t>
            </a:r>
            <a:endParaRPr lang="en-US" sz="3600" dirty="0" smtClean="0"/>
          </a:p>
          <a:p>
            <a:pPr marL="365760" indent="-255905" algn="just" eaLnBrk="1" fontAlgn="auto" hangingPunct="1">
              <a:spcAft>
                <a:spcPts val="0"/>
              </a:spcAft>
              <a:buNone/>
              <a:defRPr/>
            </a:pPr>
            <a:endParaRPr lang="en-US" sz="3600" dirty="0" smtClean="0"/>
          </a:p>
          <a:p>
            <a:pPr marL="765810" lvl="1" indent="-255905" algn="just">
              <a:buFont typeface="Wingdings 3" panose="05040102010807070707"/>
              <a:buChar char=""/>
              <a:defRPr/>
            </a:pPr>
            <a:r>
              <a:rPr lang="en-US" b="1" dirty="0" smtClean="0"/>
              <a:t>external level, </a:t>
            </a:r>
            <a:endParaRPr lang="en-US" b="1" dirty="0"/>
          </a:p>
          <a:p>
            <a:pPr marL="765810" lvl="1" indent="-255905" algn="just">
              <a:buFont typeface="Wingdings 3" panose="05040102010807070707"/>
              <a:buChar char=""/>
              <a:defRPr/>
            </a:pPr>
            <a:r>
              <a:rPr lang="en-US" b="1" dirty="0" smtClean="0"/>
              <a:t>internal level and </a:t>
            </a:r>
            <a:endParaRPr lang="en-US" b="1" dirty="0" smtClean="0"/>
          </a:p>
          <a:p>
            <a:pPr marL="765810" lvl="1" indent="-255905" algn="just">
              <a:buFont typeface="Wingdings 3" panose="05040102010807070707"/>
              <a:buChar char=""/>
              <a:defRPr/>
            </a:pPr>
            <a:r>
              <a:rPr lang="en-US" b="1" dirty="0" smtClean="0"/>
              <a:t>the conceptual level.</a:t>
            </a:r>
            <a:endParaRPr lang="en-US" b="1" dirty="0" smtClean="0"/>
          </a:p>
          <a:p>
            <a:pPr marL="365760" indent="-255905" eaLnBrk="1" fontAlgn="auto" hangingPunct="1">
              <a:spcAft>
                <a:spcPts val="0"/>
              </a:spcAft>
              <a:buFont typeface="Wingdings 3" panose="05040102010807070707"/>
              <a:buChar char=""/>
              <a:defRPr/>
            </a:pPr>
            <a:endParaRPr lang="en-US" dirty="0" smtClean="0"/>
          </a:p>
        </p:txBody>
      </p:sp>
      <p:sp>
        <p:nvSpPr>
          <p:cNvPr id="4" name="Date Placeholder 3"/>
          <p:cNvSpPr>
            <a:spLocks noGrp="1"/>
          </p:cNvSpPr>
          <p:nvPr>
            <p:ph type="dt" sz="half" idx="10"/>
          </p:nvPr>
        </p:nvSpPr>
        <p:spPr/>
        <p:txBody>
          <a:bodyPr/>
          <a:lstStyle/>
          <a:p>
            <a:pPr>
              <a:defRPr/>
            </a:pPr>
            <a:fld id="{A120694D-BA2B-43B2-AB99-955E40109F8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722530"/>
            <a:ext cx="8839200" cy="344269"/>
          </a:xfrm>
        </p:spPr>
        <p:txBody>
          <a:bodyPr>
            <a:noAutofit/>
          </a:bodyPr>
          <a:lstStyle/>
          <a:p>
            <a:pPr algn="ctr">
              <a:defRPr/>
            </a:pPr>
            <a:r>
              <a:rPr lang="en-US" sz="2000" dirty="0" smtClean="0"/>
              <a:t>ILLUSTRATION OF THE ANSI-SPAC THREE-LEVEL ARCHITECTURE</a:t>
            </a:r>
            <a:br>
              <a:rPr lang="en-US" sz="2000" dirty="0" smtClean="0"/>
            </a:br>
            <a:endParaRPr lang="en-US" sz="2000" dirty="0"/>
          </a:p>
        </p:txBody>
      </p:sp>
      <p:pic>
        <p:nvPicPr>
          <p:cNvPr id="68611" name="Content Placeholder 3"/>
          <p:cNvPicPr>
            <a:picLocks noGrp="1"/>
          </p:cNvPicPr>
          <p:nvPr>
            <p:ph idx="1"/>
          </p:nvPr>
        </p:nvPicPr>
        <p:blipFill>
          <a:blip r:embed="rId1"/>
          <a:srcRect/>
          <a:stretch>
            <a:fillRect/>
          </a:stretch>
        </p:blipFill>
        <p:spPr>
          <a:xfrm>
            <a:off x="762000" y="914400"/>
            <a:ext cx="3810000" cy="4038600"/>
          </a:xfrm>
          <a:solidFill>
            <a:srgbClr val="FFFFFF"/>
          </a:solidFill>
        </p:spPr>
      </p:pic>
      <p:sp>
        <p:nvSpPr>
          <p:cNvPr id="8" name="Date Placeholder 7"/>
          <p:cNvSpPr>
            <a:spLocks noGrp="1"/>
          </p:cNvSpPr>
          <p:nvPr>
            <p:ph type="dt" sz="half" idx="10"/>
          </p:nvPr>
        </p:nvSpPr>
        <p:spPr/>
        <p:txBody>
          <a:bodyPr/>
          <a:lstStyle/>
          <a:p>
            <a:pPr>
              <a:defRPr/>
            </a:pPr>
            <a:fld id="{D4A26160-9C5E-4E42-B85F-5F6D82022D98}" type="datetime1">
              <a:rPr lang="en-US" smtClean="0"/>
            </a:fld>
            <a:endParaRPr lang="en-US"/>
          </a:p>
        </p:txBody>
      </p:sp>
      <p:sp>
        <p:nvSpPr>
          <p:cNvPr id="10" name="Footer Placeholder 9"/>
          <p:cNvSpPr>
            <a:spLocks noGrp="1"/>
          </p:cNvSpPr>
          <p:nvPr>
            <p:ph type="ftr" sz="quarter" idx="11"/>
          </p:nvPr>
        </p:nvSpPr>
        <p:spPr/>
        <p:txBody>
          <a:bodyPr/>
          <a:lstStyle/>
          <a:p>
            <a:pPr>
              <a:defRPr/>
            </a:pPr>
            <a:r>
              <a:rPr lang="en-US" smtClean="0"/>
              <a:t>DB Systems Design I                   Edison Nkurunungi</a:t>
            </a:r>
            <a:endParaRPr lang="en-US"/>
          </a:p>
        </p:txBody>
      </p:sp>
      <p:sp>
        <p:nvSpPr>
          <p:cNvPr id="9" name="Slide Number Placeholder 8"/>
          <p:cNvSpPr>
            <a:spLocks noGrp="1"/>
          </p:cNvSpPr>
          <p:nvPr>
            <p:ph type="sldNum" sz="quarter" idx="12"/>
          </p:nvPr>
        </p:nvSpPr>
        <p:spPr/>
        <p:txBody>
          <a:bodyPr/>
          <a:lstStyle/>
          <a:p>
            <a:pPr>
              <a:defRPr/>
            </a:pPr>
            <a:fld id="{9777E5D8-A2A8-4788-B912-0ED7B3759917}" type="slidenum">
              <a:rPr lang="en-US" smtClean="0"/>
            </a:fld>
            <a:endParaRPr lang="en-US"/>
          </a:p>
        </p:txBody>
      </p:sp>
      <p:sp>
        <p:nvSpPr>
          <p:cNvPr id="4" name="TextBox 3"/>
          <p:cNvSpPr txBox="1"/>
          <p:nvPr/>
        </p:nvSpPr>
        <p:spPr>
          <a:xfrm>
            <a:off x="419100" y="5270599"/>
            <a:ext cx="8763000" cy="646331"/>
          </a:xfrm>
          <a:prstGeom prst="rect">
            <a:avLst/>
          </a:prstGeom>
          <a:noFill/>
        </p:spPr>
        <p:txBody>
          <a:bodyPr wrap="square" rtlCol="0">
            <a:spAutoFit/>
          </a:bodyPr>
          <a:lstStyle/>
          <a:p>
            <a:r>
              <a:rPr lang="en-US" b="1" i="1" dirty="0" smtClean="0"/>
              <a:t>Main Objective</a:t>
            </a:r>
            <a:r>
              <a:rPr lang="en-US" i="1" dirty="0" smtClean="0"/>
              <a:t>: separate each user’s view of the database from the way it is physically represented.</a:t>
            </a:r>
            <a:endParaRPr lang="en-US" i="1" dirty="0"/>
          </a:p>
        </p:txBody>
      </p:sp>
      <p:sp>
        <p:nvSpPr>
          <p:cNvPr id="5" name="TextBox 4"/>
          <p:cNvSpPr txBox="1"/>
          <p:nvPr/>
        </p:nvSpPr>
        <p:spPr>
          <a:xfrm>
            <a:off x="4572000" y="2286000"/>
            <a:ext cx="4038600" cy="646331"/>
          </a:xfrm>
          <a:prstGeom prst="rect">
            <a:avLst/>
          </a:prstGeom>
          <a:noFill/>
        </p:spPr>
        <p:txBody>
          <a:bodyPr wrap="square" rtlCol="0">
            <a:spAutoFit/>
          </a:bodyPr>
          <a:lstStyle/>
          <a:p>
            <a:r>
              <a:rPr lang="en-US" i="1" dirty="0" smtClean="0"/>
              <a:t>Mapping and independence between external and internal levels.</a:t>
            </a:r>
            <a:endParaRPr lang="en-US" dirty="0"/>
          </a:p>
        </p:txBody>
      </p:sp>
      <p:sp>
        <p:nvSpPr>
          <p:cNvPr id="6" name="TextBox 5"/>
          <p:cNvSpPr txBox="1"/>
          <p:nvPr/>
        </p:nvSpPr>
        <p:spPr>
          <a:xfrm>
            <a:off x="4572000" y="3352800"/>
            <a:ext cx="4038600" cy="646331"/>
          </a:xfrm>
          <a:prstGeom prst="rect">
            <a:avLst/>
          </a:prstGeom>
          <a:noFill/>
        </p:spPr>
        <p:txBody>
          <a:bodyPr wrap="square" rtlCol="0">
            <a:spAutoFit/>
          </a:bodyPr>
          <a:lstStyle/>
          <a:p>
            <a:r>
              <a:rPr lang="en-US" i="1" dirty="0" smtClean="0"/>
              <a:t>The way the DBMS and OS perceive the data.</a:t>
            </a:r>
            <a:endParaRPr lang="en-US" dirty="0"/>
          </a:p>
        </p:txBody>
      </p:sp>
      <p:sp>
        <p:nvSpPr>
          <p:cNvPr id="7" name="Rectangle 6"/>
          <p:cNvSpPr/>
          <p:nvPr/>
        </p:nvSpPr>
        <p:spPr>
          <a:xfrm>
            <a:off x="4648200" y="1295400"/>
            <a:ext cx="3886200" cy="646331"/>
          </a:xfrm>
          <a:prstGeom prst="rect">
            <a:avLst/>
          </a:prstGeom>
        </p:spPr>
        <p:txBody>
          <a:bodyPr wrap="square">
            <a:spAutoFit/>
          </a:bodyPr>
          <a:lstStyle/>
          <a:p>
            <a:r>
              <a:rPr lang="en-US" i="1" dirty="0" smtClean="0"/>
              <a:t>The way the users perceive the data.</a:t>
            </a:r>
            <a:endParaRPr lang="en-US" dirty="0"/>
          </a:p>
        </p:txBody>
      </p:sp>
    </p:spTree>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external level</a:t>
            </a:r>
            <a:endParaRPr lang="en-US" dirty="0"/>
          </a:p>
        </p:txBody>
      </p:sp>
      <p:sp>
        <p:nvSpPr>
          <p:cNvPr id="3" name="Content Placeholder 2"/>
          <p:cNvSpPr>
            <a:spLocks noGrp="1"/>
          </p:cNvSpPr>
          <p:nvPr>
            <p:ph idx="1"/>
          </p:nvPr>
        </p:nvSpPr>
        <p:spPr/>
        <p:txBody>
          <a:bodyPr/>
          <a:lstStyle/>
          <a:p>
            <a:pPr marL="365760" indent="-255905" algn="just">
              <a:buFont typeface="Wingdings 3" panose="05040102010807070707"/>
              <a:buChar char=""/>
              <a:defRPr/>
            </a:pPr>
            <a:r>
              <a:rPr lang="en-US" dirty="0" smtClean="0"/>
              <a:t>This </a:t>
            </a:r>
            <a:r>
              <a:rPr lang="en-US" dirty="0"/>
              <a:t>is the level closest to the users. It is the one concerned with the way data is seen by individual users.</a:t>
            </a:r>
            <a:endParaRPr lang="en-US" dirty="0"/>
          </a:p>
          <a:p>
            <a:pPr marL="365760" indent="-255905" algn="just">
              <a:buFont typeface="Wingdings 3" panose="05040102010807070707"/>
              <a:buChar char=""/>
              <a:defRPr/>
            </a:pPr>
            <a:r>
              <a:rPr lang="en-US" dirty="0"/>
              <a:t>The end user is presented with special </a:t>
            </a:r>
            <a:r>
              <a:rPr lang="en-US" b="1" dirty="0"/>
              <a:t>views</a:t>
            </a:r>
            <a:r>
              <a:rPr lang="en-US" dirty="0"/>
              <a:t> that are tailored to their specific needs. Some of these views may be forms to fill out, others for interactive retrieval of information, etc.</a:t>
            </a:r>
            <a:endParaRPr lang="en-US" dirty="0"/>
          </a:p>
          <a:p>
            <a:endParaRPr lang="en-US" dirty="0"/>
          </a:p>
        </p:txBody>
      </p:sp>
      <p:sp>
        <p:nvSpPr>
          <p:cNvPr id="4" name="Date Placeholder 3"/>
          <p:cNvSpPr>
            <a:spLocks noGrp="1"/>
          </p:cNvSpPr>
          <p:nvPr>
            <p:ph type="dt" sz="half" idx="10"/>
          </p:nvPr>
        </p:nvSpPr>
        <p:spPr/>
        <p:txBody>
          <a:bodyPr/>
          <a:lstStyle/>
          <a:p>
            <a:pPr>
              <a:defRPr/>
            </a:pPr>
            <a:fld id="{DB8AD614-53E5-4B51-A85C-9642A49BA569}"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External level….</a:t>
            </a:r>
            <a:endParaRPr lang="en-US" dirty="0"/>
          </a:p>
        </p:txBody>
      </p:sp>
      <p:sp>
        <p:nvSpPr>
          <p:cNvPr id="2" name="Content Placeholder 1"/>
          <p:cNvSpPr>
            <a:spLocks noGrp="1"/>
          </p:cNvSpPr>
          <p:nvPr>
            <p:ph idx="1"/>
          </p:nvPr>
        </p:nvSpPr>
        <p:spPr/>
        <p:txBody>
          <a:bodyPr>
            <a:normAutofit/>
          </a:bodyPr>
          <a:lstStyle/>
          <a:p>
            <a:pPr algn="just"/>
            <a:r>
              <a:rPr lang="en-US" dirty="0" smtClean="0"/>
              <a:t>Provides a powerful and flexible security mechanism by hiding parts of the DB from certain users. The user is not aware of the existence of any attributes that are missing from the view.</a:t>
            </a:r>
            <a:endParaRPr lang="en-US" dirty="0" smtClean="0"/>
          </a:p>
          <a:p>
            <a:pPr algn="just"/>
            <a:r>
              <a:rPr lang="en-US" dirty="0" smtClean="0"/>
              <a:t>It permits users to access data in a way that is customized to their needs, so that the same data can be seen by different users in different ways, at the same time.</a:t>
            </a:r>
            <a:endParaRPr lang="en-US" dirty="0"/>
          </a:p>
        </p:txBody>
      </p:sp>
      <p:sp>
        <p:nvSpPr>
          <p:cNvPr id="4" name="Date Placeholder 3"/>
          <p:cNvSpPr>
            <a:spLocks noGrp="1"/>
          </p:cNvSpPr>
          <p:nvPr>
            <p:ph type="dt" sz="half" idx="10"/>
          </p:nvPr>
        </p:nvSpPr>
        <p:spPr/>
        <p:txBody>
          <a:bodyPr/>
          <a:lstStyle/>
          <a:p>
            <a:pPr>
              <a:defRPr/>
            </a:pPr>
            <a:fld id="{C127ED6A-3A83-4E92-94DE-012DFB615808}"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b="1" dirty="0"/>
              <a:t>The internal </a:t>
            </a:r>
            <a:r>
              <a:rPr lang="en-US" b="1" dirty="0" smtClean="0"/>
              <a:t>level</a:t>
            </a:r>
            <a:endParaRPr lang="en-US" dirty="0" smtClean="0"/>
          </a:p>
        </p:txBody>
      </p:sp>
      <p:sp>
        <p:nvSpPr>
          <p:cNvPr id="58371" name="Content Placeholder 2"/>
          <p:cNvSpPr>
            <a:spLocks noGrp="1"/>
          </p:cNvSpPr>
          <p:nvPr>
            <p:ph idx="1"/>
          </p:nvPr>
        </p:nvSpPr>
        <p:spPr/>
        <p:txBody>
          <a:bodyPr>
            <a:normAutofit fontScale="77500" lnSpcReduction="20000"/>
          </a:bodyPr>
          <a:lstStyle/>
          <a:p>
            <a:pPr marL="365760" indent="-255905" algn="just" eaLnBrk="1" fontAlgn="auto" hangingPunct="1">
              <a:spcAft>
                <a:spcPts val="0"/>
              </a:spcAft>
              <a:buFont typeface="Wingdings 3" panose="05040102010807070707"/>
              <a:buChar char=""/>
              <a:defRPr/>
            </a:pPr>
            <a:r>
              <a:rPr lang="en-US" sz="2800" dirty="0" smtClean="0"/>
              <a:t>This is the closest to the physical storage. That is to say, it is the one concerned with the way data is stored inside the system</a:t>
            </a:r>
            <a:r>
              <a:rPr lang="en-US" sz="2800" dirty="0"/>
              <a:t> </a:t>
            </a:r>
            <a:r>
              <a:rPr lang="en-US" sz="2800" dirty="0" smtClean="0"/>
              <a:t>(Physical </a:t>
            </a:r>
            <a:r>
              <a:rPr lang="en-US" sz="2800" dirty="0"/>
              <a:t>representation of the DB on the </a:t>
            </a:r>
            <a:r>
              <a:rPr lang="en-US" sz="2800" dirty="0" smtClean="0"/>
              <a:t>computer-storage medium)</a:t>
            </a:r>
            <a:endParaRPr lang="en-US" sz="2800" dirty="0" smtClean="0"/>
          </a:p>
          <a:p>
            <a:pPr marL="365760" indent="-255905" algn="just" eaLnBrk="1" fontAlgn="auto" hangingPunct="1">
              <a:spcAft>
                <a:spcPts val="0"/>
              </a:spcAft>
              <a:buFont typeface="Wingdings 3" panose="05040102010807070707"/>
              <a:buChar char=""/>
              <a:defRPr/>
            </a:pPr>
            <a:r>
              <a:rPr lang="en-US" sz="2800" dirty="0" smtClean="0"/>
              <a:t>Physical </a:t>
            </a:r>
            <a:r>
              <a:rPr lang="en-US" sz="2800" dirty="0"/>
              <a:t>implementation of the DB to achieve optimal </a:t>
            </a:r>
            <a:r>
              <a:rPr lang="en-US" sz="2800" dirty="0" smtClean="0"/>
              <a:t>run– time </a:t>
            </a:r>
            <a:r>
              <a:rPr lang="en-US" sz="2800" dirty="0"/>
              <a:t>performance and storage space </a:t>
            </a:r>
            <a:r>
              <a:rPr lang="en-US" sz="2800" dirty="0" smtClean="0"/>
              <a:t>utilization.</a:t>
            </a:r>
            <a:endParaRPr lang="en-US" sz="2800" dirty="0" smtClean="0"/>
          </a:p>
          <a:p>
            <a:pPr marL="765810" lvl="1" indent="-255905" algn="just">
              <a:buFont typeface="Wingdings 3" panose="05040102010807070707"/>
              <a:buChar char=""/>
              <a:defRPr/>
            </a:pPr>
            <a:r>
              <a:rPr lang="en-US" sz="2400" dirty="0" smtClean="0"/>
              <a:t>Storage </a:t>
            </a:r>
            <a:r>
              <a:rPr lang="en-US" sz="2400" dirty="0"/>
              <a:t>space allocation for data and </a:t>
            </a:r>
            <a:r>
              <a:rPr lang="en-US" sz="2400" dirty="0" smtClean="0"/>
              <a:t>indexes</a:t>
            </a:r>
            <a:endParaRPr lang="en-US" sz="2400" dirty="0" smtClean="0"/>
          </a:p>
          <a:p>
            <a:pPr marL="765810" lvl="1" indent="-255905" algn="just">
              <a:buFont typeface="Wingdings 3" panose="05040102010807070707"/>
              <a:buChar char=""/>
              <a:defRPr/>
            </a:pPr>
            <a:r>
              <a:rPr lang="en-US" sz="2400" dirty="0" smtClean="0"/>
              <a:t>Record </a:t>
            </a:r>
            <a:r>
              <a:rPr lang="en-US" sz="2400" dirty="0"/>
              <a:t>description for </a:t>
            </a:r>
            <a:r>
              <a:rPr lang="en-US" sz="2400" dirty="0" smtClean="0"/>
              <a:t>storage</a:t>
            </a:r>
            <a:endParaRPr lang="en-US" sz="2400" dirty="0" smtClean="0"/>
          </a:p>
          <a:p>
            <a:pPr marL="765810" lvl="1" indent="-255905" algn="just">
              <a:buFont typeface="Wingdings 3" panose="05040102010807070707"/>
              <a:buChar char=""/>
              <a:defRPr/>
            </a:pPr>
            <a:r>
              <a:rPr lang="en-US" sz="2400" dirty="0" smtClean="0"/>
              <a:t>Record placement</a:t>
            </a:r>
            <a:endParaRPr lang="en-US" sz="2400" dirty="0" smtClean="0"/>
          </a:p>
          <a:p>
            <a:pPr marL="765810" lvl="1" indent="-255905" algn="just">
              <a:buFont typeface="Wingdings 3" panose="05040102010807070707"/>
              <a:buChar char=""/>
              <a:defRPr/>
            </a:pPr>
            <a:r>
              <a:rPr lang="en-US" sz="2400" dirty="0" smtClean="0"/>
              <a:t>Data </a:t>
            </a:r>
            <a:r>
              <a:rPr lang="en-US" sz="2400" dirty="0"/>
              <a:t>compression, encryption</a:t>
            </a:r>
            <a:endParaRPr lang="en-US" sz="2400" dirty="0" smtClean="0"/>
          </a:p>
          <a:p>
            <a:pPr marL="365760" indent="-255905" eaLnBrk="1" fontAlgn="auto" hangingPunct="1">
              <a:spcAft>
                <a:spcPts val="0"/>
              </a:spcAft>
              <a:buFont typeface="Wingdings 3" panose="05040102010807070707"/>
              <a:buChar char=""/>
              <a:defRPr/>
            </a:pPr>
            <a:endParaRPr lang="en-US" dirty="0" smtClean="0"/>
          </a:p>
        </p:txBody>
      </p:sp>
      <p:sp>
        <p:nvSpPr>
          <p:cNvPr id="4" name="Date Placeholder 3"/>
          <p:cNvSpPr>
            <a:spLocks noGrp="1"/>
          </p:cNvSpPr>
          <p:nvPr>
            <p:ph type="dt" sz="half" idx="10"/>
          </p:nvPr>
        </p:nvSpPr>
        <p:spPr/>
        <p:txBody>
          <a:bodyPr/>
          <a:lstStyle/>
          <a:p>
            <a:pPr>
              <a:defRPr/>
            </a:pPr>
            <a:fld id="{3B3D4264-0939-4882-9ADB-0E0056A5364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conceptual level</a:t>
            </a:r>
            <a:endParaRPr lang="en-US" dirty="0"/>
          </a:p>
        </p:txBody>
      </p:sp>
      <p:sp>
        <p:nvSpPr>
          <p:cNvPr id="3" name="Content Placeholder 2"/>
          <p:cNvSpPr>
            <a:spLocks noGrp="1"/>
          </p:cNvSpPr>
          <p:nvPr>
            <p:ph idx="1"/>
          </p:nvPr>
        </p:nvSpPr>
        <p:spPr/>
        <p:txBody>
          <a:bodyPr>
            <a:normAutofit fontScale="85000" lnSpcReduction="10000"/>
          </a:bodyPr>
          <a:lstStyle/>
          <a:p>
            <a:pPr marL="365760" indent="-255905">
              <a:buFont typeface="Wingdings 3" panose="05040102010807070707"/>
              <a:buChar char=""/>
              <a:defRPr/>
            </a:pPr>
            <a:r>
              <a:rPr lang="en-US" sz="3000" dirty="0" smtClean="0"/>
              <a:t>This </a:t>
            </a:r>
            <a:r>
              <a:rPr lang="en-US" sz="3000" dirty="0"/>
              <a:t>is the level between the other two levels</a:t>
            </a:r>
            <a:endParaRPr lang="en-US" sz="3000" dirty="0"/>
          </a:p>
          <a:p>
            <a:pPr marL="621665" lvl="1" algn="just">
              <a:spcBef>
                <a:spcPts val="325"/>
              </a:spcBef>
              <a:buFont typeface="Verdana" panose="020B0604030504040204"/>
              <a:buChar char="◦"/>
              <a:defRPr/>
            </a:pPr>
            <a:r>
              <a:rPr lang="en-US" sz="3000" dirty="0"/>
              <a:t>Description of the structure of the entire DB. Hides the details of physical storage. Concentrates on describing entities, data types, relationships, user operations, and constraints. In the relational model, this is the base tables.</a:t>
            </a:r>
            <a:endParaRPr lang="en-US" sz="3000" dirty="0"/>
          </a:p>
          <a:p>
            <a:pPr marL="621665" lvl="1" algn="just">
              <a:spcBef>
                <a:spcPts val="325"/>
              </a:spcBef>
              <a:buFont typeface="Verdana" panose="020B0604030504040204"/>
              <a:buChar char="◦"/>
              <a:defRPr/>
            </a:pPr>
            <a:r>
              <a:rPr lang="en-US" sz="3000" dirty="0"/>
              <a:t>Changes at this level can be made without having any effect on the external level</a:t>
            </a:r>
            <a:endParaRPr lang="en-US" sz="3000" dirty="0"/>
          </a:p>
          <a:p>
            <a:endParaRPr lang="en-US" dirty="0"/>
          </a:p>
        </p:txBody>
      </p:sp>
      <p:sp>
        <p:nvSpPr>
          <p:cNvPr id="4" name="Date Placeholder 3"/>
          <p:cNvSpPr>
            <a:spLocks noGrp="1"/>
          </p:cNvSpPr>
          <p:nvPr>
            <p:ph type="dt" sz="half" idx="10"/>
          </p:nvPr>
        </p:nvSpPr>
        <p:spPr/>
        <p:txBody>
          <a:bodyPr/>
          <a:lstStyle/>
          <a:p>
            <a:pPr>
              <a:defRPr/>
            </a:pPr>
            <a:fld id="{A445BD6F-FC31-4E33-B38A-A1B740A1825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
            <a:ext cx="8229600" cy="1066800"/>
          </a:xfrm>
        </p:spPr>
        <p:txBody>
          <a:bodyPr>
            <a:noAutofit/>
          </a:bodyPr>
          <a:lstStyle/>
          <a:p>
            <a:pPr>
              <a:defRPr/>
            </a:pPr>
            <a:br>
              <a:rPr lang="en-US" sz="2800" b="1" dirty="0" smtClean="0"/>
            </a:br>
            <a:r>
              <a:rPr lang="en-US" sz="2800" b="1" dirty="0" smtClean="0"/>
              <a:t>Specific objectives of three-level architecture</a:t>
            </a:r>
            <a:br>
              <a:rPr lang="en-US" sz="2800" b="1" dirty="0" smtClean="0"/>
            </a:br>
            <a:endParaRPr lang="en-US" sz="2800" b="1" dirty="0"/>
          </a:p>
        </p:txBody>
      </p:sp>
      <p:sp>
        <p:nvSpPr>
          <p:cNvPr id="69634" name="Content Placeholder 1"/>
          <p:cNvSpPr>
            <a:spLocks noGrp="1"/>
          </p:cNvSpPr>
          <p:nvPr>
            <p:ph idx="1"/>
          </p:nvPr>
        </p:nvSpPr>
        <p:spPr>
          <a:xfrm>
            <a:off x="457200" y="1295400"/>
            <a:ext cx="8229600" cy="4711700"/>
          </a:xfrm>
        </p:spPr>
        <p:txBody>
          <a:bodyPr>
            <a:normAutofit lnSpcReduction="10000"/>
          </a:bodyPr>
          <a:lstStyle/>
          <a:p>
            <a:pPr algn="just"/>
            <a:r>
              <a:rPr lang="en-US" sz="2500" dirty="0" smtClean="0"/>
              <a:t>All users should be able to access same data. </a:t>
            </a:r>
            <a:endParaRPr lang="en-US" sz="2500" dirty="0" smtClean="0"/>
          </a:p>
          <a:p>
            <a:pPr algn="just"/>
            <a:r>
              <a:rPr lang="en-US" sz="2500" dirty="0" smtClean="0"/>
              <a:t>A user's view is immune to changes made in other views.</a:t>
            </a:r>
            <a:endParaRPr lang="en-US" sz="2500" dirty="0" smtClean="0"/>
          </a:p>
          <a:p>
            <a:pPr algn="just"/>
            <a:r>
              <a:rPr lang="en-US" sz="2500" dirty="0" smtClean="0"/>
              <a:t>Users should not need to know physical database storage details.</a:t>
            </a:r>
            <a:endParaRPr lang="en-US" sz="2500" dirty="0" smtClean="0"/>
          </a:p>
          <a:p>
            <a:pPr algn="just"/>
            <a:r>
              <a:rPr lang="en-US" sz="2500" dirty="0" smtClean="0"/>
              <a:t>DBA should be able to change database storage structures without affecting the users' views.</a:t>
            </a:r>
            <a:endParaRPr lang="en-US" sz="2500" dirty="0" smtClean="0"/>
          </a:p>
          <a:p>
            <a:pPr algn="just"/>
            <a:r>
              <a:rPr lang="en-US" sz="2500" dirty="0" smtClean="0"/>
              <a:t>Internal structure of database should be unaffected by changes to physical aspects of storage. (e.g. change-over to a new storage device- HD)</a:t>
            </a:r>
            <a:endParaRPr lang="en-US" sz="2500" dirty="0" smtClean="0"/>
          </a:p>
          <a:p>
            <a:pPr algn="just"/>
            <a:r>
              <a:rPr lang="en-US" sz="2500" dirty="0" smtClean="0"/>
              <a:t>DBA should be able to change conceptual structure of database without affecting all users.</a:t>
            </a:r>
            <a:endParaRPr lang="en-US" sz="2500" dirty="0" smtClean="0"/>
          </a:p>
          <a:p>
            <a:endParaRPr lang="en-US" dirty="0" smtClean="0"/>
          </a:p>
        </p:txBody>
      </p:sp>
      <p:sp>
        <p:nvSpPr>
          <p:cNvPr id="4" name="Date Placeholder 3"/>
          <p:cNvSpPr>
            <a:spLocks noGrp="1"/>
          </p:cNvSpPr>
          <p:nvPr>
            <p:ph type="dt" sz="half" idx="10"/>
          </p:nvPr>
        </p:nvSpPr>
        <p:spPr/>
        <p:txBody>
          <a:bodyPr/>
          <a:lstStyle/>
          <a:p>
            <a:pPr>
              <a:defRPr/>
            </a:pPr>
            <a:fld id="{7E4D3D89-CF0F-4816-A322-36878BE859F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dirty="0"/>
          </a:p>
        </p:txBody>
      </p:sp>
    </p:spTree>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eaLnBrk="1" fontAlgn="auto" hangingPunct="1">
              <a:spcAft>
                <a:spcPts val="0"/>
              </a:spcAft>
              <a:defRPr/>
            </a:pPr>
            <a:r>
              <a:rPr lang="en-US" dirty="0" smtClean="0"/>
              <a:t>A Data Dictionary</a:t>
            </a:r>
            <a:br>
              <a:rPr lang="en-US" dirty="0" smtClean="0"/>
            </a:br>
            <a:endParaRPr lang="en-US" dirty="0" smtClean="0"/>
          </a:p>
        </p:txBody>
      </p:sp>
      <p:sp>
        <p:nvSpPr>
          <p:cNvPr id="77826" name="Content Placeholder 2"/>
          <p:cNvSpPr>
            <a:spLocks noGrp="1"/>
          </p:cNvSpPr>
          <p:nvPr>
            <p:ph idx="1"/>
          </p:nvPr>
        </p:nvSpPr>
        <p:spPr/>
        <p:txBody>
          <a:bodyPr/>
          <a:lstStyle/>
          <a:p>
            <a:pPr algn="just" eaLnBrk="1" hangingPunct="1"/>
            <a:r>
              <a:rPr lang="en-US" smtClean="0"/>
              <a:t>This is an index of data held in the database. It is used to assist in maintenance and any other access of the database. </a:t>
            </a:r>
            <a:endParaRPr lang="en-US" smtClean="0"/>
          </a:p>
          <a:p>
            <a:pPr eaLnBrk="1" hangingPunct="1"/>
            <a:endParaRPr lang="en-US" smtClean="0"/>
          </a:p>
          <a:p>
            <a:pPr algn="just" eaLnBrk="1" hangingPunct="1"/>
            <a:r>
              <a:rPr lang="en-US" smtClean="0"/>
              <a:t>It provides a method for looking up data items stored in the database. The data dictionary contains the following:</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D058B8C2-001B-4A0A-8A67-DE344D177970}"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algn="ctr" eaLnBrk="1" fontAlgn="auto" hangingPunct="1">
              <a:spcAft>
                <a:spcPts val="0"/>
              </a:spcAft>
              <a:defRPr/>
            </a:pPr>
            <a:r>
              <a:rPr lang="en-US" dirty="0" smtClean="0"/>
              <a:t>A Data Dictionary</a:t>
            </a:r>
            <a:endParaRPr lang="en-US" dirty="0" smtClean="0"/>
          </a:p>
        </p:txBody>
      </p:sp>
      <p:sp>
        <p:nvSpPr>
          <p:cNvPr id="78850" name="Content Placeholder 2"/>
          <p:cNvSpPr>
            <a:spLocks noGrp="1"/>
          </p:cNvSpPr>
          <p:nvPr>
            <p:ph idx="1"/>
          </p:nvPr>
        </p:nvSpPr>
        <p:spPr/>
        <p:txBody>
          <a:bodyPr>
            <a:normAutofit lnSpcReduction="10000"/>
          </a:bodyPr>
          <a:lstStyle/>
          <a:p>
            <a:pPr algn="just" eaLnBrk="1" hangingPunct="1"/>
            <a:r>
              <a:rPr lang="en-US" dirty="0" smtClean="0"/>
              <a:t>Field names, field types, lengths and the default values. Example; a year field would be numerical, with four digits and may have a default value of the current year. </a:t>
            </a:r>
            <a:endParaRPr lang="en-US" dirty="0" smtClean="0"/>
          </a:p>
          <a:p>
            <a:pPr algn="just" eaLnBrk="1" hangingPunct="1"/>
            <a:endParaRPr lang="en-US" dirty="0" smtClean="0"/>
          </a:p>
          <a:p>
            <a:pPr algn="just" eaLnBrk="1" hangingPunct="1"/>
            <a:r>
              <a:rPr lang="en-US" dirty="0" smtClean="0"/>
              <a:t>Note that if these aspects are defined in a data dictionary, they</a:t>
            </a:r>
            <a:r>
              <a:rPr lang="en-US" b="1" dirty="0" smtClean="0"/>
              <a:t> </a:t>
            </a:r>
            <a:r>
              <a:rPr lang="en-US" dirty="0" smtClean="0"/>
              <a:t>only need to be defined once no matter how often they are applied by other programs using the database.</a:t>
            </a:r>
            <a:endParaRPr lang="en-US" dirty="0" smtClean="0"/>
          </a:p>
          <a:p>
            <a:pPr eaLnBrk="1" hangingPunct="1"/>
            <a:endParaRPr lang="en-US" dirty="0" smtClean="0"/>
          </a:p>
        </p:txBody>
      </p:sp>
      <p:sp>
        <p:nvSpPr>
          <p:cNvPr id="4" name="Date Placeholder 3"/>
          <p:cNvSpPr>
            <a:spLocks noGrp="1"/>
          </p:cNvSpPr>
          <p:nvPr>
            <p:ph type="dt" sz="half" idx="10"/>
          </p:nvPr>
        </p:nvSpPr>
        <p:spPr/>
        <p:txBody>
          <a:bodyPr/>
          <a:lstStyle/>
          <a:p>
            <a:pPr>
              <a:defRPr/>
            </a:pPr>
            <a:fld id="{0DC714DD-451C-4A32-8DED-CFB3BCD27A96}"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pPr algn="ctr" eaLnBrk="1" fontAlgn="auto" hangingPunct="1">
              <a:spcAft>
                <a:spcPts val="0"/>
              </a:spcAft>
              <a:defRPr/>
            </a:pPr>
            <a:r>
              <a:rPr lang="en-US" dirty="0" smtClean="0"/>
              <a:t>A Data Dictionary</a:t>
            </a:r>
            <a:endParaRPr lang="en-US" dirty="0" smtClean="0"/>
          </a:p>
        </p:txBody>
      </p:sp>
      <p:sp>
        <p:nvSpPr>
          <p:cNvPr id="79874" name="Content Placeholder 2"/>
          <p:cNvSpPr>
            <a:spLocks noGrp="1"/>
          </p:cNvSpPr>
          <p:nvPr>
            <p:ph idx="1"/>
          </p:nvPr>
        </p:nvSpPr>
        <p:spPr/>
        <p:txBody>
          <a:bodyPr/>
          <a:lstStyle/>
          <a:p>
            <a:pPr algn="just" eaLnBrk="1" hangingPunct="1"/>
            <a:r>
              <a:rPr lang="en-US" dirty="0" smtClean="0"/>
              <a:t>It also shows a list of all entities, attributes and relationships in the database.</a:t>
            </a:r>
            <a:endParaRPr lang="en-US" dirty="0" smtClean="0"/>
          </a:p>
          <a:p>
            <a:pPr algn="just" eaLnBrk="1" hangingPunct="1"/>
            <a:r>
              <a:rPr lang="en-US" dirty="0" smtClean="0"/>
              <a:t>The meaning of codes and symbols used in the programs.</a:t>
            </a:r>
            <a:endParaRPr lang="en-US" dirty="0" smtClean="0"/>
          </a:p>
          <a:p>
            <a:pPr algn="just" eaLnBrk="1" hangingPunct="1"/>
            <a:r>
              <a:rPr lang="en-US" dirty="0" smtClean="0"/>
              <a:t>The origin of data and its ownership</a:t>
            </a:r>
            <a:endParaRPr lang="en-US" dirty="0" smtClean="0"/>
          </a:p>
          <a:p>
            <a:pPr eaLnBrk="1" hangingPunct="1">
              <a:buFont typeface="Arial" panose="020B0604020202020204" pitchFamily="34" charset="0"/>
              <a:buNone/>
            </a:pPr>
            <a:endParaRPr lang="en-US" dirty="0" smtClean="0"/>
          </a:p>
        </p:txBody>
      </p:sp>
      <p:sp>
        <p:nvSpPr>
          <p:cNvPr id="4" name="Date Placeholder 3"/>
          <p:cNvSpPr>
            <a:spLocks noGrp="1"/>
          </p:cNvSpPr>
          <p:nvPr>
            <p:ph type="dt" sz="half" idx="10"/>
          </p:nvPr>
        </p:nvSpPr>
        <p:spPr/>
        <p:txBody>
          <a:bodyPr/>
          <a:lstStyle/>
          <a:p>
            <a:pPr>
              <a:defRPr/>
            </a:pPr>
            <a:fld id="{9347322F-B7F1-4BD1-B508-9C288B628FB7}"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eaLnBrk="1" fontAlgn="auto" hangingPunct="1">
              <a:spcAft>
                <a:spcPts val="0"/>
              </a:spcAft>
              <a:defRPr/>
            </a:pPr>
            <a:r>
              <a:rPr lang="en-US" dirty="0" smtClean="0"/>
              <a:t>Data and data models</a:t>
            </a:r>
            <a:endParaRPr lang="en-US" dirty="0" smtClean="0"/>
          </a:p>
        </p:txBody>
      </p:sp>
      <p:sp>
        <p:nvSpPr>
          <p:cNvPr id="80898" name="Content Placeholder 2"/>
          <p:cNvSpPr>
            <a:spLocks noGrp="1"/>
          </p:cNvSpPr>
          <p:nvPr>
            <p:ph idx="1"/>
          </p:nvPr>
        </p:nvSpPr>
        <p:spPr/>
        <p:txBody>
          <a:bodyPr>
            <a:normAutofit fontScale="92500"/>
          </a:bodyPr>
          <a:lstStyle/>
          <a:p>
            <a:pPr algn="just" eaLnBrk="1" hangingPunct="1"/>
            <a:r>
              <a:rPr lang="en-US" dirty="0" smtClean="0"/>
              <a:t>A </a:t>
            </a:r>
            <a:r>
              <a:rPr lang="en-US" b="1" dirty="0" smtClean="0"/>
              <a:t>Data model </a:t>
            </a:r>
            <a:r>
              <a:rPr lang="en-US" dirty="0" smtClean="0"/>
              <a:t>is an integrated collection of concepts or principles for describing data, relationships between data and constraints on the data in an organization. </a:t>
            </a:r>
            <a:endParaRPr lang="en-US" dirty="0" smtClean="0"/>
          </a:p>
          <a:p>
            <a:pPr algn="just" eaLnBrk="1" hangingPunct="1"/>
            <a:r>
              <a:rPr lang="en-GB" sz="2800" dirty="0" smtClean="0">
                <a:cs typeface="Times New Roman" panose="02020603050405020304" pitchFamily="18" charset="0"/>
              </a:rPr>
              <a:t>It provides basic notations and concepts  that will allow database designers and end-users to unambiguously and accurately communicate their understanding of the organisational data.</a:t>
            </a:r>
            <a:endParaRPr lang="en-GB" sz="2800" dirty="0" smtClean="0">
              <a:cs typeface="Times New Roman" panose="02020603050405020304" pitchFamily="18" charset="0"/>
            </a:endParaRPr>
          </a:p>
          <a:p>
            <a:pPr algn="just" eaLnBrk="1" hangingPunct="1"/>
            <a:endParaRPr lang="en-US" dirty="0" smtClean="0"/>
          </a:p>
        </p:txBody>
      </p:sp>
      <p:sp>
        <p:nvSpPr>
          <p:cNvPr id="4" name="Date Placeholder 3"/>
          <p:cNvSpPr>
            <a:spLocks noGrp="1"/>
          </p:cNvSpPr>
          <p:nvPr>
            <p:ph type="dt" sz="half" idx="10"/>
          </p:nvPr>
        </p:nvSpPr>
        <p:spPr/>
        <p:txBody>
          <a:bodyPr/>
          <a:lstStyle/>
          <a:p>
            <a:pPr>
              <a:defRPr/>
            </a:pPr>
            <a:fld id="{9D0BF921-630A-47D5-A820-9B66A867133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t>
            </a:r>
            <a:r>
              <a:rPr lang="en-US" b="1" dirty="0" smtClean="0"/>
              <a:t>Data Models</a:t>
            </a:r>
            <a:endParaRPr lang="en-US" b="1" dirty="0"/>
          </a:p>
        </p:txBody>
      </p:sp>
      <p:sp>
        <p:nvSpPr>
          <p:cNvPr id="2" name="Content Placeholder 1"/>
          <p:cNvSpPr>
            <a:spLocks noGrp="1"/>
          </p:cNvSpPr>
          <p:nvPr>
            <p:ph idx="1"/>
          </p:nvPr>
        </p:nvSpPr>
        <p:spPr/>
        <p:txBody>
          <a:bodyPr>
            <a:normAutofit fontScale="92500"/>
          </a:bodyPr>
          <a:lstStyle/>
          <a:p>
            <a:pPr algn="just"/>
            <a:r>
              <a:rPr lang="en-US" dirty="0"/>
              <a:t>Data models define how the logical structure of a database is modeled. Data Models are fundamental entities to introduce abstraction in a DBMS. Data models define how data is connected to each other and how they are processed and stored inside the system. </a:t>
            </a:r>
            <a:endParaRPr lang="en-US" dirty="0" smtClean="0"/>
          </a:p>
          <a:p>
            <a:pPr algn="just"/>
            <a:r>
              <a:rPr lang="en-US" dirty="0" smtClean="0"/>
              <a:t>The </a:t>
            </a:r>
            <a:r>
              <a:rPr lang="en-US" dirty="0"/>
              <a:t>very first data model could be flat data-models, where all the data used are to be kept in the same plane. Earlier data models were not so scientific, hence they were prone to introduce lots of duplication and update anomalies. </a:t>
            </a:r>
            <a:endParaRPr lang="en-US" dirty="0"/>
          </a:p>
        </p:txBody>
      </p:sp>
      <p:sp>
        <p:nvSpPr>
          <p:cNvPr id="4" name="Date Placeholder 3"/>
          <p:cNvSpPr>
            <a:spLocks noGrp="1"/>
          </p:cNvSpPr>
          <p:nvPr>
            <p:ph type="dt" sz="half" idx="10"/>
          </p:nvPr>
        </p:nvSpPr>
        <p:spPr/>
        <p:txBody>
          <a:bodyPr/>
          <a:lstStyle/>
          <a:p>
            <a:pPr>
              <a:defRPr/>
            </a:pPr>
            <a:fld id="{E9623A61-2CFD-4B35-BC74-992BD561FB6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algn="ctr" eaLnBrk="1" fontAlgn="auto" hangingPunct="1">
              <a:spcAft>
                <a:spcPts val="0"/>
              </a:spcAft>
              <a:defRPr/>
            </a:pPr>
            <a:r>
              <a:rPr lang="en-US" dirty="0" smtClean="0"/>
              <a:t>Data and data models</a:t>
            </a:r>
            <a:endParaRPr lang="en-US" dirty="0" smtClean="0"/>
          </a:p>
        </p:txBody>
      </p:sp>
      <p:sp>
        <p:nvSpPr>
          <p:cNvPr id="81922" name="Content Placeholder 2"/>
          <p:cNvSpPr>
            <a:spLocks noGrp="1"/>
          </p:cNvSpPr>
          <p:nvPr>
            <p:ph idx="1"/>
          </p:nvPr>
        </p:nvSpPr>
        <p:spPr/>
        <p:txBody>
          <a:bodyPr>
            <a:normAutofit/>
          </a:bodyPr>
          <a:lstStyle/>
          <a:p>
            <a:pPr algn="just" eaLnBrk="1" hangingPunct="1"/>
            <a:r>
              <a:rPr lang="en-US" dirty="0" smtClean="0"/>
              <a:t>Data models are often used as an aid to communication between the business people defining the </a:t>
            </a:r>
            <a:r>
              <a:rPr lang="en-US" dirty="0" smtClean="0">
                <a:hlinkClick r:id="rId1" tooltip="Requirements"/>
              </a:rPr>
              <a:t>requirements</a:t>
            </a:r>
            <a:r>
              <a:rPr lang="en-US" dirty="0" smtClean="0"/>
              <a:t> for a </a:t>
            </a:r>
            <a:r>
              <a:rPr lang="en-US" dirty="0" smtClean="0">
                <a:hlinkClick r:id="rId2" tooltip="Computer system"/>
              </a:rPr>
              <a:t>computer system</a:t>
            </a:r>
            <a:r>
              <a:rPr lang="en-US" dirty="0" smtClean="0"/>
              <a:t> and the technical people defining the design in response to those requirements.</a:t>
            </a:r>
            <a:endParaRPr lang="en-US" dirty="0" smtClean="0"/>
          </a:p>
          <a:p>
            <a:pPr eaLnBrk="1" hangingPunct="1">
              <a:buFont typeface="Arial" panose="020B0604020202020204" pitchFamily="34" charset="0"/>
              <a:buNone/>
            </a:pPr>
            <a:endParaRPr lang="en-US" dirty="0" smtClean="0"/>
          </a:p>
        </p:txBody>
      </p:sp>
      <p:sp>
        <p:nvSpPr>
          <p:cNvPr id="4" name="Date Placeholder 3"/>
          <p:cNvSpPr>
            <a:spLocks noGrp="1"/>
          </p:cNvSpPr>
          <p:nvPr>
            <p:ph type="dt" sz="half" idx="10"/>
          </p:nvPr>
        </p:nvSpPr>
        <p:spPr/>
        <p:txBody>
          <a:bodyPr/>
          <a:lstStyle/>
          <a:p>
            <a:pPr>
              <a:defRPr/>
            </a:pPr>
            <a:fld id="{0F81DC88-61F6-462A-8957-40FA4A112A67}"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a:xfrm>
            <a:off x="1176866" y="915337"/>
            <a:ext cx="6798734" cy="1370663"/>
          </a:xfrm>
        </p:spPr>
        <p:txBody>
          <a:bodyPr>
            <a:normAutofit/>
          </a:bodyPr>
          <a:lstStyle/>
          <a:p>
            <a:pPr>
              <a:defRPr/>
            </a:pPr>
            <a:r>
              <a:rPr lang="en-US" dirty="0"/>
              <a:t>Entity-Relationship Model </a:t>
            </a:r>
            <a:endParaRPr lang="en-US" dirty="0" smtClean="0"/>
          </a:p>
        </p:txBody>
      </p:sp>
      <p:sp>
        <p:nvSpPr>
          <p:cNvPr id="83970" name="Content Placeholder 2"/>
          <p:cNvSpPr>
            <a:spLocks noGrp="1"/>
          </p:cNvSpPr>
          <p:nvPr>
            <p:ph idx="1"/>
          </p:nvPr>
        </p:nvSpPr>
        <p:spPr>
          <a:xfrm>
            <a:off x="457200" y="2438400"/>
            <a:ext cx="8229600" cy="3810000"/>
          </a:xfrm>
        </p:spPr>
        <p:txBody>
          <a:bodyPr>
            <a:normAutofit lnSpcReduction="10000"/>
          </a:bodyPr>
          <a:lstStyle/>
          <a:p>
            <a:pPr algn="just"/>
            <a:r>
              <a:rPr lang="en-US" dirty="0"/>
              <a:t>Entity-Relationship (ER) Model is based on the notion of real-world entities and relationships among them. While formulating real-world scenario into the database model, the ER Model creates entity </a:t>
            </a:r>
            <a:r>
              <a:rPr lang="en-US" dirty="0" smtClean="0"/>
              <a:t>sets, </a:t>
            </a:r>
            <a:r>
              <a:rPr lang="en-US" dirty="0"/>
              <a:t>relationship </a:t>
            </a:r>
            <a:r>
              <a:rPr lang="en-US" dirty="0" smtClean="0"/>
              <a:t>sets, </a:t>
            </a:r>
            <a:r>
              <a:rPr lang="en-US" dirty="0"/>
              <a:t>general attributes, and constraints. ER Model is best used for the conceptual design of a database. </a:t>
            </a:r>
            <a:endParaRPr lang="en-US" dirty="0" smtClean="0"/>
          </a:p>
          <a:p>
            <a:pPr algn="just"/>
            <a:r>
              <a:rPr lang="en-US" dirty="0" smtClean="0"/>
              <a:t>ER </a:t>
            </a:r>
            <a:r>
              <a:rPr lang="en-US" dirty="0"/>
              <a:t>Model is based on: </a:t>
            </a:r>
            <a:endParaRPr lang="en-US" dirty="0" smtClean="0"/>
          </a:p>
          <a:p>
            <a:pPr algn="just">
              <a:buFont typeface="Wingdings" panose="05000000000000000000" pitchFamily="2" charset="2"/>
              <a:buChar char="ü"/>
            </a:pPr>
            <a:r>
              <a:rPr lang="en-US" b="1" dirty="0" smtClean="0"/>
              <a:t>Entities</a:t>
            </a:r>
            <a:r>
              <a:rPr lang="en-US" dirty="0" smtClean="0"/>
              <a:t> </a:t>
            </a:r>
            <a:r>
              <a:rPr lang="en-US" dirty="0"/>
              <a:t>and their </a:t>
            </a:r>
            <a:r>
              <a:rPr lang="en-US" b="1" dirty="0"/>
              <a:t>attributes</a:t>
            </a:r>
            <a:r>
              <a:rPr lang="en-US" dirty="0"/>
              <a:t>. </a:t>
            </a:r>
            <a:endParaRPr lang="en-US" dirty="0" smtClean="0"/>
          </a:p>
          <a:p>
            <a:pPr algn="just">
              <a:buFont typeface="Wingdings" panose="05000000000000000000" pitchFamily="2" charset="2"/>
              <a:buChar char="ü"/>
            </a:pPr>
            <a:r>
              <a:rPr lang="en-US" b="1" dirty="0" smtClean="0"/>
              <a:t>Relationships</a:t>
            </a:r>
            <a:r>
              <a:rPr lang="en-US" dirty="0" smtClean="0"/>
              <a:t> </a:t>
            </a:r>
            <a:r>
              <a:rPr lang="en-US" dirty="0"/>
              <a:t>among entities.</a:t>
            </a:r>
            <a:endParaRPr lang="en-US" dirty="0" smtClean="0"/>
          </a:p>
        </p:txBody>
      </p:sp>
      <p:sp>
        <p:nvSpPr>
          <p:cNvPr id="4" name="Date Placeholder 3"/>
          <p:cNvSpPr>
            <a:spLocks noGrp="1"/>
          </p:cNvSpPr>
          <p:nvPr>
            <p:ph type="dt" sz="half" idx="10"/>
          </p:nvPr>
        </p:nvSpPr>
        <p:spPr/>
        <p:txBody>
          <a:bodyPr/>
          <a:lstStyle/>
          <a:p>
            <a:pPr>
              <a:defRPr/>
            </a:pPr>
            <a:fld id="{ABE52294-9A0D-46D9-A1D6-A3D9E6DC189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These concepts are explained below. </a:t>
            </a:r>
            <a:endParaRPr lang="en-US" dirty="0"/>
          </a:p>
        </p:txBody>
      </p:sp>
      <p:sp>
        <p:nvSpPr>
          <p:cNvPr id="4" name="Date Placeholder 3"/>
          <p:cNvSpPr>
            <a:spLocks noGrp="1"/>
          </p:cNvSpPr>
          <p:nvPr>
            <p:ph type="dt" sz="half" idx="10"/>
          </p:nvPr>
        </p:nvSpPr>
        <p:spPr/>
        <p:txBody>
          <a:bodyPr/>
          <a:lstStyle/>
          <a:p>
            <a:pPr>
              <a:defRPr/>
            </a:pPr>
            <a:fld id="{CB2C2713-F8DF-48BC-B501-B9650D450B1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pic>
        <p:nvPicPr>
          <p:cNvPr id="8" name="Content Placeholder 7"/>
          <p:cNvPicPr>
            <a:picLocks noGrp="1"/>
          </p:cNvPicPr>
          <p:nvPr>
            <p:ph idx="1"/>
          </p:nvPr>
        </p:nvPicPr>
        <p:blipFill rotWithShape="1">
          <a:blip r:embed="rId1"/>
          <a:srcRect l="32034" t="24367" r="33189" b="51652"/>
          <a:stretch>
            <a:fillRect/>
          </a:stretch>
        </p:blipFill>
        <p:spPr bwMode="auto">
          <a:xfrm>
            <a:off x="914400" y="2362200"/>
            <a:ext cx="7315200" cy="3505200"/>
          </a:xfrm>
          <a:prstGeom prst="rect">
            <a:avLst/>
          </a:prstGeom>
          <a:ln>
            <a:noFill/>
          </a:ln>
        </p:spPr>
      </p:pic>
    </p:spTree>
  </p:cSld>
  <p:clrMapOvr>
    <a:masterClrMapping/>
  </p:clrMapOvr>
  <p:transition spd="med">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These concepts are explained below.</a:t>
            </a:r>
            <a:endParaRPr lang="en-US" dirty="0"/>
          </a:p>
        </p:txBody>
      </p:sp>
      <p:sp>
        <p:nvSpPr>
          <p:cNvPr id="2" name="Content Placeholder 1"/>
          <p:cNvSpPr>
            <a:spLocks noGrp="1"/>
          </p:cNvSpPr>
          <p:nvPr>
            <p:ph idx="1"/>
          </p:nvPr>
        </p:nvSpPr>
        <p:spPr/>
        <p:txBody>
          <a:bodyPr>
            <a:normAutofit fontScale="92500"/>
          </a:bodyPr>
          <a:lstStyle/>
          <a:p>
            <a:pPr algn="just"/>
            <a:r>
              <a:rPr lang="en-US" b="1" dirty="0" smtClean="0"/>
              <a:t>Entity:</a:t>
            </a:r>
            <a:r>
              <a:rPr lang="en-US" dirty="0" smtClean="0"/>
              <a:t> </a:t>
            </a:r>
            <a:r>
              <a:rPr lang="en-US" dirty="0"/>
              <a:t>An entity in an ER Model is a real-world </a:t>
            </a:r>
            <a:r>
              <a:rPr lang="en-US" dirty="0" smtClean="0"/>
              <a:t>object</a:t>
            </a:r>
            <a:r>
              <a:rPr lang="en-US" dirty="0" smtClean="0"/>
              <a:t> </a:t>
            </a:r>
            <a:r>
              <a:rPr lang="en-US" dirty="0"/>
              <a:t>having properties called </a:t>
            </a:r>
            <a:r>
              <a:rPr lang="en-US" b="1" dirty="0"/>
              <a:t>attributes. </a:t>
            </a:r>
            <a:r>
              <a:rPr lang="en-US" dirty="0"/>
              <a:t>Every attribute is defined by its set of values called domain. For example, in a school database, a student is considered as an entity. Student has various attributes like name, age, class, etc. </a:t>
            </a:r>
            <a:endParaRPr lang="en-US" dirty="0"/>
          </a:p>
          <a:p>
            <a:pPr algn="just"/>
            <a:r>
              <a:rPr lang="en-US" b="1" dirty="0" smtClean="0"/>
              <a:t>Relationship: </a:t>
            </a:r>
            <a:r>
              <a:rPr lang="en-US" dirty="0"/>
              <a:t>The logical association among entities is called relationship. Relationships are mapped with entities in various ways. Mapping cardinalities define the number of </a:t>
            </a:r>
            <a:r>
              <a:rPr lang="en-US" dirty="0" smtClean="0"/>
              <a:t>associations </a:t>
            </a:r>
            <a:r>
              <a:rPr lang="en-US" dirty="0"/>
              <a:t>between two entities.</a:t>
            </a:r>
            <a:endParaRPr lang="en-US" b="1" dirty="0"/>
          </a:p>
        </p:txBody>
      </p:sp>
      <p:sp>
        <p:nvSpPr>
          <p:cNvPr id="4" name="Date Placeholder 3"/>
          <p:cNvSpPr>
            <a:spLocks noGrp="1"/>
          </p:cNvSpPr>
          <p:nvPr>
            <p:ph type="dt" sz="half" idx="10"/>
          </p:nvPr>
        </p:nvSpPr>
        <p:spPr/>
        <p:txBody>
          <a:bodyPr/>
          <a:lstStyle/>
          <a:p>
            <a:pPr>
              <a:defRPr/>
            </a:pPr>
            <a:fld id="{C913F79C-1BFF-4C97-8F04-114021B46A85}"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Mapping C</a:t>
            </a:r>
            <a:r>
              <a:rPr lang="en-US" b="1" dirty="0" smtClean="0"/>
              <a:t>ardinalities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one to one </a:t>
            </a:r>
            <a:endParaRPr lang="en-US" b="1" dirty="0"/>
          </a:p>
          <a:p>
            <a:r>
              <a:rPr lang="en-US" dirty="0" smtClean="0"/>
              <a:t>A </a:t>
            </a:r>
            <a:r>
              <a:rPr lang="en-US" dirty="0"/>
              <a:t>one-to-one relationship exists when each row in one table has only one related row in a second table. For example, </a:t>
            </a:r>
            <a:r>
              <a:rPr lang="en-US" b="1" dirty="0"/>
              <a:t>a business might decide to assign one office to exactly one employee</a:t>
            </a:r>
            <a:r>
              <a:rPr lang="en-US" dirty="0"/>
              <a:t>. Thus, one employee can have only one office. The same business might also decide that a department can have only one manager.</a:t>
            </a:r>
            <a:endParaRPr lang="en-US" dirty="0" smtClean="0"/>
          </a:p>
          <a:p>
            <a:r>
              <a:rPr lang="en-US" dirty="0" smtClean="0"/>
              <a:t> </a:t>
            </a:r>
            <a:endParaRPr lang="en-US" dirty="0" smtClean="0"/>
          </a:p>
          <a:p>
            <a:r>
              <a:rPr lang="en-US" dirty="0" smtClean="0"/>
              <a:t>many </a:t>
            </a:r>
            <a:r>
              <a:rPr lang="en-US" dirty="0"/>
              <a:t>to many</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915337"/>
            <a:ext cx="6798734" cy="989663"/>
          </a:xfrm>
        </p:spPr>
        <p:txBody>
          <a:bodyPr/>
          <a:lstStyle/>
          <a:p>
            <a:r>
              <a:rPr lang="en-US" b="1" dirty="0"/>
              <a:t>Mapping Cardinalities</a:t>
            </a:r>
            <a:endParaRPr lang="en-US" dirty="0"/>
          </a:p>
        </p:txBody>
      </p:sp>
      <p:sp>
        <p:nvSpPr>
          <p:cNvPr id="3" name="Content Placeholder 2"/>
          <p:cNvSpPr>
            <a:spLocks noGrp="1"/>
          </p:cNvSpPr>
          <p:nvPr>
            <p:ph idx="1"/>
          </p:nvPr>
        </p:nvSpPr>
        <p:spPr>
          <a:xfrm>
            <a:off x="1176865" y="2286000"/>
            <a:ext cx="6798736" cy="3649133"/>
          </a:xfrm>
        </p:spPr>
        <p:txBody>
          <a:bodyPr>
            <a:normAutofit fontScale="92500" lnSpcReduction="20000"/>
          </a:bodyPr>
          <a:lstStyle/>
          <a:p>
            <a:r>
              <a:rPr lang="en-US" b="1" dirty="0"/>
              <a:t>one to </a:t>
            </a:r>
            <a:r>
              <a:rPr lang="en-US" b="1" dirty="0" smtClean="0"/>
              <a:t>many</a:t>
            </a:r>
            <a:endParaRPr lang="en-US" b="1" dirty="0" smtClean="0"/>
          </a:p>
          <a:p>
            <a:pPr marL="0" indent="0">
              <a:buNone/>
            </a:pPr>
            <a:r>
              <a:rPr lang="en-US" dirty="0"/>
              <a:t>People-Addresses (Each person can live at one address, but each address can house one or more people.) Owners-Pets (Each pet has one owner, but each owner can have one or more pets</a:t>
            </a:r>
            <a:r>
              <a:rPr lang="en-US" dirty="0" smtClean="0"/>
              <a:t>.)</a:t>
            </a:r>
            <a:endParaRPr lang="en-US" dirty="0" smtClean="0"/>
          </a:p>
          <a:p>
            <a:r>
              <a:rPr lang="en-US" b="1" dirty="0"/>
              <a:t>many to </a:t>
            </a:r>
            <a:r>
              <a:rPr lang="en-US" b="1" dirty="0" smtClean="0"/>
              <a:t>one </a:t>
            </a:r>
            <a:endParaRPr lang="en-US" b="1" dirty="0" smtClean="0"/>
          </a:p>
          <a:p>
            <a:pPr marL="0" indent="0">
              <a:buNone/>
            </a:pPr>
            <a:r>
              <a:rPr lang="en-US" dirty="0"/>
              <a:t>R</a:t>
            </a:r>
            <a:r>
              <a:rPr lang="en-US" dirty="0" smtClean="0"/>
              <a:t>efer to the above example</a:t>
            </a:r>
            <a:endParaRPr lang="en-US" dirty="0" smtClean="0"/>
          </a:p>
          <a:p>
            <a:r>
              <a:rPr lang="en-US" b="1" dirty="0"/>
              <a:t>m</a:t>
            </a:r>
            <a:r>
              <a:rPr lang="en-US" b="1" dirty="0" smtClean="0"/>
              <a:t>any to many</a:t>
            </a:r>
            <a:endParaRPr lang="en-US" b="1" dirty="0" smtClean="0"/>
          </a:p>
          <a:p>
            <a:pPr marL="0" indent="0">
              <a:buNone/>
            </a:pPr>
            <a:r>
              <a:rPr lang="en-US" dirty="0" smtClean="0"/>
              <a:t>Customer can purchase various products, and a product can be purchased by many customers</a:t>
            </a:r>
            <a:endParaRPr lang="en-US" dirty="0" smtClean="0"/>
          </a:p>
          <a:p>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Model</a:t>
            </a:r>
            <a:endParaRPr lang="en-US" b="1" dirty="0"/>
          </a:p>
        </p:txBody>
      </p:sp>
      <p:sp>
        <p:nvSpPr>
          <p:cNvPr id="3" name="Content Placeholder 2"/>
          <p:cNvSpPr>
            <a:spLocks noGrp="1"/>
          </p:cNvSpPr>
          <p:nvPr>
            <p:ph idx="1"/>
          </p:nvPr>
        </p:nvSpPr>
        <p:spPr>
          <a:xfrm>
            <a:off x="1176865" y="2362199"/>
            <a:ext cx="6798736" cy="3572933"/>
          </a:xfrm>
        </p:spPr>
        <p:txBody>
          <a:bodyPr>
            <a:normAutofit fontScale="92500" lnSpcReduction="20000"/>
          </a:bodyPr>
          <a:lstStyle/>
          <a:p>
            <a:r>
              <a:rPr lang="en-US" dirty="0"/>
              <a:t>The most popular data model in DBMS is the Relational Model. It is more scientific a model than others. </a:t>
            </a:r>
            <a:endParaRPr lang="en-US" dirty="0" smtClean="0"/>
          </a:p>
          <a:p>
            <a:r>
              <a:rPr lang="en-US" dirty="0"/>
              <a:t>The main highlights of this model are: </a:t>
            </a:r>
            <a:endParaRPr lang="en-US" dirty="0" smtClean="0"/>
          </a:p>
          <a:p>
            <a:pPr>
              <a:buFont typeface="Wingdings" panose="05000000000000000000" pitchFamily="2" charset="2"/>
              <a:buChar char="ü"/>
            </a:pPr>
            <a:r>
              <a:rPr lang="en-US" dirty="0" smtClean="0"/>
              <a:t>Data </a:t>
            </a:r>
            <a:r>
              <a:rPr lang="en-US" dirty="0"/>
              <a:t>is stored in tables called relations</a:t>
            </a:r>
            <a:r>
              <a:rPr lang="en-US" dirty="0" smtClean="0"/>
              <a:t>.</a:t>
            </a:r>
            <a:endParaRPr lang="en-US" dirty="0" smtClean="0"/>
          </a:p>
          <a:p>
            <a:pPr>
              <a:buFont typeface="Wingdings" panose="05000000000000000000" pitchFamily="2" charset="2"/>
              <a:buChar char="ü"/>
            </a:pPr>
            <a:r>
              <a:rPr lang="en-US" dirty="0" smtClean="0"/>
              <a:t>Relations </a:t>
            </a:r>
            <a:r>
              <a:rPr lang="en-US" dirty="0"/>
              <a:t>can be normalized. </a:t>
            </a:r>
            <a:endParaRPr lang="en-US" dirty="0" smtClean="0"/>
          </a:p>
          <a:p>
            <a:pPr>
              <a:buFont typeface="Wingdings" panose="05000000000000000000" pitchFamily="2" charset="2"/>
              <a:buChar char="ü"/>
            </a:pPr>
            <a:r>
              <a:rPr lang="en-US" dirty="0" smtClean="0"/>
              <a:t>In </a:t>
            </a:r>
            <a:r>
              <a:rPr lang="en-US" dirty="0"/>
              <a:t>normalized relations, values saved are atomic values. </a:t>
            </a:r>
            <a:endParaRPr lang="en-US" dirty="0" smtClean="0"/>
          </a:p>
          <a:p>
            <a:pPr>
              <a:buFont typeface="Wingdings" panose="05000000000000000000" pitchFamily="2" charset="2"/>
              <a:buChar char="ü"/>
            </a:pPr>
            <a:r>
              <a:rPr lang="en-US" dirty="0" smtClean="0"/>
              <a:t>Each </a:t>
            </a:r>
            <a:r>
              <a:rPr lang="en-US" dirty="0"/>
              <a:t>row in a relation contains a unique value</a:t>
            </a:r>
            <a:r>
              <a:rPr lang="en-US" dirty="0" smtClean="0"/>
              <a:t>.</a:t>
            </a:r>
            <a:endParaRPr lang="en-US" dirty="0" smtClean="0"/>
          </a:p>
          <a:p>
            <a:pPr>
              <a:buFont typeface="Wingdings" panose="05000000000000000000" pitchFamily="2" charset="2"/>
              <a:buChar char="ü"/>
            </a:pPr>
            <a:r>
              <a:rPr lang="en-US" dirty="0"/>
              <a:t>Each column in a relation contains values from a same domain.</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915337"/>
            <a:ext cx="6798734" cy="761063"/>
          </a:xfrm>
        </p:spPr>
        <p:txBody>
          <a:bodyPr/>
          <a:lstStyle/>
          <a:p>
            <a:r>
              <a:rPr lang="en-US" dirty="0" smtClean="0"/>
              <a:t>A Relation</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pic>
        <p:nvPicPr>
          <p:cNvPr id="7" name="Content Placeholder 6"/>
          <p:cNvPicPr>
            <a:picLocks noGrp="1"/>
          </p:cNvPicPr>
          <p:nvPr>
            <p:ph idx="1"/>
          </p:nvPr>
        </p:nvPicPr>
        <p:blipFill rotWithShape="1">
          <a:blip r:embed="rId1"/>
          <a:srcRect l="31931" t="19670" r="33289" b="40599"/>
          <a:stretch>
            <a:fillRect/>
          </a:stretch>
        </p:blipFill>
        <p:spPr bwMode="auto">
          <a:xfrm>
            <a:off x="1066800" y="1905000"/>
            <a:ext cx="7239000" cy="4030663"/>
          </a:xfrm>
          <a:prstGeom prst="rect">
            <a:avLst/>
          </a:prstGeom>
          <a:ln>
            <a:noFill/>
          </a:ln>
        </p:spPr>
      </p:pic>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lstStyle/>
          <a:p>
            <a:r>
              <a:rPr lang="en-US" dirty="0" smtClean="0"/>
              <a:t>Read and make notes about</a:t>
            </a:r>
            <a:endParaRPr lang="en-US" dirty="0" smtClean="0"/>
          </a:p>
          <a:p>
            <a:pPr lvl="1">
              <a:buFont typeface="Wingdings" panose="05000000000000000000" pitchFamily="2" charset="2"/>
              <a:buChar char="ü"/>
            </a:pPr>
            <a:r>
              <a:rPr lang="en-US" dirty="0" smtClean="0"/>
              <a:t>Hierarchical data model</a:t>
            </a:r>
            <a:endParaRPr lang="en-US" dirty="0" smtClean="0"/>
          </a:p>
          <a:p>
            <a:pPr lvl="1">
              <a:buFont typeface="Wingdings" panose="05000000000000000000" pitchFamily="2" charset="2"/>
              <a:buChar char="ü"/>
            </a:pPr>
            <a:r>
              <a:rPr lang="en-US" dirty="0" smtClean="0"/>
              <a:t>Network data model</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Independence</a:t>
            </a:r>
            <a:endParaRPr lang="en-US" b="1" dirty="0"/>
          </a:p>
        </p:txBody>
      </p:sp>
      <p:sp>
        <p:nvSpPr>
          <p:cNvPr id="3" name="Content Placeholder 2"/>
          <p:cNvSpPr>
            <a:spLocks noGrp="1"/>
          </p:cNvSpPr>
          <p:nvPr>
            <p:ph idx="1"/>
          </p:nvPr>
        </p:nvSpPr>
        <p:spPr/>
        <p:txBody>
          <a:bodyPr>
            <a:normAutofit fontScale="85000" lnSpcReduction="10000"/>
          </a:bodyPr>
          <a:lstStyle/>
          <a:p>
            <a:pPr algn="just"/>
            <a:r>
              <a:rPr lang="en-US" dirty="0"/>
              <a:t>If a database system is not multi-layered, then it becomes difficult to make any changes in the database system. Database systems are designed in multi-layers as we learnt earlier</a:t>
            </a:r>
            <a:r>
              <a:rPr lang="en-US" dirty="0" smtClean="0"/>
              <a:t>.</a:t>
            </a:r>
            <a:endParaRPr lang="en-US" dirty="0" smtClean="0"/>
          </a:p>
          <a:p>
            <a:pPr algn="just"/>
            <a:r>
              <a:rPr lang="en-US" dirty="0"/>
              <a:t>A database system normally contains a lot of data in addition to users’ data. For example, it stores data about data, known as metadata, to locate and retrieve data easily. </a:t>
            </a:r>
            <a:endParaRPr lang="en-US" dirty="0" smtClean="0"/>
          </a:p>
          <a:p>
            <a:pPr algn="just"/>
            <a:r>
              <a:rPr lang="en-US" dirty="0" smtClean="0"/>
              <a:t>It </a:t>
            </a:r>
            <a:r>
              <a:rPr lang="en-US" dirty="0"/>
              <a:t>is rather difficult to modify or update a set of metadata once it is stored in the database. But as a DBMS expands, it needs to change over time to satisfy the requirements of the users. If the entire data is dependent, it would become a tedious and highly complex job.</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Independence</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pic>
        <p:nvPicPr>
          <p:cNvPr id="7" name="Content Placeholder 6"/>
          <p:cNvPicPr>
            <a:picLocks noGrp="1"/>
          </p:cNvPicPr>
          <p:nvPr>
            <p:ph idx="1"/>
          </p:nvPr>
        </p:nvPicPr>
        <p:blipFill rotWithShape="1">
          <a:blip r:embed="rId1"/>
          <a:srcRect l="38584" t="17797" r="38430" b="46423"/>
          <a:stretch>
            <a:fillRect/>
          </a:stretch>
        </p:blipFill>
        <p:spPr bwMode="auto">
          <a:xfrm>
            <a:off x="2057400" y="2490788"/>
            <a:ext cx="4876800" cy="3444875"/>
          </a:xfrm>
          <a:prstGeom prst="rect">
            <a:avLst/>
          </a:prstGeom>
          <a:ln>
            <a:noFill/>
          </a:ln>
        </p:spPr>
      </p:pic>
    </p:spTree>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Independence…</a:t>
            </a:r>
            <a:endParaRPr lang="en-US" dirty="0"/>
          </a:p>
        </p:txBody>
      </p:sp>
      <p:sp>
        <p:nvSpPr>
          <p:cNvPr id="3" name="Content Placeholder 2"/>
          <p:cNvSpPr>
            <a:spLocks noGrp="1"/>
          </p:cNvSpPr>
          <p:nvPr>
            <p:ph idx="1"/>
          </p:nvPr>
        </p:nvSpPr>
        <p:spPr/>
        <p:txBody>
          <a:bodyPr/>
          <a:lstStyle/>
          <a:p>
            <a:r>
              <a:rPr lang="en-US" dirty="0"/>
              <a:t>Metadata itself follows a layered architecture, so that when we change data at one layer, it does not affect the data at another level. This data is independent but mapped to each other.</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Logical Data Independence</a:t>
            </a:r>
            <a:endParaRPr lang="en-US" b="1" dirty="0"/>
          </a:p>
        </p:txBody>
      </p:sp>
      <p:sp>
        <p:nvSpPr>
          <p:cNvPr id="3" name="Content Placeholder 2"/>
          <p:cNvSpPr>
            <a:spLocks noGrp="1"/>
          </p:cNvSpPr>
          <p:nvPr>
            <p:ph idx="1"/>
          </p:nvPr>
        </p:nvSpPr>
        <p:spPr/>
        <p:txBody>
          <a:bodyPr/>
          <a:lstStyle/>
          <a:p>
            <a:pPr algn="just"/>
            <a:r>
              <a:rPr lang="en-US" dirty="0"/>
              <a:t>Logical data is data about database, that is, it stores information about how data is managed inside. For example, a table (relation) stored in the database and all its constraints applied on that relation</a:t>
            </a:r>
            <a:r>
              <a:rPr lang="en-US" dirty="0" smtClean="0"/>
              <a:t>.</a:t>
            </a:r>
            <a:endParaRPr lang="en-US" dirty="0" smtClean="0"/>
          </a:p>
          <a:p>
            <a:pPr algn="just"/>
            <a:r>
              <a:rPr lang="en-US" dirty="0"/>
              <a:t>Logical data independence is a kind of mechanism, which liberalizes itself from actual data stored on the disk. If we do some changes on table format, it should not change the data residing on the disk.</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Physical Data Independence</a:t>
            </a:r>
            <a:endParaRPr lang="en-US" b="1" dirty="0"/>
          </a:p>
        </p:txBody>
      </p:sp>
      <p:sp>
        <p:nvSpPr>
          <p:cNvPr id="3" name="Content Placeholder 2"/>
          <p:cNvSpPr>
            <a:spLocks noGrp="1"/>
          </p:cNvSpPr>
          <p:nvPr>
            <p:ph idx="1"/>
          </p:nvPr>
        </p:nvSpPr>
        <p:spPr/>
        <p:txBody>
          <a:bodyPr/>
          <a:lstStyle/>
          <a:p>
            <a:pPr algn="just"/>
            <a:r>
              <a:rPr lang="en-US" dirty="0"/>
              <a:t>All the schemas are logical, and the actual data is stored in bit format on the disk. Physical data independence is the power to change the physical data without impacting the schema or logical data. For example, in case we want to change or upgrade the storage system itself — suppose we want to replace hard-disks with SSD — it should not have any impact on the logical data or schemas</a:t>
            </a:r>
            <a:endParaRPr lang="en-US"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pPr eaLnBrk="1" fontAlgn="auto" hangingPunct="1">
              <a:spcAft>
                <a:spcPts val="0"/>
              </a:spcAft>
              <a:defRPr/>
            </a:pPr>
            <a:r>
              <a:rPr lang="en-US" b="1" dirty="0" smtClean="0"/>
              <a:t>Levels of data modeling</a:t>
            </a:r>
            <a:endParaRPr lang="en-US" b="1" dirty="0" smtClean="0"/>
          </a:p>
        </p:txBody>
      </p:sp>
      <p:sp>
        <p:nvSpPr>
          <p:cNvPr id="84994" name="Content Placeholder 2"/>
          <p:cNvSpPr>
            <a:spLocks noGrp="1"/>
          </p:cNvSpPr>
          <p:nvPr>
            <p:ph idx="1"/>
          </p:nvPr>
        </p:nvSpPr>
        <p:spPr/>
        <p:txBody>
          <a:bodyPr/>
          <a:lstStyle/>
          <a:p>
            <a:pPr eaLnBrk="1" hangingPunct="1"/>
            <a:r>
              <a:rPr lang="en-US" smtClean="0"/>
              <a:t>Data models are divided into three levels</a:t>
            </a:r>
            <a:endParaRPr lang="en-US" smtClean="0"/>
          </a:p>
          <a:p>
            <a:pPr eaLnBrk="1" hangingPunct="1">
              <a:buFont typeface="Arial" panose="020B0604020202020204" pitchFamily="34" charset="0"/>
              <a:buNone/>
            </a:pPr>
            <a:endParaRPr lang="en-US" smtClean="0"/>
          </a:p>
          <a:p>
            <a:pPr eaLnBrk="1" hangingPunct="1"/>
            <a:r>
              <a:rPr lang="en-US" smtClean="0"/>
              <a:t>1- conceptual model</a:t>
            </a:r>
            <a:endParaRPr lang="en-US" smtClean="0"/>
          </a:p>
          <a:p>
            <a:pPr eaLnBrk="1" hangingPunct="1"/>
            <a:r>
              <a:rPr lang="en-US" smtClean="0"/>
              <a:t>2- logical model</a:t>
            </a:r>
            <a:endParaRPr lang="en-US" smtClean="0"/>
          </a:p>
          <a:p>
            <a:pPr eaLnBrk="1" hangingPunct="1"/>
            <a:r>
              <a:rPr lang="en-US" smtClean="0"/>
              <a:t>3- physical model</a:t>
            </a:r>
            <a:endParaRPr lang="en-US" smtClean="0"/>
          </a:p>
          <a:p>
            <a:pPr eaLnBrk="1" hangingPunct="1"/>
            <a:endParaRPr lang="en-US" smtClean="0"/>
          </a:p>
        </p:txBody>
      </p:sp>
      <p:sp>
        <p:nvSpPr>
          <p:cNvPr id="4" name="Date Placeholder 3"/>
          <p:cNvSpPr>
            <a:spLocks noGrp="1"/>
          </p:cNvSpPr>
          <p:nvPr>
            <p:ph type="dt" sz="half" idx="10"/>
          </p:nvPr>
        </p:nvSpPr>
        <p:spPr/>
        <p:txBody>
          <a:bodyPr/>
          <a:lstStyle/>
          <a:p>
            <a:pPr>
              <a:defRPr/>
            </a:pPr>
            <a:fld id="{AE0C3DF6-530B-451D-8251-CE8B90CFF64F}"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838200"/>
          </a:xfrm>
        </p:spPr>
        <p:txBody>
          <a:bodyPr>
            <a:normAutofit fontScale="90000"/>
          </a:bodyPr>
          <a:lstStyle/>
          <a:p>
            <a:pPr algn="ctr">
              <a:defRPr/>
            </a:pPr>
            <a:r>
              <a:rPr lang="en-US" sz="3200" b="1" dirty="0" smtClean="0"/>
              <a:t>Comparison between the three ways of data modeling</a:t>
            </a:r>
            <a:endParaRPr lang="en-US" sz="3200" b="1" dirty="0"/>
          </a:p>
        </p:txBody>
      </p:sp>
      <p:graphicFrame>
        <p:nvGraphicFramePr>
          <p:cNvPr id="4" name="Content Placeholder 3"/>
          <p:cNvGraphicFramePr>
            <a:graphicFrameLocks noGrp="1"/>
          </p:cNvGraphicFramePr>
          <p:nvPr>
            <p:ph idx="1"/>
          </p:nvPr>
        </p:nvGraphicFramePr>
        <p:xfrm>
          <a:off x="609599" y="1219200"/>
          <a:ext cx="7924801" cy="5105403"/>
        </p:xfrm>
        <a:graphic>
          <a:graphicData uri="http://schemas.openxmlformats.org/drawingml/2006/table">
            <a:tbl>
              <a:tblPr firstRow="1" bandRow="1">
                <a:tableStyleId>{5C22544A-7EE6-4342-B048-85BDC9FD1C3A}</a:tableStyleId>
              </a:tblPr>
              <a:tblGrid>
                <a:gridCol w="2089267"/>
                <a:gridCol w="1945178"/>
                <a:gridCol w="1945178"/>
                <a:gridCol w="1945178"/>
              </a:tblGrid>
              <a:tr h="567267">
                <a:tc>
                  <a:txBody>
                    <a:bodyPr/>
                    <a:lstStyle/>
                    <a:p>
                      <a:pPr marL="0" marR="0" algn="ctr" rtl="0" eaLnBrk="1" latinLnBrk="0" hangingPunct="1">
                        <a:lnSpc>
                          <a:spcPct val="115000"/>
                        </a:lnSpc>
                        <a:spcBef>
                          <a:spcPts val="0"/>
                        </a:spcBef>
                        <a:spcAft>
                          <a:spcPts val="0"/>
                        </a:spcAft>
                      </a:pPr>
                      <a:r>
                        <a:rPr kumimoji="0" lang="en-US" sz="1800" b="1" kern="1200" dirty="0" smtClean="0">
                          <a:solidFill>
                            <a:schemeClr val="lt1"/>
                          </a:solidFill>
                          <a:latin typeface="+mn-lt"/>
                          <a:ea typeface="+mn-ea"/>
                          <a:cs typeface="+mn-cs"/>
                        </a:rPr>
                        <a:t>Feature</a:t>
                      </a:r>
                      <a:endParaRPr kumimoji="0" lang="en-US" sz="1800" b="1" kern="1200" dirty="0" smtClean="0">
                        <a:solidFill>
                          <a:schemeClr val="lt1"/>
                        </a:solidFill>
                        <a:latin typeface="+mn-lt"/>
                        <a:ea typeface="+mn-ea"/>
                        <a:cs typeface="+mn-cs"/>
                      </a:endParaRPr>
                    </a:p>
                  </a:txBody>
                  <a:tcPr marL="9525" marR="9525" marT="9525" marB="9525" anchor="ctr"/>
                </a:tc>
                <a:tc>
                  <a:txBody>
                    <a:bodyPr/>
                    <a:lstStyle/>
                    <a:p>
                      <a:pPr marL="0" marR="0" algn="ctr" rtl="0" eaLnBrk="1" latinLnBrk="0" hangingPunct="1">
                        <a:lnSpc>
                          <a:spcPct val="115000"/>
                        </a:lnSpc>
                        <a:spcBef>
                          <a:spcPts val="0"/>
                        </a:spcBef>
                        <a:spcAft>
                          <a:spcPts val="0"/>
                        </a:spcAft>
                      </a:pPr>
                      <a:r>
                        <a:rPr kumimoji="0" lang="en-US" sz="1800" b="1" kern="1200" dirty="0" smtClean="0">
                          <a:solidFill>
                            <a:schemeClr val="lt1"/>
                          </a:solidFill>
                          <a:latin typeface="+mn-lt"/>
                          <a:ea typeface="+mn-ea"/>
                          <a:cs typeface="+mn-cs"/>
                        </a:rPr>
                        <a:t>Conceptual</a:t>
                      </a:r>
                      <a:endParaRPr kumimoji="0" lang="en-US" sz="1800" b="1" kern="1200" dirty="0" smtClean="0">
                        <a:solidFill>
                          <a:schemeClr val="lt1"/>
                        </a:solidFill>
                        <a:latin typeface="+mn-lt"/>
                        <a:ea typeface="+mn-ea"/>
                        <a:cs typeface="+mn-cs"/>
                      </a:endParaRPr>
                    </a:p>
                  </a:txBody>
                  <a:tcPr marL="9525" marR="9525" marT="9525" marB="9525" anchor="ctr"/>
                </a:tc>
                <a:tc>
                  <a:txBody>
                    <a:bodyPr/>
                    <a:lstStyle/>
                    <a:p>
                      <a:pPr algn="ctr"/>
                      <a:r>
                        <a:rPr kumimoji="0" lang="en-US" sz="1800" b="1" kern="1200" dirty="0" smtClean="0">
                          <a:solidFill>
                            <a:schemeClr val="lt1"/>
                          </a:solidFill>
                          <a:latin typeface="+mn-lt"/>
                          <a:ea typeface="+mn-ea"/>
                          <a:cs typeface="+mn-cs"/>
                        </a:rPr>
                        <a:t>Logical</a:t>
                      </a:r>
                      <a:endParaRPr kumimoji="0" lang="en-US" sz="1800" b="1" kern="1200" dirty="0" smtClean="0">
                        <a:solidFill>
                          <a:schemeClr val="lt1"/>
                        </a:solidFill>
                        <a:latin typeface="+mn-lt"/>
                        <a:ea typeface="+mn-ea"/>
                        <a:cs typeface="+mn-cs"/>
                      </a:endParaRPr>
                    </a:p>
                  </a:txBody>
                  <a:tcPr/>
                </a:tc>
                <a:tc>
                  <a:txBody>
                    <a:bodyPr/>
                    <a:lstStyle/>
                    <a:p>
                      <a:pPr marL="0" marR="0" algn="ctr" rtl="0" eaLnBrk="1" latinLnBrk="0" hangingPunct="1">
                        <a:lnSpc>
                          <a:spcPct val="115000"/>
                        </a:lnSpc>
                        <a:spcBef>
                          <a:spcPts val="0"/>
                        </a:spcBef>
                        <a:spcAft>
                          <a:spcPts val="0"/>
                        </a:spcAft>
                      </a:pPr>
                      <a:r>
                        <a:rPr kumimoji="0" lang="en-US" sz="1800" b="1" kern="1200" dirty="0" smtClean="0">
                          <a:solidFill>
                            <a:schemeClr val="lt1"/>
                          </a:solidFill>
                          <a:latin typeface="+mn-lt"/>
                          <a:ea typeface="+mn-ea"/>
                          <a:cs typeface="+mn-cs"/>
                        </a:rPr>
                        <a:t>Physical</a:t>
                      </a:r>
                      <a:endParaRPr kumimoji="0" lang="en-US" sz="1800" b="1" kern="1200" dirty="0" smtClean="0">
                        <a:solidFill>
                          <a:schemeClr val="lt1"/>
                        </a:solidFill>
                        <a:latin typeface="+mn-lt"/>
                        <a:ea typeface="+mn-ea"/>
                        <a:cs typeface="+mn-cs"/>
                      </a:endParaRPr>
                    </a:p>
                  </a:txBody>
                  <a:tcPr marL="9525" marR="9525" marT="9525" marB="9525" anchor="ctr"/>
                </a:tc>
              </a:tr>
              <a:tr h="567267">
                <a:tc>
                  <a:txBody>
                    <a:bodyPr/>
                    <a:lstStyle/>
                    <a:p>
                      <a:pPr marL="0" marR="0">
                        <a:lnSpc>
                          <a:spcPct val="115000"/>
                        </a:lnSpc>
                        <a:spcBef>
                          <a:spcPts val="0"/>
                        </a:spcBef>
                        <a:spcAft>
                          <a:spcPts val="0"/>
                        </a:spcAft>
                      </a:pPr>
                      <a:r>
                        <a:rPr lang="en-US" sz="1200" dirty="0">
                          <a:latin typeface="Times New Roman" panose="02020603050405020304"/>
                          <a:ea typeface="Times New Roman" panose="02020603050405020304"/>
                          <a:cs typeface="Times New Roman" panose="02020603050405020304"/>
                        </a:rPr>
                        <a:t>Entity Names</a:t>
                      </a:r>
                      <a:endParaRPr lang="en-US" sz="1100" dirty="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dirty="0">
                          <a:latin typeface="MS Mincho"/>
                          <a:ea typeface="Calibri" panose="020F0502020204030204"/>
                          <a:cs typeface="MS Mincho"/>
                        </a:rPr>
                        <a:t>✓</a:t>
                      </a:r>
                      <a:endParaRPr lang="en-US" sz="1100" dirty="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Entity Relationships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dirty="0">
                          <a:latin typeface="MS Mincho"/>
                          <a:ea typeface="Calibri" panose="020F0502020204030204"/>
                          <a:cs typeface="MS Mincho"/>
                        </a:rPr>
                        <a:t>✓</a:t>
                      </a:r>
                      <a:endParaRPr lang="en-US" sz="1100" dirty="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dirty="0">
                          <a:latin typeface="MS Mincho"/>
                          <a:ea typeface="Calibri" panose="020F0502020204030204"/>
                          <a:cs typeface="MS Mincho"/>
                        </a:rPr>
                        <a:t>✓</a:t>
                      </a:r>
                      <a:endParaRPr lang="en-US" sz="1100" dirty="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Attributes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Primary Keys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Foreign Keys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Table Names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Column Names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a:latin typeface="MS Mincho"/>
                          <a:ea typeface="Calibri" panose="020F0502020204030204"/>
                          <a:cs typeface="MS Mincho"/>
                        </a:rPr>
                        <a:t>✓</a:t>
                      </a:r>
                      <a:endParaRPr lang="en-US" sz="1100">
                        <a:latin typeface="Calibri" panose="020F0502020204030204"/>
                        <a:ea typeface="Calibri" panose="020F0502020204030204"/>
                        <a:cs typeface="Times New Roman" panose="02020603050405020304"/>
                      </a:endParaRPr>
                    </a:p>
                  </a:txBody>
                  <a:tcPr marL="9525" marR="9525" marT="9525" marB="9525" anchor="ctr"/>
                </a:tc>
              </a:tr>
              <a:tr h="567267">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Column Data Types</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dirty="0">
                          <a:latin typeface="Times New Roman" panose="02020603050405020304"/>
                          <a:ea typeface="Times New Roman" panose="02020603050405020304"/>
                          <a:cs typeface="Times New Roman" panose="02020603050405020304"/>
                        </a:rPr>
                        <a:t>  </a:t>
                      </a:r>
                      <a:endParaRPr lang="en-US" sz="1100" dirty="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nSpc>
                          <a:spcPct val="115000"/>
                        </a:lnSpc>
                        <a:spcBef>
                          <a:spcPts val="0"/>
                        </a:spcBef>
                        <a:spcAft>
                          <a:spcPts val="0"/>
                        </a:spcAft>
                      </a:pPr>
                      <a:r>
                        <a:rPr lang="en-US" sz="1200">
                          <a:latin typeface="Times New Roman" panose="02020603050405020304"/>
                          <a:ea typeface="Times New Roman" panose="02020603050405020304"/>
                          <a:cs typeface="Times New Roman" panose="02020603050405020304"/>
                        </a:rPr>
                        <a:t>  </a:t>
                      </a:r>
                      <a:endParaRPr lang="en-US" sz="1100">
                        <a:latin typeface="Calibri" panose="020F0502020204030204"/>
                        <a:ea typeface="Calibri" panose="020F0502020204030204"/>
                        <a:cs typeface="Times New Roman" panose="02020603050405020304"/>
                      </a:endParaRPr>
                    </a:p>
                  </a:txBody>
                  <a:tcPr marL="9525" marR="9525" marT="9525" marB="9525" anchor="ctr"/>
                </a:tc>
                <a:tc>
                  <a:txBody>
                    <a:bodyPr/>
                    <a:lstStyle/>
                    <a:p>
                      <a:pPr marL="0" marR="0" algn="ctr">
                        <a:lnSpc>
                          <a:spcPct val="115000"/>
                        </a:lnSpc>
                        <a:spcBef>
                          <a:spcPts val="0"/>
                        </a:spcBef>
                        <a:spcAft>
                          <a:spcPts val="0"/>
                        </a:spcAft>
                      </a:pPr>
                      <a:r>
                        <a:rPr lang="en-US" sz="1200" dirty="0">
                          <a:latin typeface="MS Mincho"/>
                          <a:ea typeface="Calibri" panose="020F0502020204030204"/>
                          <a:cs typeface="MS Mincho"/>
                        </a:rPr>
                        <a:t>✓</a:t>
                      </a:r>
                      <a:endParaRPr lang="en-US" sz="1100" dirty="0">
                        <a:latin typeface="Calibri" panose="020F0502020204030204"/>
                        <a:ea typeface="Calibri" panose="020F0502020204030204"/>
                        <a:cs typeface="Times New Roman" panose="02020603050405020304"/>
                      </a:endParaRPr>
                    </a:p>
                  </a:txBody>
                  <a:tcPr marL="9525" marR="9525" marT="9525" marB="9525" anchor="ctr"/>
                </a:tc>
              </a:tr>
            </a:tbl>
          </a:graphicData>
        </a:graphic>
      </p:graphicFrame>
      <p:sp>
        <p:nvSpPr>
          <p:cNvPr id="5" name="Date Placeholder 4"/>
          <p:cNvSpPr>
            <a:spLocks noGrp="1"/>
          </p:cNvSpPr>
          <p:nvPr>
            <p:ph type="dt" sz="half" idx="10"/>
          </p:nvPr>
        </p:nvSpPr>
        <p:spPr/>
        <p:txBody>
          <a:bodyPr/>
          <a:lstStyle/>
          <a:p>
            <a:pPr>
              <a:defRPr/>
            </a:pPr>
            <a:fld id="{23E0F2B1-8A3C-4F4C-8790-B466EE13935B}" type="datetime1">
              <a:rPr lang="en-US" smtClean="0"/>
            </a:fld>
            <a:endParaRPr lang="en-US"/>
          </a:p>
        </p:txBody>
      </p:sp>
      <p:sp>
        <p:nvSpPr>
          <p:cNvPr id="7" name="Footer Placeholder 6"/>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pPr eaLnBrk="1" fontAlgn="auto" hangingPunct="1">
              <a:spcAft>
                <a:spcPts val="0"/>
              </a:spcAft>
              <a:defRPr/>
            </a:pPr>
            <a:r>
              <a:rPr lang="en-US" b="1" dirty="0" smtClean="0"/>
              <a:t>Levels of data modeling…</a:t>
            </a:r>
            <a:endParaRPr lang="en-US" b="1" dirty="0" smtClean="0"/>
          </a:p>
        </p:txBody>
      </p:sp>
      <p:sp>
        <p:nvSpPr>
          <p:cNvPr id="73731" name="Content Placeholder 2"/>
          <p:cNvSpPr>
            <a:spLocks noGrp="1"/>
          </p:cNvSpPr>
          <p:nvPr>
            <p:ph idx="1"/>
          </p:nvPr>
        </p:nvSpPr>
        <p:spPr>
          <a:xfrm>
            <a:off x="457200" y="2362200"/>
            <a:ext cx="8229600" cy="4114800"/>
          </a:xfrm>
        </p:spPr>
        <p:txBody>
          <a:bodyPr>
            <a:normAutofit/>
          </a:bodyPr>
          <a:lstStyle/>
          <a:p>
            <a:pPr marL="365760" indent="-255905" eaLnBrk="1" fontAlgn="auto" hangingPunct="1">
              <a:spcAft>
                <a:spcPts val="0"/>
              </a:spcAft>
              <a:buFont typeface="Wingdings 3" panose="05040102010807070707"/>
              <a:buChar char=""/>
              <a:defRPr/>
            </a:pPr>
            <a:r>
              <a:rPr lang="en-US" b="1" dirty="0" smtClean="0"/>
              <a:t>The conceptual model</a:t>
            </a:r>
            <a:endParaRPr lang="en-US" dirty="0" smtClean="0"/>
          </a:p>
          <a:p>
            <a:pPr algn="just">
              <a:defRPr/>
            </a:pPr>
            <a:r>
              <a:rPr lang="en-US" sz="2800" dirty="0" smtClean="0"/>
              <a:t>A conceptual data model identifies the highest-level relationships between the different entities. Features of conceptual data model include: </a:t>
            </a:r>
            <a:endParaRPr lang="en-US" sz="2800" dirty="0" smtClean="0"/>
          </a:p>
          <a:p>
            <a:pPr marL="849630" lvl="1" indent="-457200">
              <a:buFont typeface="+mj-lt"/>
              <a:buAutoNum type="arabicPeriod"/>
              <a:defRPr/>
            </a:pPr>
            <a:r>
              <a:rPr lang="en-US" sz="2400" dirty="0" smtClean="0"/>
              <a:t>The important entities and the relationships among them. </a:t>
            </a:r>
            <a:endParaRPr lang="en-US" sz="2400" dirty="0" smtClean="0"/>
          </a:p>
          <a:p>
            <a:pPr marL="849630" lvl="1" indent="-457200">
              <a:buFont typeface="+mj-lt"/>
              <a:buAutoNum type="arabicPeriod"/>
              <a:defRPr/>
            </a:pPr>
            <a:r>
              <a:rPr lang="en-US" sz="2400" dirty="0" smtClean="0"/>
              <a:t>No attribute is specified. </a:t>
            </a:r>
            <a:endParaRPr lang="en-US" sz="2400" dirty="0" smtClean="0"/>
          </a:p>
          <a:p>
            <a:pPr marL="849630" lvl="1" indent="-457200">
              <a:buFont typeface="+mj-lt"/>
              <a:buAutoNum type="arabicPeriod"/>
              <a:defRPr/>
            </a:pPr>
            <a:r>
              <a:rPr lang="en-US" sz="2400" dirty="0" smtClean="0"/>
              <a:t>No primary key is specified. </a:t>
            </a:r>
            <a:endParaRPr lang="en-US" sz="2400" dirty="0" smtClean="0"/>
          </a:p>
          <a:p>
            <a:pPr marL="365760" indent="-255905" eaLnBrk="1" fontAlgn="auto" hangingPunct="1">
              <a:spcAft>
                <a:spcPts val="0"/>
              </a:spcAft>
              <a:buFont typeface="Wingdings 3" panose="05040102010807070707"/>
              <a:buChar char=""/>
              <a:defRPr/>
            </a:pPr>
            <a:endParaRPr lang="en-US" dirty="0" smtClean="0"/>
          </a:p>
        </p:txBody>
      </p:sp>
      <p:sp>
        <p:nvSpPr>
          <p:cNvPr id="4" name="Date Placeholder 3"/>
          <p:cNvSpPr>
            <a:spLocks noGrp="1"/>
          </p:cNvSpPr>
          <p:nvPr>
            <p:ph type="dt" sz="half" idx="10"/>
          </p:nvPr>
        </p:nvSpPr>
        <p:spPr/>
        <p:txBody>
          <a:bodyPr/>
          <a:lstStyle/>
          <a:p>
            <a:pPr>
              <a:defRPr/>
            </a:pPr>
            <a:fld id="{94855C7C-4734-414B-860A-FB0609B9AFD1}"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915337"/>
            <a:ext cx="6798734" cy="761063"/>
          </a:xfrm>
        </p:spPr>
        <p:txBody>
          <a:bodyPr>
            <a:normAutofit fontScale="90000"/>
          </a:bodyPr>
          <a:lstStyle/>
          <a:p>
            <a:pPr>
              <a:defRPr/>
            </a:pPr>
            <a:r>
              <a:rPr lang="en-US" dirty="0" smtClean="0"/>
              <a:t>The figure below is an example of a conceptual data model. </a:t>
            </a:r>
            <a:endParaRPr lang="en-US" dirty="0"/>
          </a:p>
        </p:txBody>
      </p:sp>
      <p:pic>
        <p:nvPicPr>
          <p:cNvPr id="88067" name="Content Placeholder 3" descr="Conceptual Data Model"/>
          <p:cNvPicPr>
            <a:picLocks noGrp="1"/>
          </p:cNvPicPr>
          <p:nvPr>
            <p:ph idx="1"/>
          </p:nvPr>
        </p:nvPicPr>
        <p:blipFill>
          <a:blip r:embed="rId1"/>
          <a:srcRect/>
          <a:stretch>
            <a:fillRect/>
          </a:stretch>
        </p:blipFill>
        <p:spPr>
          <a:xfrm>
            <a:off x="1447800" y="1828800"/>
            <a:ext cx="5943600" cy="3810000"/>
          </a:xfrm>
        </p:spPr>
      </p:pic>
      <p:sp>
        <p:nvSpPr>
          <p:cNvPr id="4" name="Date Placeholder 3"/>
          <p:cNvSpPr>
            <a:spLocks noGrp="1"/>
          </p:cNvSpPr>
          <p:nvPr>
            <p:ph type="dt" sz="half" idx="10"/>
          </p:nvPr>
        </p:nvSpPr>
        <p:spPr/>
        <p:txBody>
          <a:bodyPr/>
          <a:lstStyle/>
          <a:p>
            <a:pPr>
              <a:defRPr/>
            </a:pPr>
            <a:fld id="{51F8E4D2-FAEF-46B4-9A98-13F4ED134C52}"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pPr eaLnBrk="1" fontAlgn="auto" hangingPunct="1">
              <a:spcAft>
                <a:spcPts val="0"/>
              </a:spcAft>
              <a:defRPr/>
            </a:pPr>
            <a:r>
              <a:rPr lang="en-US" b="1" dirty="0" smtClean="0"/>
              <a:t>The Logical Model</a:t>
            </a:r>
            <a:endParaRPr lang="en-US" b="1" dirty="0" smtClean="0"/>
          </a:p>
        </p:txBody>
      </p:sp>
      <p:sp>
        <p:nvSpPr>
          <p:cNvPr id="89090" name="Content Placeholder 2"/>
          <p:cNvSpPr>
            <a:spLocks noGrp="1"/>
          </p:cNvSpPr>
          <p:nvPr>
            <p:ph idx="1"/>
          </p:nvPr>
        </p:nvSpPr>
        <p:spPr>
          <a:xfrm>
            <a:off x="685800" y="2219204"/>
            <a:ext cx="7772400" cy="4333996"/>
          </a:xfrm>
        </p:spPr>
        <p:txBody>
          <a:bodyPr>
            <a:normAutofit/>
          </a:bodyPr>
          <a:lstStyle/>
          <a:p>
            <a:pPr algn="just"/>
            <a:r>
              <a:rPr lang="en-US" dirty="0" smtClean="0"/>
              <a:t>A logical data model describes the data in as much detail as possible, without regard to how they will be physically implemented in the database. Features of a logical data model include: </a:t>
            </a:r>
            <a:endParaRPr lang="en-US" dirty="0" smtClean="0"/>
          </a:p>
          <a:p>
            <a:r>
              <a:rPr lang="en-US" dirty="0" smtClean="0"/>
              <a:t>All entities and relationships among them. </a:t>
            </a:r>
            <a:endParaRPr lang="en-US" dirty="0" smtClean="0"/>
          </a:p>
          <a:p>
            <a:r>
              <a:rPr lang="en-US" dirty="0" smtClean="0"/>
              <a:t>All attributes for each entity are specified. </a:t>
            </a:r>
            <a:endParaRPr lang="en-US" dirty="0" smtClean="0"/>
          </a:p>
          <a:p>
            <a:r>
              <a:rPr lang="en-US" dirty="0" smtClean="0"/>
              <a:t>The primary key for each entity is specified. </a:t>
            </a:r>
            <a:endParaRPr lang="en-US" dirty="0" smtClean="0"/>
          </a:p>
          <a:p>
            <a:r>
              <a:rPr lang="en-US" dirty="0" smtClean="0"/>
              <a:t>Foreign keys (keys identifying the relationship between different entities) are specified. </a:t>
            </a:r>
            <a:endParaRPr lang="en-US" dirty="0" smtClean="0"/>
          </a:p>
        </p:txBody>
      </p:sp>
      <p:sp>
        <p:nvSpPr>
          <p:cNvPr id="4" name="Date Placeholder 3"/>
          <p:cNvSpPr>
            <a:spLocks noGrp="1"/>
          </p:cNvSpPr>
          <p:nvPr>
            <p:ph type="dt" sz="half" idx="10"/>
          </p:nvPr>
        </p:nvSpPr>
        <p:spPr/>
        <p:txBody>
          <a:bodyPr/>
          <a:lstStyle/>
          <a:p>
            <a:pPr>
              <a:defRPr/>
            </a:pPr>
            <a:fld id="{AB250267-95DF-4C21-BFC2-D1C8C95908FA}"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The steps for designing the logical data model are as follows: </a:t>
            </a:r>
            <a:br>
              <a:rPr lang="en-US" dirty="0" smtClean="0"/>
            </a:br>
            <a:endParaRPr lang="en-US" dirty="0"/>
          </a:p>
        </p:txBody>
      </p:sp>
      <p:sp>
        <p:nvSpPr>
          <p:cNvPr id="90114" name="Content Placeholder 1"/>
          <p:cNvSpPr>
            <a:spLocks noGrp="1"/>
          </p:cNvSpPr>
          <p:nvPr>
            <p:ph idx="1"/>
          </p:nvPr>
        </p:nvSpPr>
        <p:spPr/>
        <p:txBody>
          <a:bodyPr>
            <a:normAutofit fontScale="92500" lnSpcReduction="10000"/>
          </a:bodyPr>
          <a:lstStyle/>
          <a:p>
            <a:pPr algn="just"/>
            <a:r>
              <a:rPr lang="en-US" sz="3200" dirty="0" smtClean="0"/>
              <a:t>Specify primary keys for all entities. </a:t>
            </a:r>
            <a:endParaRPr lang="en-US" sz="3200" dirty="0" smtClean="0"/>
          </a:p>
          <a:p>
            <a:pPr algn="just"/>
            <a:r>
              <a:rPr lang="en-US" sz="3200" dirty="0" smtClean="0"/>
              <a:t>Find the relationships between different entities. </a:t>
            </a:r>
            <a:endParaRPr lang="en-US" sz="3200" dirty="0" smtClean="0"/>
          </a:p>
          <a:p>
            <a:pPr algn="just"/>
            <a:r>
              <a:rPr lang="en-US" sz="3200" dirty="0" smtClean="0"/>
              <a:t>Find all attributes for each entity. </a:t>
            </a:r>
            <a:endParaRPr lang="en-US" sz="3200" dirty="0" smtClean="0"/>
          </a:p>
          <a:p>
            <a:pPr algn="just"/>
            <a:r>
              <a:rPr lang="en-US" sz="3200" dirty="0" smtClean="0"/>
              <a:t>Resolve many-to-many relationships. </a:t>
            </a:r>
            <a:endParaRPr lang="en-US" sz="3200" dirty="0" smtClean="0"/>
          </a:p>
          <a:p>
            <a:pPr algn="just"/>
            <a:r>
              <a:rPr lang="en-US" sz="3200" dirty="0" smtClean="0"/>
              <a:t>Normalization. </a:t>
            </a:r>
            <a:endParaRPr lang="en-US" sz="3200" dirty="0" smtClean="0"/>
          </a:p>
          <a:p>
            <a:endParaRPr lang="en-US" dirty="0" smtClean="0"/>
          </a:p>
        </p:txBody>
      </p:sp>
      <p:sp>
        <p:nvSpPr>
          <p:cNvPr id="4" name="Date Placeholder 3"/>
          <p:cNvSpPr>
            <a:spLocks noGrp="1"/>
          </p:cNvSpPr>
          <p:nvPr>
            <p:ph type="dt" sz="half" idx="10"/>
          </p:nvPr>
        </p:nvSpPr>
        <p:spPr/>
        <p:txBody>
          <a:bodyPr/>
          <a:lstStyle/>
          <a:p>
            <a:pPr>
              <a:defRPr/>
            </a:pPr>
            <a:fld id="{66D2BCFF-C4AA-4651-8722-A33C6F989A8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The figure below is an example of a logical data model. </a:t>
            </a:r>
            <a:endParaRPr lang="en-US" dirty="0"/>
          </a:p>
        </p:txBody>
      </p:sp>
      <p:pic>
        <p:nvPicPr>
          <p:cNvPr id="91139" name="Content Placeholder 3" descr="Logical Data Model"/>
          <p:cNvPicPr>
            <a:picLocks noGrp="1"/>
          </p:cNvPicPr>
          <p:nvPr>
            <p:ph idx="1"/>
          </p:nvPr>
        </p:nvPicPr>
        <p:blipFill>
          <a:blip r:embed="rId1"/>
          <a:stretch>
            <a:fillRect/>
          </a:stretch>
        </p:blipFill>
        <p:spPr>
          <a:xfrm>
            <a:off x="2853531" y="2490788"/>
            <a:ext cx="3444875" cy="3444875"/>
          </a:xfrm>
        </p:spPr>
      </p:pic>
      <p:sp>
        <p:nvSpPr>
          <p:cNvPr id="4" name="Date Placeholder 3"/>
          <p:cNvSpPr>
            <a:spLocks noGrp="1"/>
          </p:cNvSpPr>
          <p:nvPr>
            <p:ph type="dt" sz="half" idx="10"/>
          </p:nvPr>
        </p:nvSpPr>
        <p:spPr/>
        <p:txBody>
          <a:bodyPr/>
          <a:lstStyle/>
          <a:p>
            <a:pPr>
              <a:defRPr/>
            </a:pPr>
            <a:fld id="{ABC4D0C8-8D07-406E-B4C1-A380CE69C0FD}"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Logical data model Vs conceptual data model diagrams</a:t>
            </a:r>
            <a:endParaRPr lang="en-US" dirty="0"/>
          </a:p>
        </p:txBody>
      </p:sp>
      <p:sp>
        <p:nvSpPr>
          <p:cNvPr id="2" name="Content Placeholder 1"/>
          <p:cNvSpPr>
            <a:spLocks noGrp="1"/>
          </p:cNvSpPr>
          <p:nvPr>
            <p:ph idx="1"/>
          </p:nvPr>
        </p:nvSpPr>
        <p:spPr/>
        <p:txBody>
          <a:bodyPr>
            <a:normAutofit fontScale="92500" lnSpcReduction="20000"/>
          </a:bodyPr>
          <a:lstStyle/>
          <a:p>
            <a:pPr algn="just">
              <a:defRPr/>
            </a:pPr>
            <a:r>
              <a:rPr lang="en-US" sz="2350" dirty="0" smtClean="0"/>
              <a:t>In a logical data model, primary keys are present, whereas in a conceptual data model, no primary key is present. </a:t>
            </a:r>
            <a:endParaRPr lang="en-US" sz="2350" dirty="0" smtClean="0"/>
          </a:p>
          <a:p>
            <a:pPr algn="just">
              <a:defRPr/>
            </a:pPr>
            <a:r>
              <a:rPr lang="en-US" sz="2350" dirty="0" smtClean="0"/>
              <a:t>In a logical data model, all attributes are specified within an entity. No attributes are specified in a conceptual data model. </a:t>
            </a:r>
            <a:endParaRPr lang="en-US" sz="2350" dirty="0" smtClean="0"/>
          </a:p>
          <a:p>
            <a:pPr algn="just">
              <a:defRPr/>
            </a:pPr>
            <a:r>
              <a:rPr lang="en-US" sz="2350" dirty="0" smtClean="0"/>
              <a:t>Relationships between entities are specified using primary keys and foreign keys in a logical data model. In a conceptual data model, the relationships are simply stated, not specified, so we simply know that two entities are related, but we do not specify what attributes are used for this relationship. </a:t>
            </a:r>
            <a:endParaRPr lang="en-US" sz="2350" dirty="0" smtClean="0"/>
          </a:p>
          <a:p>
            <a:pPr>
              <a:defRPr/>
            </a:pPr>
            <a:endParaRPr lang="en-US" dirty="0"/>
          </a:p>
        </p:txBody>
      </p:sp>
      <p:sp>
        <p:nvSpPr>
          <p:cNvPr id="4" name="Date Placeholder 3"/>
          <p:cNvSpPr>
            <a:spLocks noGrp="1"/>
          </p:cNvSpPr>
          <p:nvPr>
            <p:ph type="dt" sz="half" idx="10"/>
          </p:nvPr>
        </p:nvSpPr>
        <p:spPr/>
        <p:txBody>
          <a:bodyPr/>
          <a:lstStyle/>
          <a:p>
            <a:pPr>
              <a:defRPr/>
            </a:pPr>
            <a:fld id="{8243B9CC-5C7E-4733-8CA4-9C0719A379DF}"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295400"/>
          </a:xfrm>
        </p:spPr>
        <p:txBody>
          <a:bodyPr>
            <a:normAutofit fontScale="90000"/>
          </a:bodyPr>
          <a:lstStyle/>
          <a:p>
            <a:pPr algn="ctr" eaLnBrk="1" fontAlgn="auto" hangingPunct="1">
              <a:spcAft>
                <a:spcPts val="0"/>
              </a:spcAft>
              <a:defRPr/>
            </a:pPr>
            <a:br>
              <a:rPr lang="en-US" dirty="0" smtClean="0"/>
            </a:br>
            <a:r>
              <a:rPr lang="en-US" b="1" dirty="0" smtClean="0"/>
              <a:t>The physical model</a:t>
            </a:r>
            <a:br>
              <a:rPr lang="en-US" b="1" dirty="0" smtClean="0"/>
            </a:br>
            <a:endParaRPr lang="en-US" b="1" dirty="0" smtClean="0"/>
          </a:p>
        </p:txBody>
      </p:sp>
      <p:sp>
        <p:nvSpPr>
          <p:cNvPr id="93186" name="Content Placeholder 2"/>
          <p:cNvSpPr>
            <a:spLocks noGrp="1"/>
          </p:cNvSpPr>
          <p:nvPr>
            <p:ph idx="1"/>
          </p:nvPr>
        </p:nvSpPr>
        <p:spPr>
          <a:xfrm>
            <a:off x="381000" y="2362200"/>
            <a:ext cx="8382000" cy="3733800"/>
          </a:xfrm>
        </p:spPr>
        <p:txBody>
          <a:bodyPr>
            <a:normAutofit lnSpcReduction="10000"/>
          </a:bodyPr>
          <a:lstStyle/>
          <a:p>
            <a:pPr algn="just" eaLnBrk="1" hangingPunct="1"/>
            <a:r>
              <a:rPr lang="en-US" sz="3600" dirty="0" smtClean="0"/>
              <a:t>Physical data model represents how the model will be built in the database. </a:t>
            </a:r>
            <a:endParaRPr lang="en-US" sz="3600" dirty="0" smtClean="0"/>
          </a:p>
          <a:p>
            <a:pPr algn="just" eaLnBrk="1" hangingPunct="1"/>
            <a:r>
              <a:rPr lang="en-US" sz="3600" dirty="0" smtClean="0"/>
              <a:t>A physical database model shows all table structures, including column names, column data types, column constraints, primary keys, foreign keys, and relationships between tables. </a:t>
            </a:r>
            <a:endParaRPr lang="en-US" sz="3600" dirty="0" smtClean="0"/>
          </a:p>
        </p:txBody>
      </p:sp>
      <p:sp>
        <p:nvSpPr>
          <p:cNvPr id="4" name="Date Placeholder 3"/>
          <p:cNvSpPr>
            <a:spLocks noGrp="1"/>
          </p:cNvSpPr>
          <p:nvPr>
            <p:ph type="dt" sz="half" idx="10"/>
          </p:nvPr>
        </p:nvSpPr>
        <p:spPr/>
        <p:txBody>
          <a:bodyPr/>
          <a:lstStyle/>
          <a:p>
            <a:pPr>
              <a:defRPr/>
            </a:pPr>
            <a:fld id="{F1824BD0-4648-408F-84D8-E0444DE73A7C}"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Features of a physical data model include: </a:t>
            </a:r>
            <a:endParaRPr lang="en-US" dirty="0"/>
          </a:p>
        </p:txBody>
      </p:sp>
      <p:sp>
        <p:nvSpPr>
          <p:cNvPr id="94210" name="Content Placeholder 1"/>
          <p:cNvSpPr>
            <a:spLocks noGrp="1"/>
          </p:cNvSpPr>
          <p:nvPr>
            <p:ph idx="1"/>
          </p:nvPr>
        </p:nvSpPr>
        <p:spPr/>
        <p:txBody>
          <a:bodyPr>
            <a:normAutofit fontScale="85000" lnSpcReduction="10000"/>
          </a:bodyPr>
          <a:lstStyle/>
          <a:p>
            <a:pPr algn="just"/>
            <a:r>
              <a:rPr lang="en-US" sz="2500" smtClean="0"/>
              <a:t>Specification of all tables and columns. </a:t>
            </a:r>
            <a:endParaRPr lang="en-US" sz="2500" smtClean="0"/>
          </a:p>
          <a:p>
            <a:pPr algn="just"/>
            <a:r>
              <a:rPr lang="en-US" sz="2500" smtClean="0"/>
              <a:t>Foreign keys are used to identify relationships between tables. </a:t>
            </a:r>
            <a:endParaRPr lang="en-US" sz="2500" smtClean="0"/>
          </a:p>
          <a:p>
            <a:pPr algn="just"/>
            <a:r>
              <a:rPr lang="en-US" sz="2500" smtClean="0"/>
              <a:t>Denormalization may occur based on user requirements. </a:t>
            </a:r>
            <a:endParaRPr lang="en-US" sz="2500" smtClean="0"/>
          </a:p>
          <a:p>
            <a:pPr algn="just"/>
            <a:r>
              <a:rPr lang="en-US" sz="2500" smtClean="0"/>
              <a:t>Physical considerations may cause the physical data model to be quite different from the logical data model. </a:t>
            </a:r>
            <a:endParaRPr lang="en-US" sz="2500" smtClean="0"/>
          </a:p>
          <a:p>
            <a:pPr algn="just"/>
            <a:r>
              <a:rPr lang="en-US" sz="2500" smtClean="0"/>
              <a:t>Physical data model will be different for different RDBMS. For example, data type for a column may be different between MySQL and SQL Server. </a:t>
            </a:r>
            <a:endParaRPr lang="en-US" sz="2500" smtClean="0"/>
          </a:p>
          <a:p>
            <a:endParaRPr lang="en-US" smtClean="0"/>
          </a:p>
        </p:txBody>
      </p:sp>
      <p:sp>
        <p:nvSpPr>
          <p:cNvPr id="4" name="Date Placeholder 3"/>
          <p:cNvSpPr>
            <a:spLocks noGrp="1"/>
          </p:cNvSpPr>
          <p:nvPr>
            <p:ph type="dt" sz="half" idx="10"/>
          </p:nvPr>
        </p:nvSpPr>
        <p:spPr/>
        <p:txBody>
          <a:bodyPr/>
          <a:lstStyle/>
          <a:p>
            <a:pPr>
              <a:defRPr/>
            </a:pPr>
            <a:fld id="{CC9367F5-129A-4EF0-BA90-A97B8DA553A3}"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The steps for physical data model design are as follows: </a:t>
            </a:r>
            <a:endParaRPr lang="en-US" dirty="0"/>
          </a:p>
        </p:txBody>
      </p:sp>
      <p:sp>
        <p:nvSpPr>
          <p:cNvPr id="95234" name="Content Placeholder 1"/>
          <p:cNvSpPr>
            <a:spLocks noGrp="1"/>
          </p:cNvSpPr>
          <p:nvPr>
            <p:ph idx="1"/>
          </p:nvPr>
        </p:nvSpPr>
        <p:spPr/>
        <p:txBody>
          <a:bodyPr>
            <a:normAutofit fontScale="92500" lnSpcReduction="10000"/>
          </a:bodyPr>
          <a:lstStyle/>
          <a:p>
            <a:pPr algn="just"/>
            <a:r>
              <a:rPr lang="en-US" sz="3600" smtClean="0"/>
              <a:t>Convert entities into tables. </a:t>
            </a:r>
            <a:endParaRPr lang="en-US" sz="3600" smtClean="0"/>
          </a:p>
          <a:p>
            <a:pPr algn="just"/>
            <a:r>
              <a:rPr lang="en-US" sz="3600" smtClean="0"/>
              <a:t>Convert relationships into foreign keys. </a:t>
            </a:r>
            <a:endParaRPr lang="en-US" sz="3600" smtClean="0"/>
          </a:p>
          <a:p>
            <a:pPr algn="just"/>
            <a:r>
              <a:rPr lang="en-US" sz="3600" smtClean="0"/>
              <a:t>Convert attributes into columns. </a:t>
            </a:r>
            <a:endParaRPr lang="en-US" sz="3600" smtClean="0"/>
          </a:p>
          <a:p>
            <a:pPr algn="just"/>
            <a:r>
              <a:rPr lang="en-US" sz="3600" smtClean="0"/>
              <a:t>Modify the physical data model based on physical constraints / requirements. </a:t>
            </a:r>
            <a:endParaRPr lang="en-US" sz="3600" smtClean="0"/>
          </a:p>
          <a:p>
            <a:endParaRPr lang="en-US" smtClean="0"/>
          </a:p>
        </p:txBody>
      </p:sp>
      <p:sp>
        <p:nvSpPr>
          <p:cNvPr id="4" name="Date Placeholder 3"/>
          <p:cNvSpPr>
            <a:spLocks noGrp="1"/>
          </p:cNvSpPr>
          <p:nvPr>
            <p:ph type="dt" sz="half" idx="10"/>
          </p:nvPr>
        </p:nvSpPr>
        <p:spPr/>
        <p:txBody>
          <a:bodyPr/>
          <a:lstStyle/>
          <a:p>
            <a:pPr>
              <a:defRPr/>
            </a:pPr>
            <a:fld id="{36879EEB-F0DE-478C-B7A9-4FAE37295BDE}"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smtClean="0"/>
              <a:t>The figure below is an example of a physical data model. </a:t>
            </a:r>
            <a:endParaRPr lang="en-US" dirty="0"/>
          </a:p>
        </p:txBody>
      </p:sp>
      <p:pic>
        <p:nvPicPr>
          <p:cNvPr id="96259" name="Content Placeholder 3" descr="Physical Data Model"/>
          <p:cNvPicPr>
            <a:picLocks noGrp="1"/>
          </p:cNvPicPr>
          <p:nvPr>
            <p:ph idx="1"/>
          </p:nvPr>
        </p:nvPicPr>
        <p:blipFill>
          <a:blip r:embed="rId1"/>
          <a:stretch>
            <a:fillRect/>
          </a:stretch>
        </p:blipFill>
        <p:spPr>
          <a:xfrm>
            <a:off x="2438400" y="2819400"/>
            <a:ext cx="4191000" cy="3524250"/>
          </a:xfrm>
        </p:spPr>
      </p:pic>
      <p:sp>
        <p:nvSpPr>
          <p:cNvPr id="4" name="Date Placeholder 3"/>
          <p:cNvSpPr>
            <a:spLocks noGrp="1"/>
          </p:cNvSpPr>
          <p:nvPr>
            <p:ph type="dt" sz="half" idx="10"/>
          </p:nvPr>
        </p:nvSpPr>
        <p:spPr/>
        <p:txBody>
          <a:bodyPr/>
          <a:lstStyle/>
          <a:p>
            <a:pPr>
              <a:defRPr/>
            </a:pPr>
            <a:fld id="{26893F01-0AB9-422E-AE87-96C5BC734426}" type="datetime1">
              <a:rPr lang="en-US" smtClean="0"/>
            </a:fld>
            <a:endParaRPr lang="en-US"/>
          </a:p>
        </p:txBody>
      </p:sp>
      <p:sp>
        <p:nvSpPr>
          <p:cNvPr id="6" name="Footer Placeholder 5"/>
          <p:cNvSpPr>
            <a:spLocks noGrp="1"/>
          </p:cNvSpPr>
          <p:nvPr>
            <p:ph type="ftr" sz="quarter" idx="11"/>
          </p:nvPr>
        </p:nvSpPr>
        <p:spPr/>
        <p:txBody>
          <a:bodyPr/>
          <a:lstStyle/>
          <a:p>
            <a:pPr>
              <a:defRPr/>
            </a:pPr>
            <a:r>
              <a:rPr lang="en-US" smtClean="0"/>
              <a:t>DB Systems Design I                   Edison Nkurunungi</a:t>
            </a:r>
            <a:endParaRPr lang="en-US"/>
          </a:p>
        </p:txBody>
      </p:sp>
      <p:sp>
        <p:nvSpPr>
          <p:cNvPr id="5" name="Slide Number Placeholder 4"/>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r>
              <a:rPr lang="en-US" b="1" dirty="0" smtClean="0"/>
              <a:t>END</a:t>
            </a:r>
            <a:endParaRPr lang="en-US" b="1" dirty="0"/>
          </a:p>
        </p:txBody>
      </p:sp>
      <p:sp>
        <p:nvSpPr>
          <p:cNvPr id="4" name="Date Placeholder 3"/>
          <p:cNvSpPr>
            <a:spLocks noGrp="1"/>
          </p:cNvSpPr>
          <p:nvPr>
            <p:ph type="dt" sz="half" idx="10"/>
          </p:nvPr>
        </p:nvSpPr>
        <p:spPr/>
        <p:txBody>
          <a:bodyPr/>
          <a:lstStyle/>
          <a:p>
            <a:pPr>
              <a:defRPr/>
            </a:pPr>
            <a:fld id="{7325EF68-F9D1-409D-83F2-827D03B0A35B}" type="datetime1">
              <a:rPr lang="en-US" smtClean="0"/>
            </a:fld>
            <a:endParaRPr lang="en-US"/>
          </a:p>
        </p:txBody>
      </p:sp>
      <p:sp>
        <p:nvSpPr>
          <p:cNvPr id="5" name="Footer Placeholder 4"/>
          <p:cNvSpPr>
            <a:spLocks noGrp="1"/>
          </p:cNvSpPr>
          <p:nvPr>
            <p:ph type="ftr" sz="quarter" idx="11"/>
          </p:nvPr>
        </p:nvSpPr>
        <p:spPr/>
        <p:txBody>
          <a:bodyPr/>
          <a:lstStyle/>
          <a:p>
            <a:pPr>
              <a:defRPr/>
            </a:pPr>
            <a:r>
              <a:rPr lang="en-US" smtClean="0"/>
              <a:t>DB Systems Design I                   Edison Nkurunungi</a:t>
            </a:r>
            <a:endParaRPr lang="en-US"/>
          </a:p>
        </p:txBody>
      </p:sp>
      <p:sp>
        <p:nvSpPr>
          <p:cNvPr id="6" name="Slide Number Placeholder 5"/>
          <p:cNvSpPr>
            <a:spLocks noGrp="1"/>
          </p:cNvSpPr>
          <p:nvPr>
            <p:ph type="sldNum" sz="quarter" idx="12"/>
          </p:nvPr>
        </p:nvSpPr>
        <p:spPr/>
        <p:txBody>
          <a:bodyPr/>
          <a:lstStyle/>
          <a:p>
            <a:pPr>
              <a:defRPr/>
            </a:pPr>
            <a:fld id="{9777E5D8-A2A8-4788-B912-0ED7B3759917}" type="slidenum">
              <a:rPr lang="en-US" smtClean="0"/>
            </a:fld>
            <a:endParaRPr lang="en-US"/>
          </a:p>
        </p:txBody>
      </p:sp>
    </p:spTree>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7B7A1C8-B861-492F-B9FB-61EE0CE27022}" type="datetime1">
              <a:rPr lang="en-US" smtClean="0"/>
            </a:fld>
            <a:endParaRPr lang="en-US"/>
          </a:p>
        </p:txBody>
      </p:sp>
      <p:sp>
        <p:nvSpPr>
          <p:cNvPr id="3" name="Footer Placeholder 2"/>
          <p:cNvSpPr>
            <a:spLocks noGrp="1"/>
          </p:cNvSpPr>
          <p:nvPr>
            <p:ph type="ftr" sz="quarter" idx="11"/>
          </p:nvPr>
        </p:nvSpPr>
        <p:spPr/>
        <p:txBody>
          <a:bodyPr/>
          <a:lstStyle/>
          <a:p>
            <a:pPr>
              <a:defRPr/>
            </a:pPr>
            <a:r>
              <a:rPr lang="en-US" smtClean="0"/>
              <a:t>DB Systems Design I                   Edison Nkurunungi</a:t>
            </a:r>
            <a:endParaRPr lang="en-US"/>
          </a:p>
        </p:txBody>
      </p:sp>
      <p:sp>
        <p:nvSpPr>
          <p:cNvPr id="4" name="Slide Number Placeholder 3"/>
          <p:cNvSpPr>
            <a:spLocks noGrp="1"/>
          </p:cNvSpPr>
          <p:nvPr>
            <p:ph type="sldNum" sz="quarter" idx="12"/>
          </p:nvPr>
        </p:nvSpPr>
        <p:spPr/>
        <p:txBody>
          <a:bodyPr/>
          <a:lstStyle/>
          <a:p>
            <a:pPr>
              <a:defRPr/>
            </a:pPr>
            <a:fld id="{5957C293-7A84-4ED3-88D5-70F031BF90B1}" type="slidenum">
              <a:rPr lang="en-US" smtClean="0"/>
            </a:fld>
            <a:endParaRPr lang="en-US"/>
          </a:p>
        </p:txBody>
      </p:sp>
      <p:sp>
        <p:nvSpPr>
          <p:cNvPr id="5" name="TextBox 4"/>
          <p:cNvSpPr txBox="1"/>
          <p:nvPr/>
        </p:nvSpPr>
        <p:spPr>
          <a:xfrm>
            <a:off x="2819400" y="2590800"/>
            <a:ext cx="3962400" cy="3170099"/>
          </a:xfrm>
          <a:prstGeom prst="rect">
            <a:avLst/>
          </a:prstGeom>
          <a:noFill/>
        </p:spPr>
        <p:txBody>
          <a:bodyPr wrap="square" rtlCol="0">
            <a:spAutoFit/>
          </a:bodyPr>
          <a:lstStyle/>
          <a:p>
            <a:pPr algn="ctr"/>
            <a:r>
              <a:rPr lang="en-US" sz="4000" b="1" dirty="0" smtClean="0"/>
              <a:t>***END***</a:t>
            </a:r>
            <a:endParaRPr lang="en-US" sz="4000" b="1" dirty="0" smtClean="0"/>
          </a:p>
          <a:p>
            <a:pPr algn="ctr"/>
            <a:endParaRPr lang="en-US" sz="4000" b="1" dirty="0" smtClean="0"/>
          </a:p>
          <a:p>
            <a:pPr algn="ctr"/>
            <a:r>
              <a:rPr lang="en-US" sz="4000" b="1" dirty="0" smtClean="0"/>
              <a:t>Thanks for your audience !!!</a:t>
            </a:r>
            <a:endParaRPr lang="en-US" sz="4000" b="1" dirty="0"/>
          </a:p>
        </p:txBody>
      </p:sp>
    </p:spTree>
  </p:cSld>
  <p:clrMapOvr>
    <a:masterClrMapping/>
  </p:clrMapOvr>
  <p:transition spd="med">
    <p:wipe dir="r"/>
  </p:transition>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38392</Words>
  <Application>WPS Presentation</Application>
  <PresentationFormat>On-screen Show (4:3)</PresentationFormat>
  <Paragraphs>1507</Paragraphs>
  <Slides>107</Slides>
  <Notes>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107</vt:i4>
      </vt:variant>
    </vt:vector>
  </HeadingPairs>
  <TitlesOfParts>
    <vt:vector size="125" baseType="lpstr">
      <vt:lpstr>Arial</vt:lpstr>
      <vt:lpstr>SimSun</vt:lpstr>
      <vt:lpstr>Wingdings</vt:lpstr>
      <vt:lpstr>Arial</vt:lpstr>
      <vt:lpstr>Times New Roman</vt:lpstr>
      <vt:lpstr>Wingdings 3</vt:lpstr>
      <vt:lpstr>Garamond</vt:lpstr>
      <vt:lpstr>Microsoft YaHei</vt:lpstr>
      <vt:lpstr>Arial Unicode MS</vt:lpstr>
      <vt:lpstr>Calibri</vt:lpstr>
      <vt:lpstr>Wingdings 3</vt:lpstr>
      <vt:lpstr>Lucida Sans Unicode</vt:lpstr>
      <vt:lpstr>Verdana</vt:lpstr>
      <vt:lpstr>Times New Roman</vt:lpstr>
      <vt:lpstr>Calibri</vt:lpstr>
      <vt:lpstr>MS Mincho</vt:lpstr>
      <vt:lpstr>Segoe Print</vt:lpstr>
      <vt:lpstr>Organic</vt:lpstr>
      <vt:lpstr>IT 122: DATABASE SYSTEMS DESIGN I</vt:lpstr>
      <vt:lpstr> Introduction</vt:lpstr>
      <vt:lpstr>Definition of (Database) Application Program</vt:lpstr>
      <vt:lpstr>Traditional File Systems </vt:lpstr>
      <vt:lpstr>Traditional file systems…</vt:lpstr>
      <vt:lpstr>Illustration of Traditional File System</vt:lpstr>
      <vt:lpstr>Traditional file systems…</vt:lpstr>
      <vt:lpstr>Characteristics of File Processing Systems</vt:lpstr>
      <vt:lpstr> Limitations / Problems with using File Systems </vt:lpstr>
      <vt:lpstr> Limitations / Problems with using File Systems cont’d </vt:lpstr>
      <vt:lpstr> Database Approach to Data Storage </vt:lpstr>
      <vt:lpstr>Database Approach</vt:lpstr>
      <vt:lpstr> What is a Database? </vt:lpstr>
      <vt:lpstr>Illustration of DBMS approach</vt:lpstr>
      <vt:lpstr>Differences between DBMS and File systems</vt:lpstr>
      <vt:lpstr>Differences between DBMS and File systems</vt:lpstr>
      <vt:lpstr>Differences between DBMS and File systems</vt:lpstr>
      <vt:lpstr>Differences between DBMS and File systems</vt:lpstr>
      <vt:lpstr>Differences between DBMS and File systems</vt:lpstr>
      <vt:lpstr>Differences between DBMS and File systems</vt:lpstr>
      <vt:lpstr>Simple database examples </vt:lpstr>
      <vt:lpstr>Individual.txt TEXT FILE</vt:lpstr>
      <vt:lpstr>Simple database examples….</vt:lpstr>
      <vt:lpstr>Simple database examples….</vt:lpstr>
      <vt:lpstr> Spreadsheet </vt:lpstr>
      <vt:lpstr>Ms Excel file</vt:lpstr>
      <vt:lpstr>Database Software </vt:lpstr>
      <vt:lpstr>Microsoft Access table </vt:lpstr>
      <vt:lpstr> So What's the Difference? </vt:lpstr>
      <vt:lpstr>Definitions: </vt:lpstr>
      <vt:lpstr>Definitions cont’d</vt:lpstr>
      <vt:lpstr>Database Systems Vs File Systems </vt:lpstr>
      <vt:lpstr>Database Systems Vs File Systems</vt:lpstr>
      <vt:lpstr>Database Systems Vs File Systems</vt:lpstr>
      <vt:lpstr>Database Systems Vs File Systems</vt:lpstr>
      <vt:lpstr>Database Systems Vs File Systems</vt:lpstr>
      <vt:lpstr>Database Systems Vs File Systems</vt:lpstr>
      <vt:lpstr>Database Systems Vs File Systems</vt:lpstr>
      <vt:lpstr>Database Systems Vs File Systems</vt:lpstr>
      <vt:lpstr>Data Modeling Definitions</vt:lpstr>
      <vt:lpstr>Data Modeling Definitions (cont’d)</vt:lpstr>
      <vt:lpstr>Entities and their attributes</vt:lpstr>
      <vt:lpstr>Entities and their attributes….</vt:lpstr>
      <vt:lpstr>Note:</vt:lpstr>
      <vt:lpstr>In summary, Databases are important because….</vt:lpstr>
      <vt:lpstr> Components of a Database </vt:lpstr>
      <vt:lpstr> Table Name: Registration (an example of a table structure) </vt:lpstr>
      <vt:lpstr>Table description</vt:lpstr>
      <vt:lpstr>2-  Forms: -</vt:lpstr>
      <vt:lpstr>A Form for entering or viewing data in a table</vt:lpstr>
      <vt:lpstr>3.   Queries: -</vt:lpstr>
      <vt:lpstr>4.  Reports: -</vt:lpstr>
      <vt:lpstr>Advantages of using databases </vt:lpstr>
      <vt:lpstr>Advantages of using databases cont’d.</vt:lpstr>
      <vt:lpstr> Disadvantages of using databases </vt:lpstr>
      <vt:lpstr>Disadvantages of using databases cont’d.</vt:lpstr>
      <vt:lpstr> The Database Management System (DBMS) </vt:lpstr>
      <vt:lpstr>Examples of Relational database management systems</vt:lpstr>
      <vt:lpstr>Functions of a DBMS</vt:lpstr>
      <vt:lpstr>Functions of a DBMS cont’d.</vt:lpstr>
      <vt:lpstr>Components of a DBMS environment</vt:lpstr>
      <vt:lpstr>ILLUSTRATION OF THE COMPONENTS OF A DBMS ENVIRONMENT </vt:lpstr>
      <vt:lpstr>Components of a DBMS</vt:lpstr>
      <vt:lpstr>Components of a DBMS</vt:lpstr>
      <vt:lpstr>Components of a DBMS</vt:lpstr>
      <vt:lpstr>Components  (cont’d)</vt:lpstr>
      <vt:lpstr> DBMS Interfaces </vt:lpstr>
      <vt:lpstr> DBMS ARCHITECTURE/DESIGN </vt:lpstr>
      <vt:lpstr>ILLUSTRATION OF THE ANSI-SPAC THREE-LEVEL ARCHITECTURE </vt:lpstr>
      <vt:lpstr>The external level</vt:lpstr>
      <vt:lpstr>External level….</vt:lpstr>
      <vt:lpstr>The internal level</vt:lpstr>
      <vt:lpstr>The conceptual level</vt:lpstr>
      <vt:lpstr> Specific objectives of three-level architecture </vt:lpstr>
      <vt:lpstr>A Data Dictionary </vt:lpstr>
      <vt:lpstr>A Data Dictionary</vt:lpstr>
      <vt:lpstr>A Data Dictionary</vt:lpstr>
      <vt:lpstr>Data and data models</vt:lpstr>
      <vt:lpstr> Data Models</vt:lpstr>
      <vt:lpstr>Data and data models</vt:lpstr>
      <vt:lpstr>Entity-Relationship Model </vt:lpstr>
      <vt:lpstr>These concepts are explained below. </vt:lpstr>
      <vt:lpstr>These concepts are explained below.</vt:lpstr>
      <vt:lpstr>Mapping Cardinalities</vt:lpstr>
      <vt:lpstr>Mapping Cardinalities</vt:lpstr>
      <vt:lpstr>Relational Model</vt:lpstr>
      <vt:lpstr>A Relation</vt:lpstr>
      <vt:lpstr>Assignment</vt:lpstr>
      <vt:lpstr>Data Independence</vt:lpstr>
      <vt:lpstr>Data Independence</vt:lpstr>
      <vt:lpstr>Data Independence…</vt:lpstr>
      <vt:lpstr>Logical Data Independence</vt:lpstr>
      <vt:lpstr>Physical Data Independence</vt:lpstr>
      <vt:lpstr>Levels of data modeling</vt:lpstr>
      <vt:lpstr>Comparison between the three ways of data modeling</vt:lpstr>
      <vt:lpstr>Levels of data modeling…</vt:lpstr>
      <vt:lpstr>The figure below is an example of a conceptual data model. </vt:lpstr>
      <vt:lpstr>The Logical Model</vt:lpstr>
      <vt:lpstr>The steps for designing the logical data model are as follows:  </vt:lpstr>
      <vt:lpstr>The figure below is an example of a logical data model. </vt:lpstr>
      <vt:lpstr>Logical data model Vs conceptual data model diagrams</vt:lpstr>
      <vt:lpstr> The physical model </vt:lpstr>
      <vt:lpstr>Features of a physical data model include: </vt:lpstr>
      <vt:lpstr>The steps for physical data model design are as follows: </vt:lpstr>
      <vt:lpstr>The figure below is an example of a physical data model.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1 ()</dc:title>
  <dc:creator>EZRA</dc:creator>
  <cp:lastModifiedBy>edison.nkurunungi</cp:lastModifiedBy>
  <cp:revision>296</cp:revision>
  <dcterms:created xsi:type="dcterms:W3CDTF">2012-05-14T13:52:00Z</dcterms:created>
  <dcterms:modified xsi:type="dcterms:W3CDTF">2026-03-09T12:05:14Z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0CBC970499A94EB982E4228C8E7EAF56_13</vt:lpwstr>
  </property>
  <property fmtid="{D5CDD505-2E9C-101B-9397-08002B2CF9AE}" pid="3" name="KSOProductBuildVer">
    <vt:lpwstr>1033-12.2.0.23196</vt:lpwstr>
  </property>
</Properties>
</file>